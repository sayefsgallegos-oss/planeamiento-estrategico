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icio" id="{c4353610-0be3-38ae-31a2-c424bede1e10}">
          <p14:sldIdLst>
            <p14:sldId id="256"/>
          </p14:sldIdLst>
        </p14:section>
        <p14:section name="Punto de partida" id="{3595265b-dd47-71c4-b12d-da0d3fa0f431}">
          <p14:sldIdLst>
            <p14:sldId id="257"/>
          </p14:sldIdLst>
        </p14:section>
        <p14:section name="Generación de estrategias" id="{7bf6298d-3f56-15a4-20be-9a8900e3c18f}">
          <p14:sldIdLst>
            <p14:sldId id="258"/>
            <p14:sldId id="259"/>
            <p14:sldId id="260"/>
            <p14:sldId id="261"/>
          </p14:sldIdLst>
        </p14:section>
        <p14:section name="Decisión" id="{97318e9f-9a82-7b34-7ae1-19a0196fb8a4}">
          <p14:sldIdLst>
            <p14:sldId id="262"/>
            <p14:sldId id="263"/>
            <p14:sldId id="264"/>
          </p14:sldIdLst>
        </p14:section>
        <p14:section name="Cierre" id="{c1fd900c-2abf-8e4e-014b-309606fbd7ae}">
          <p14:sldIdLst>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Total</c:v>
                </c:pt>
              </c:strCache>
            </c:strRef>
          </c:tx>
          <c:spPr>
            <a:solidFill>
              <a:srgbClr val="C9D6DF"/>
            </a:solidFill>
            <a:effectLst/>
          </c:spPr>
          <c:invertIfNegative val="0"/>
          <c:dLbls>
            <c:numFmt formatCode="0.00" sourceLinked="0"/>
            <c:txPr>
              <a:bodyPr/>
              <a:lstStyle/>
              <a:p>
                <a:pPr>
                  <a:defRPr b="0" i="0" strike="noStrike" sz="1300" u="none">
                    <a:solidFill>
                      <a:srgbClr val="102A43"/>
                    </a:solidFill>
                    <a:latin typeface="+mn-lt"/>
                  </a:defRPr>
                </a:pPr>
              </a:p>
            </c:txPr>
            <c:showLegendKey val="0"/>
            <c:showVal val="1"/>
            <c:showCatName val="0"/>
            <c:showSerName val="0"/>
            <c:showPercent val="0"/>
            <c:showBubbleSize val="0"/>
            <c:showLeaderLines val="0"/>
          </c:dLbls>
          <c:dPt>
            <c:idx val="0"/>
            <c:invertIfNegative val="0"/>
            <c:bubble3D val="0"/>
            <c:spPr>
              <a:solidFill>
                <a:srgbClr val="C9D6DF"/>
              </a:solidFill>
              <a:effectLst/>
            </c:spPr>
          </c:dPt>
          <c:dPt>
            <c:idx val="1"/>
            <c:invertIfNegative val="0"/>
            <c:bubble3D val="0"/>
            <c:spPr>
              <a:solidFill>
                <a:srgbClr val="C9D6DF"/>
              </a:solidFill>
              <a:effectLst/>
            </c:spPr>
          </c:dPt>
          <c:dPt>
            <c:idx val="2"/>
            <c:invertIfNegative val="0"/>
            <c:bubble3D val="0"/>
            <c:spPr>
              <a:solidFill>
                <a:srgbClr val="2E86C1"/>
              </a:solidFill>
              <a:effectLst/>
            </c:spPr>
          </c:dPt>
          <c:dPt>
            <c:idx val="3"/>
            <c:invertIfNegative val="0"/>
            <c:bubble3D val="0"/>
            <c:spPr>
              <a:solidFill>
                <a:srgbClr val="2E86C1"/>
              </a:solidFill>
              <a:effectLst/>
            </c:spPr>
          </c:dPt>
          <c:dPt>
            <c:idx val="4"/>
            <c:invertIfNegative val="0"/>
            <c:bubble3D val="0"/>
            <c:spPr>
              <a:solidFill>
                <a:srgbClr val="2E86C1"/>
              </a:solidFill>
              <a:effectLst/>
            </c:spPr>
          </c:dPt>
          <c:dPt>
            <c:idx val="5"/>
            <c:invertIfNegative val="0"/>
            <c:bubble3D val="0"/>
            <c:spPr>
              <a:solidFill>
                <a:srgbClr val="2E86C1"/>
              </a:solidFill>
              <a:effectLst/>
            </c:spPr>
          </c:dPt>
          <c:cat>
            <c:multiLvlStrRef>
              <c:f>Sheet1!$A$2:$A$7</c:f>
              <c:multiLvlStrCache>
                <c:ptCount val="6"/>
                <c:lvl>
                  <c:pt idx="0">
                    <c:v>E4 Orden comercial</c:v>
                  </c:pt>
                  <c:pt idx="1">
                    <c:v>E7 Profesor fijo y asesor</c:v>
                  </c:pt>
                  <c:pt idx="2">
                    <c:v>E2 Campañas y diagnóstico</c:v>
                  </c:pt>
                  <c:pt idx="3">
                    <c:v>E1 Nivelación por grado</c:v>
                  </c:pt>
                  <c:pt idx="4">
                    <c:v>E10 Grupos de 3 o 4</c:v>
                  </c:pt>
                  <c:pt idx="5">
                    <c:v>E5 Cumplimiento docente</c:v>
                  </c:pt>
                </c:lvl>
              </c:multiLvlStrCache>
            </c:multiLvlStrRef>
          </c:cat>
          <c:val>
            <c:numRef>
              <c:f>Sheet1!$B$2:$B$7</c:f>
              <c:numCache>
                <c:formatCode>General</c:formatCode>
                <c:ptCount val="6"/>
                <c:pt idx="0">
                  <c:v>4.21</c:v>
                </c:pt>
                <c:pt idx="1">
                  <c:v>4.73</c:v>
                </c:pt>
                <c:pt idx="2">
                  <c:v>4.94</c:v>
                </c:pt>
                <c:pt idx="3">
                  <c:v>5.29</c:v>
                </c:pt>
                <c:pt idx="4">
                  <c:v>5.4</c:v>
                </c:pt>
                <c:pt idx="5">
                  <c:v>5.48</c:v>
                </c:pt>
              </c:numCache>
            </c:numRef>
          </c:val>
        </c:ser>
        <c:dLbls>
          <c:numFmt formatCode="0.00" sourceLinked="0"/>
          <c:txPr>
            <a:bodyPr/>
            <a:lstStyle/>
            <a:p>
              <a:pPr>
                <a:defRPr b="0" i="0" strike="noStrike" sz="1300" u="none">
                  <a:solidFill>
                    <a:srgbClr val="102A43"/>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102A43"/>
                </a:solidFill>
                <a:latin typeface="+mn-lt"/>
              </a:defRPr>
            </a:pPr>
            <a:endParaRPr lang="en-US"/>
          </a:p>
        </c:txPr>
        <c:crossAx val="2094734552"/>
        <c:crosses val="autoZero"/>
        <c:auto val="1"/>
        <c:lblAlgn val="ctr"/>
        <c:noMultiLvlLbl val="1"/>
      </c:catAx>
      <c:valAx>
        <c:axId val="2094734552"/>
        <c:scaling>
          <c:orientation val="minMax"/>
          <c:max val="6"/>
          <c:min val="2"/>
        </c:scaling>
        <c:delete val="0"/>
        <c:axPos val="b"/>
        <c:majorGridlines>
          <c:spPr>
            <a:ln w="6350" cap="flat">
              <a:solidFill>
                <a:srgbClr val="E1E8ED"/>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5B7083"/>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Hoy presento el segundo avance de mi proyecto. En el primero hice el diagnóstico de MatLab Perú. En este uso ese diagnóstico para elegir las estrategias con más impacto para la empresa.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diagnóstico dio MEFE 2.34 y MEFI 2.40, los dos debajo de 2.5. En la MPC quedamos segundos. Los ingresos bajaron de unos 400 mil a unos 230 mil soles al mes. Por eso el objetivo es volver a unos 500 alumnos en octubre y noviembre de 2028, que son los meses de más demanda, y lograr que los profesores cumplan.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Crucé fortalezas, debilidades, oportunidades y amenazas. Salieron diez estrategias, cada una con los factores que la sostienen. Las FO aprovechan lo que hacemos bien, las DO corrigen debilidades, las FA enfrentan amenazas y las DA nos protegen.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MEFI 2.40 y MEFE 2.34, MatLab cae en la celda V, que es de retener y mantener. Ahí se recomienda penetración de mercado y desarrollo de productos. Eso coincide con cinco estrategias del FODA: E1, E2, E4, E7 y E10.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fuerza financiera es buena: la empresa no tiene deudas, paga a tiempo y tiene ahorro. La industria también tiene demanda. Lo débil es la ventaja competitiva, sobre todo por la puntualidad de los profesores. El vector cae en el cuadrante agresivo, pero muy cerca del eje. De aquí salen seis estrategias.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clases individuales y los programas de verano son vacas: tienen buena participación, pero ya no crecen. Hay que cuidarlas, porque financian al resto. Talleres y empresas es un interrogante: hay demanda, pero hoy casi no participamos. La participación y el crecimiento son estimaciones mías, porque no hay datos públicos del mercado.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Junté las estrategias de las cuatro matrices y conté cuántas veces aparece cada una. Me quedé con las que aparecen tres veces o más. Son seis, y cubren las dos partes del objetivo: más alumnos y profesores que cumplen. Las otras cuatro quedan como contingencia.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la MCPE califiqué qué tan atractiva es cada estrategia frente a cada factor de la MEFE y la MEFI. Gana E5, el cumplimiento de los profesores, porque ataca las debilidades que más pesan. Las cuatro primeras pasan a la Matriz de Ética. E7 y E4 quedan como contingencia.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Matriz de Ética revisa derechos, justicia y utilitarismo. Ninguna estrategia viola derechos ni es injusta. E2 tiene una condición: el examen recoge datos de menores, así que solo se aplica con autorización de los padres y cumpliendo la ley de datos, como dice nuestro código de ética.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cuatro estrategias finales son E5, E10, E1 y E2. Recomiendo empezar por E5, porque si el profesor no cumple, ninguna otra estrategia funciona. Las demás quedan como contingencia, sobre todo el orden del área comercial y el grupo de profesores suplentes. Gracias.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LARO">
    <p:bg>
      <p:bgPr>
        <a:solidFill>
          <a:schemeClr val="bg2"/>
        </a:solidFill>
      </p:bgPr>
    </p:bg>
    <p:spTree>
      <p:nvGrpSpPr>
        <p:cNvPr id="1" name=""/>
        <p:cNvGrpSpPr/>
        <p:nvPr/>
      </p:nvGrpSpPr>
      <p:grpSpPr>
        <a:xfrm>
          <a:off x="0" y="0"/>
          <a:ext cx="0" cy="0"/>
          <a:chOff x="0" y="0"/>
          <a:chExt cx="0" cy="0"/>
        </a:xfrm>
      </p:grpSpPr>
      <p:sp>
        <p:nvSpPr>
          <p:cNvPr id="2" name="Text 0"/>
          <p:cNvSpPr/>
          <p:nvPr/>
        </p:nvSpPr>
        <p:spPr>
          <a:xfrm>
            <a:off x="548640" y="6355080"/>
            <a:ext cx="5486400" cy="274320"/>
          </a:xfrm>
          <a:prstGeom prst="rect">
            <a:avLst/>
          </a:prstGeom>
          <a:noFill/>
          <a:ln/>
        </p:spPr>
        <p:txBody>
          <a:bodyPr wrap="square" lIns="0" tIns="0" rIns="0" bIns="0" rtlCol="0" anchor="ctr"/>
          <a:lstStyle/>
          <a:p>
            <a:pPr indent="0" marL="0">
              <a:buNone/>
            </a:pPr>
            <a:r>
              <a:rPr lang="en-US" sz="900" spc="100" kern="0" dirty="0">
                <a:solidFill>
                  <a:schemeClr val="accent4"/>
                </a:solidFill>
              </a:rPr>
              <a:t>PLANEAMIENTO ESTRATÉGICO  ·  MATLAB PERÚ</a:t>
            </a:r>
            <a:endParaRPr lang="en-US" sz="900" dirty="0"/>
          </a:p>
        </p:txBody>
      </p:sp>
      <p:sp>
        <p:nvSpPr>
          <p:cNvPr id="3" name="Text 1"/>
          <p:cNvSpPr/>
          <p:nvPr>
            <p:ph idx="101" type="title" hasCustomPrompt="1"/>
          </p:nvPr>
        </p:nvSpPr>
        <p:spPr>
          <a:xfrm>
            <a:off x="548640" y="658368"/>
            <a:ext cx="11064240" cy="685800"/>
          </a:xfrm>
          <a:prstGeom prst="rect">
            <a:avLst/>
          </a:prstGeom>
          <a:noFill/>
          <a:ln/>
        </p:spPr>
        <p:txBody>
          <a:bodyPr wrap="square" rtlCol="0"/>
          <a:lstStyle>
            <a:lvl1pPr algn="l" indent="0" marL="0">
              <a:buNone/>
              <a:defRPr lang="en-US" sz="3000" b="1" dirty="0">
                <a:solidFill>
                  <a:schemeClr val="tx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OSCURO">
    <p:bg>
      <p:bgPr>
        <a:solidFill>
          <a:schemeClr val="tx2"/>
        </a:solidFill>
      </p:bgPr>
    </p:bg>
    <p:spTree>
      <p:nvGrpSpPr>
        <p:cNvPr id="1" name=""/>
        <p:cNvGrpSpPr/>
        <p:nvPr/>
      </p:nvGrpSpPr>
      <p:grpSpPr>
        <a:xfrm>
          <a:off x="0" y="0"/>
          <a:ext cx="0" cy="0"/>
          <a:chOff x="0" y="0"/>
          <a:chExt cx="0" cy="0"/>
        </a:xfrm>
      </p:grpSpPr>
      <p:sp>
        <p:nvSpPr>
          <p:cNvPr id="2" name="Text 0"/>
          <p:cNvSpPr/>
          <p:nvPr/>
        </p:nvSpPr>
        <p:spPr>
          <a:xfrm>
            <a:off x="548640" y="6355080"/>
            <a:ext cx="5486400" cy="274320"/>
          </a:xfrm>
          <a:prstGeom prst="rect">
            <a:avLst/>
          </a:prstGeom>
          <a:noFill/>
          <a:ln/>
        </p:spPr>
        <p:txBody>
          <a:bodyPr wrap="square" lIns="0" tIns="0" rIns="0" bIns="0" rtlCol="0" anchor="ctr"/>
          <a:lstStyle/>
          <a:p>
            <a:pPr indent="0" marL="0">
              <a:buNone/>
            </a:pPr>
            <a:r>
              <a:rPr lang="en-US" sz="900" spc="100" kern="0" dirty="0">
                <a:solidFill>
                  <a:schemeClr val="accent1"/>
                </a:solidFill>
              </a:rPr>
              <a:t>PLANEAMIENTO ESTRATÉGICO  ·  MATLAB PERÚ</a:t>
            </a:r>
            <a:endParaRPr lang="en-US" sz="900" dirty="0"/>
          </a:p>
        </p:txBody>
      </p:sp>
      <p:sp>
        <p:nvSpPr>
          <p:cNvPr id="3" name="Text 1"/>
          <p:cNvSpPr/>
          <p:nvPr>
            <p:ph idx="101" type="title" hasCustomPrompt="1"/>
          </p:nvPr>
        </p:nvSpPr>
        <p:spPr>
          <a:xfrm>
            <a:off x="548640" y="658368"/>
            <a:ext cx="11064240" cy="685800"/>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1"/>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slideLayout" Target="../slideLayouts/slideLayout3.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foto" descr="/home/user/Planeamiento-estrategico/APF2/figuras/portada.jpg">    </p:cNvPr>
          <p:cNvPicPr>
            <a:picLocks noChangeAspect="1"/>
          </p:cNvPicPr>
          <p:nvPr/>
        </p:nvPicPr>
        <p:blipFill>
          <a:blip r:embed="rId1"/>
          <a:srcRect l="0" r="0" t="0" b="0"/>
          <a:stretch/>
        </p:blipFill>
        <p:spPr>
          <a:xfrm>
            <a:off x="6949440" y="0"/>
            <a:ext cx="5242255" cy="6858000"/>
          </a:xfrm>
          <a:prstGeom prst="rect">
            <a:avLst/>
          </a:prstGeom>
        </p:spPr>
      </p:pic>
      <p:sp>
        <p:nvSpPr>
          <p:cNvPr id="3" name="Text 0"/>
          <p:cNvSpPr txBox="1"/>
          <p:nvPr/>
        </p:nvSpPr>
        <p:spPr>
          <a:xfrm>
            <a:off x="640080" y="914400"/>
            <a:ext cx="6035040" cy="274320"/>
          </a:xfrm>
          <a:prstGeom prst="rect">
            <a:avLst/>
          </a:prstGeom>
          <a:noFill/>
          <a:ln/>
        </p:spPr>
        <p:txBody>
          <a:bodyPr wrap="square" lIns="0" tIns="0" rIns="0" bIns="0" rtlCol="0" anchor="t"/>
          <a:lstStyle/>
          <a:p>
            <a:pPr indent="0" marL="0">
              <a:buNone/>
            </a:pPr>
            <a:r>
              <a:rPr lang="en-US" sz="1100" b="1" spc="200" kern="0" dirty="0">
                <a:solidFill>
                  <a:schemeClr val="accent1"/>
                </a:solidFill>
              </a:rPr>
              <a:t>PLANEAMIENTO ESTRATÉGICO  ·  SECCIÓN 20726</a:t>
            </a:r>
            <a:endParaRPr lang="en-US" sz="1100" dirty="0"/>
          </a:p>
        </p:txBody>
      </p:sp>
      <p:sp>
        <p:nvSpPr>
          <p:cNvPr id="4" name="Text 1"/>
          <p:cNvSpPr txBox="1"/>
          <p:nvPr/>
        </p:nvSpPr>
        <p:spPr>
          <a:xfrm>
            <a:off x="640080" y="1417320"/>
            <a:ext cx="6035040" cy="411480"/>
          </a:xfrm>
          <a:prstGeom prst="rect">
            <a:avLst/>
          </a:prstGeom>
          <a:noFill/>
          <a:ln/>
        </p:spPr>
        <p:txBody>
          <a:bodyPr wrap="square" lIns="0" tIns="0" rIns="0" bIns="0" rtlCol="0" anchor="t"/>
          <a:lstStyle/>
          <a:p>
            <a:pPr indent="0" marL="0">
              <a:buNone/>
            </a:pPr>
            <a:r>
              <a:rPr lang="en-US" sz="1800" dirty="0">
                <a:solidFill>
                  <a:schemeClr val="bg1"/>
                </a:solidFill>
              </a:rPr>
              <a:t>Avance de Proyecto Final 2</a:t>
            </a:r>
            <a:endParaRPr lang="en-US" sz="1800" dirty="0"/>
          </a:p>
        </p:txBody>
      </p:sp>
      <p:sp>
        <p:nvSpPr>
          <p:cNvPr id="5" name="Text 2"/>
          <p:cNvSpPr txBox="1"/>
          <p:nvPr/>
        </p:nvSpPr>
        <p:spPr>
          <a:xfrm>
            <a:off x="640080" y="1874520"/>
            <a:ext cx="6035040" cy="1828800"/>
          </a:xfrm>
          <a:prstGeom prst="rect">
            <a:avLst/>
          </a:prstGeom>
          <a:noFill/>
          <a:ln/>
        </p:spPr>
        <p:txBody>
          <a:bodyPr wrap="square" lIns="0" tIns="0" rIns="0" bIns="0" rtlCol="0" anchor="t"/>
          <a:lstStyle/>
          <a:p>
            <a:pPr indent="0" marL="0">
              <a:buNone/>
            </a:pPr>
            <a:r>
              <a:rPr lang="en-US" sz="3600" b="1" dirty="0">
                <a:solidFill>
                  <a:schemeClr val="bg1"/>
                </a:solidFill>
              </a:rPr>
              <a:t>Diseño del plan estratégico de MatLab Perú</a:t>
            </a:r>
            <a:endParaRPr lang="en-US" sz="3600" dirty="0"/>
          </a:p>
        </p:txBody>
      </p:sp>
      <p:pic>
        <p:nvPicPr>
          <p:cNvPr id="6" name="logo" descr="/home/user/Planeamiento-estrategico/APF2/figuras/logo_utp_banda.png">    </p:cNvPr>
          <p:cNvPicPr>
            <a:picLocks noChangeAspect="1"/>
          </p:cNvPicPr>
          <p:nvPr/>
        </p:nvPicPr>
        <p:blipFill>
          <a:blip r:embed="rId2"/>
          <a:stretch>
            <a:fillRect/>
          </a:stretch>
        </p:blipFill>
        <p:spPr>
          <a:xfrm>
            <a:off x="640080" y="3977640"/>
            <a:ext cx="1828800" cy="630335"/>
          </a:xfrm>
          <a:prstGeom prst="rect">
            <a:avLst/>
          </a:prstGeom>
        </p:spPr>
      </p:pic>
      <p:sp>
        <p:nvSpPr>
          <p:cNvPr id="7" name="Text 3"/>
          <p:cNvSpPr txBox="1"/>
          <p:nvPr/>
        </p:nvSpPr>
        <p:spPr>
          <a:xfrm>
            <a:off x="640080" y="4983480"/>
            <a:ext cx="6035040" cy="320040"/>
          </a:xfrm>
          <a:prstGeom prst="rect">
            <a:avLst/>
          </a:prstGeom>
          <a:noFill/>
          <a:ln/>
        </p:spPr>
        <p:txBody>
          <a:bodyPr wrap="square" lIns="0" tIns="0" rIns="0" bIns="0" rtlCol="0" anchor="t"/>
          <a:lstStyle/>
          <a:p>
            <a:pPr indent="0" marL="0">
              <a:buNone/>
            </a:pPr>
            <a:r>
              <a:rPr lang="en-US" sz="1400" dirty="0">
                <a:solidFill>
                  <a:schemeClr val="bg1"/>
                </a:solidFill>
              </a:rPr>
              <a:t>Pierre Gallegos Mallqui  ·  Código U23211135</a:t>
            </a:r>
            <a:endParaRPr lang="en-US" sz="1400" dirty="0"/>
          </a:p>
        </p:txBody>
      </p:sp>
      <p:sp>
        <p:nvSpPr>
          <p:cNvPr id="8" name="Text 4"/>
          <p:cNvSpPr txBox="1"/>
          <p:nvPr/>
        </p:nvSpPr>
        <p:spPr>
          <a:xfrm>
            <a:off x="640080" y="5349240"/>
            <a:ext cx="6035040" cy="320040"/>
          </a:xfrm>
          <a:prstGeom prst="rect">
            <a:avLst/>
          </a:prstGeom>
          <a:noFill/>
          <a:ln/>
        </p:spPr>
        <p:txBody>
          <a:bodyPr wrap="square" lIns="0" tIns="0" rIns="0" bIns="0" rtlCol="0" anchor="t"/>
          <a:lstStyle/>
          <a:p>
            <a:pPr indent="0" marL="0">
              <a:buNone/>
            </a:pPr>
            <a:r>
              <a:rPr lang="en-US" sz="1400" dirty="0">
                <a:solidFill>
                  <a:schemeClr val="accent5"/>
                </a:solidFill>
              </a:rPr>
              <a:t>Docente: Zeyla Casaverde Warthon</a:t>
            </a:r>
            <a:endParaRPr lang="en-US" sz="1400" dirty="0"/>
          </a:p>
        </p:txBody>
      </p:sp>
      <p:sp>
        <p:nvSpPr>
          <p:cNvPr id="10" name="Text 1"/>
          <p:cNvSpPr/>
          <p:nvPr>
            <p:ph idx="101" type="title" hasCustomPrompt="1"/>
          </p:nvPr>
        </p:nvSpPr>
        <p:spPr>
          <a:xfrm>
            <a:off x="548640" y="658368"/>
            <a:ext cx="11064240" cy="685800"/>
          </a:xfrm>
          <a:prstGeom prst="rect">
            <a:avLst/>
          </a:prstGeom>
          <a:noFill/>
          <a:ln/>
        </p:spPr>
        <p:txBody>
          <a:bodyPr wrap="square" lIns="0" tIns="0" rIns="0" bIns="0" rtlCol="0" anchor="t"/>
          <a:lstStyle/>
          <a:p>
            <a:pPr algn="l" indent="0" marL="0">
              <a:buNone/>
            </a:pPr>
            <a:endParaRPr lang="en-US" sz="30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1"/>
                </a:solidFil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kicker"/>
          <p:cNvSpPr txBox="1"/>
          <p:nvPr/>
        </p:nvSpPr>
        <p:spPr>
          <a:xfrm>
            <a:off x="548640" y="365760"/>
            <a:ext cx="7315200" cy="274320"/>
          </a:xfrm>
          <a:prstGeom prst="rect">
            <a:avLst/>
          </a:prstGeom>
          <a:noFill/>
          <a:ln/>
        </p:spPr>
        <p:txBody>
          <a:bodyPr wrap="square" lIns="0" tIns="0" rIns="0" bIns="0" rtlCol="0" anchor="ctr"/>
          <a:lstStyle/>
          <a:p>
            <a:pPr indent="0" marL="0">
              <a:buNone/>
            </a:pPr>
            <a:r>
              <a:rPr lang="en-US" sz="1100" b="1" spc="200" kern="0" dirty="0">
                <a:solidFill>
                  <a:schemeClr val="accent2"/>
                </a:solidFill>
              </a:rPr>
              <a:t>01 / PUNTO DE PARTIDA</a:t>
            </a:r>
            <a:endParaRPr lang="en-US" sz="1100" dirty="0"/>
          </a:p>
        </p:txBody>
      </p:sp>
      <p:sp>
        <p:nvSpPr>
          <p:cNvPr id="3" name="Text 1"/>
          <p:cNvSpPr/>
          <p:nvPr>
            <p:ph idx="101" type="title" hasCustomPrompt="1"/>
          </p:nvPr>
        </p:nvSpPr>
        <p:spPr>
          <a:xfrm>
            <a:off x="548640" y="658368"/>
            <a:ext cx="11064240" cy="685800"/>
          </a:xfrm>
          <a:prstGeom prst="rect">
            <a:avLst/>
          </a:prstGeom>
          <a:noFill/>
          <a:ln/>
        </p:spPr>
        <p:txBody>
          <a:bodyPr wrap="square" lIns="0" tIns="0" rIns="0" bIns="0" rtlCol="0" anchor="t"/>
          <a:lstStyle/>
          <a:p>
            <a:pPr algn="l" indent="0" marL="0">
              <a:buNone/>
            </a:pPr>
            <a:r>
              <a:rPr lang="en-US" sz="3000" b="1" dirty="0">
                <a:solidFill>
                  <a:schemeClr val="tx1"/>
                </a:solidFill>
              </a:rPr>
              <a:t>Partimos de un diagnóstico débil y un objetivo claro</a:t>
            </a:r>
            <a:endParaRPr lang="en-US" sz="3000" dirty="0"/>
          </a:p>
        </p:txBody>
      </p:sp>
      <p:sp>
        <p:nvSpPr>
          <p:cNvPr id="4" name="stat-0"/>
          <p:cNvSpPr/>
          <p:nvPr/>
        </p:nvSpPr>
        <p:spPr>
          <a:xfrm>
            <a:off x="548640" y="1691640"/>
            <a:ext cx="3017520" cy="1920240"/>
          </a:xfrm>
          <a:prstGeom prst="roundRect">
            <a:avLst>
              <a:gd name="adj" fmla="val 3810"/>
            </a:avLst>
          </a:prstGeom>
          <a:solidFill>
            <a:schemeClr val="bg1"/>
          </a:solidFill>
          <a:ln w="12700">
            <a:solidFill>
              <a:schemeClr val="bg1"/>
            </a:solidFill>
            <a:prstDash val="solid"/>
          </a:ln>
        </p:spPr>
      </p:sp>
      <p:sp>
        <p:nvSpPr>
          <p:cNvPr id="5" name="Text 3"/>
          <p:cNvSpPr txBox="1"/>
          <p:nvPr/>
        </p:nvSpPr>
        <p:spPr>
          <a:xfrm>
            <a:off x="822960" y="1920240"/>
            <a:ext cx="2560320" cy="685800"/>
          </a:xfrm>
          <a:prstGeom prst="rect">
            <a:avLst/>
          </a:prstGeom>
          <a:noFill/>
          <a:ln/>
        </p:spPr>
        <p:txBody>
          <a:bodyPr wrap="square" lIns="0" tIns="0" rIns="0" bIns="0" rtlCol="0" anchor="t"/>
          <a:lstStyle/>
          <a:p>
            <a:pPr indent="0" marL="0">
              <a:buNone/>
            </a:pPr>
            <a:r>
              <a:rPr lang="en-US" sz="4000" b="1" dirty="0">
                <a:solidFill>
                  <a:schemeClr val="tx1"/>
                </a:solidFill>
              </a:rPr>
              <a:t>2.34</a:t>
            </a:r>
            <a:endParaRPr lang="en-US" sz="4000" dirty="0"/>
          </a:p>
        </p:txBody>
      </p:sp>
      <p:sp>
        <p:nvSpPr>
          <p:cNvPr id="6" name="Text 4"/>
          <p:cNvSpPr txBox="1"/>
          <p:nvPr/>
        </p:nvSpPr>
        <p:spPr>
          <a:xfrm>
            <a:off x="822960" y="2651760"/>
            <a:ext cx="2560320" cy="274320"/>
          </a:xfrm>
          <a:prstGeom prst="rect">
            <a:avLst/>
          </a:prstGeom>
          <a:noFill/>
          <a:ln/>
        </p:spPr>
        <p:txBody>
          <a:bodyPr wrap="square" lIns="0" tIns="0" rIns="0" bIns="0" rtlCol="0" anchor="t"/>
          <a:lstStyle/>
          <a:p>
            <a:pPr indent="0" marL="0">
              <a:buNone/>
            </a:pPr>
            <a:r>
              <a:rPr lang="en-US" sz="1100" b="1" spc="100" kern="0" dirty="0">
                <a:solidFill>
                  <a:schemeClr val="accent2"/>
                </a:solidFill>
              </a:rPr>
              <a:t>MEFE</a:t>
            </a:r>
            <a:endParaRPr lang="en-US" sz="1100" dirty="0"/>
          </a:p>
        </p:txBody>
      </p:sp>
      <p:sp>
        <p:nvSpPr>
          <p:cNvPr id="7" name="Text 5"/>
          <p:cNvSpPr txBox="1"/>
          <p:nvPr/>
        </p:nvSpPr>
        <p:spPr>
          <a:xfrm>
            <a:off x="822960" y="2953512"/>
            <a:ext cx="2560320" cy="502920"/>
          </a:xfrm>
          <a:prstGeom prst="rect">
            <a:avLst/>
          </a:prstGeom>
          <a:noFill/>
          <a:ln/>
        </p:spPr>
        <p:txBody>
          <a:bodyPr wrap="square" lIns="0" tIns="0" rIns="0" bIns="0" rtlCol="0" anchor="t"/>
          <a:lstStyle/>
          <a:p>
            <a:pPr indent="0" marL="0">
              <a:buNone/>
            </a:pPr>
            <a:r>
              <a:rPr lang="en-US" sz="1300" dirty="0">
                <a:solidFill>
                  <a:schemeClr val="accent4"/>
                </a:solidFill>
              </a:rPr>
              <a:t>No aprovecha del todo el entorno</a:t>
            </a:r>
            <a:endParaRPr lang="en-US" sz="1300" dirty="0"/>
          </a:p>
        </p:txBody>
      </p:sp>
      <p:sp>
        <p:nvSpPr>
          <p:cNvPr id="8" name="stat-1"/>
          <p:cNvSpPr/>
          <p:nvPr/>
        </p:nvSpPr>
        <p:spPr>
          <a:xfrm>
            <a:off x="3794760" y="1691640"/>
            <a:ext cx="3017520" cy="1920240"/>
          </a:xfrm>
          <a:prstGeom prst="roundRect">
            <a:avLst>
              <a:gd name="adj" fmla="val 3810"/>
            </a:avLst>
          </a:prstGeom>
          <a:solidFill>
            <a:schemeClr val="bg1"/>
          </a:solidFill>
          <a:ln w="12700">
            <a:solidFill>
              <a:schemeClr val="bg1"/>
            </a:solidFill>
            <a:prstDash val="solid"/>
          </a:ln>
        </p:spPr>
      </p:sp>
      <p:sp>
        <p:nvSpPr>
          <p:cNvPr id="9" name="Text 7"/>
          <p:cNvSpPr txBox="1"/>
          <p:nvPr/>
        </p:nvSpPr>
        <p:spPr>
          <a:xfrm>
            <a:off x="4069080" y="1920240"/>
            <a:ext cx="2560320" cy="685800"/>
          </a:xfrm>
          <a:prstGeom prst="rect">
            <a:avLst/>
          </a:prstGeom>
          <a:noFill/>
          <a:ln/>
        </p:spPr>
        <p:txBody>
          <a:bodyPr wrap="square" lIns="0" tIns="0" rIns="0" bIns="0" rtlCol="0" anchor="t"/>
          <a:lstStyle/>
          <a:p>
            <a:pPr indent="0" marL="0">
              <a:buNone/>
            </a:pPr>
            <a:r>
              <a:rPr lang="en-US" sz="4000" b="1" dirty="0">
                <a:solidFill>
                  <a:schemeClr val="tx1"/>
                </a:solidFill>
              </a:rPr>
              <a:t>2.40</a:t>
            </a:r>
            <a:endParaRPr lang="en-US" sz="4000" dirty="0"/>
          </a:p>
        </p:txBody>
      </p:sp>
      <p:sp>
        <p:nvSpPr>
          <p:cNvPr id="10" name="Text 8"/>
          <p:cNvSpPr txBox="1"/>
          <p:nvPr/>
        </p:nvSpPr>
        <p:spPr>
          <a:xfrm>
            <a:off x="4069080" y="2651760"/>
            <a:ext cx="2560320" cy="274320"/>
          </a:xfrm>
          <a:prstGeom prst="rect">
            <a:avLst/>
          </a:prstGeom>
          <a:noFill/>
          <a:ln/>
        </p:spPr>
        <p:txBody>
          <a:bodyPr wrap="square" lIns="0" tIns="0" rIns="0" bIns="0" rtlCol="0" anchor="t"/>
          <a:lstStyle/>
          <a:p>
            <a:pPr indent="0" marL="0">
              <a:buNone/>
            </a:pPr>
            <a:r>
              <a:rPr lang="en-US" sz="1100" b="1" spc="100" kern="0" dirty="0">
                <a:solidFill>
                  <a:schemeClr val="accent2"/>
                </a:solidFill>
              </a:rPr>
              <a:t>MEFI</a:t>
            </a:r>
            <a:endParaRPr lang="en-US" sz="1100" dirty="0"/>
          </a:p>
        </p:txBody>
      </p:sp>
      <p:sp>
        <p:nvSpPr>
          <p:cNvPr id="11" name="Text 9"/>
          <p:cNvSpPr txBox="1"/>
          <p:nvPr/>
        </p:nvSpPr>
        <p:spPr>
          <a:xfrm>
            <a:off x="4069080" y="2953512"/>
            <a:ext cx="2560320" cy="502920"/>
          </a:xfrm>
          <a:prstGeom prst="rect">
            <a:avLst/>
          </a:prstGeom>
          <a:noFill/>
          <a:ln/>
        </p:spPr>
        <p:txBody>
          <a:bodyPr wrap="square" lIns="0" tIns="0" rIns="0" bIns="0" rtlCol="0" anchor="t"/>
          <a:lstStyle/>
          <a:p>
            <a:pPr indent="0" marL="0">
              <a:buNone/>
            </a:pPr>
            <a:r>
              <a:rPr lang="en-US" sz="1300" dirty="0">
                <a:solidFill>
                  <a:schemeClr val="accent4"/>
                </a:solidFill>
              </a:rPr>
              <a:t>Pesan más las debilidades</a:t>
            </a:r>
            <a:endParaRPr lang="en-US" sz="1300" dirty="0"/>
          </a:p>
        </p:txBody>
      </p:sp>
      <p:sp>
        <p:nvSpPr>
          <p:cNvPr id="12" name="stat-2"/>
          <p:cNvSpPr/>
          <p:nvPr/>
        </p:nvSpPr>
        <p:spPr>
          <a:xfrm>
            <a:off x="548640" y="3840480"/>
            <a:ext cx="3017520" cy="1920240"/>
          </a:xfrm>
          <a:prstGeom prst="roundRect">
            <a:avLst>
              <a:gd name="adj" fmla="val 3810"/>
            </a:avLst>
          </a:prstGeom>
          <a:solidFill>
            <a:schemeClr val="bg1"/>
          </a:solidFill>
          <a:ln w="12700">
            <a:solidFill>
              <a:schemeClr val="bg1"/>
            </a:solidFill>
            <a:prstDash val="solid"/>
          </a:ln>
        </p:spPr>
      </p:sp>
      <p:sp>
        <p:nvSpPr>
          <p:cNvPr id="13" name="Text 11"/>
          <p:cNvSpPr txBox="1"/>
          <p:nvPr/>
        </p:nvSpPr>
        <p:spPr>
          <a:xfrm>
            <a:off x="822960" y="4069080"/>
            <a:ext cx="2560320" cy="685800"/>
          </a:xfrm>
          <a:prstGeom prst="rect">
            <a:avLst/>
          </a:prstGeom>
          <a:noFill/>
          <a:ln/>
        </p:spPr>
        <p:txBody>
          <a:bodyPr wrap="square" lIns="0" tIns="0" rIns="0" bIns="0" rtlCol="0" anchor="t"/>
          <a:lstStyle/>
          <a:p>
            <a:pPr indent="0" marL="0">
              <a:buNone/>
            </a:pPr>
            <a:r>
              <a:rPr lang="en-US" sz="4000" b="1" dirty="0">
                <a:solidFill>
                  <a:schemeClr val="tx1"/>
                </a:solidFill>
              </a:rPr>
              <a:t>2.68</a:t>
            </a:r>
            <a:endParaRPr lang="en-US" sz="4000" dirty="0"/>
          </a:p>
        </p:txBody>
      </p:sp>
      <p:sp>
        <p:nvSpPr>
          <p:cNvPr id="14" name="Text 12"/>
          <p:cNvSpPr txBox="1"/>
          <p:nvPr/>
        </p:nvSpPr>
        <p:spPr>
          <a:xfrm>
            <a:off x="822960" y="4800600"/>
            <a:ext cx="2560320" cy="274320"/>
          </a:xfrm>
          <a:prstGeom prst="rect">
            <a:avLst/>
          </a:prstGeom>
          <a:noFill/>
          <a:ln/>
        </p:spPr>
        <p:txBody>
          <a:bodyPr wrap="square" lIns="0" tIns="0" rIns="0" bIns="0" rtlCol="0" anchor="t"/>
          <a:lstStyle/>
          <a:p>
            <a:pPr indent="0" marL="0">
              <a:buNone/>
            </a:pPr>
            <a:r>
              <a:rPr lang="en-US" sz="1100" b="1" spc="100" kern="0" dirty="0">
                <a:solidFill>
                  <a:schemeClr val="accent2"/>
                </a:solidFill>
              </a:rPr>
              <a:t>MPC</a:t>
            </a:r>
            <a:endParaRPr lang="en-US" sz="1100" dirty="0"/>
          </a:p>
        </p:txBody>
      </p:sp>
      <p:sp>
        <p:nvSpPr>
          <p:cNvPr id="15" name="Text 13"/>
          <p:cNvSpPr txBox="1"/>
          <p:nvPr/>
        </p:nvSpPr>
        <p:spPr>
          <a:xfrm>
            <a:off x="822960" y="5102352"/>
            <a:ext cx="2560320" cy="502920"/>
          </a:xfrm>
          <a:prstGeom prst="rect">
            <a:avLst/>
          </a:prstGeom>
          <a:noFill/>
          <a:ln/>
        </p:spPr>
        <p:txBody>
          <a:bodyPr wrap="square" lIns="0" tIns="0" rIns="0" bIns="0" rtlCol="0" anchor="t"/>
          <a:lstStyle/>
          <a:p>
            <a:pPr indent="0" marL="0">
              <a:buNone/>
            </a:pPr>
            <a:r>
              <a:rPr lang="en-US" sz="1300" dirty="0">
                <a:solidFill>
                  <a:schemeClr val="accent4"/>
                </a:solidFill>
              </a:rPr>
              <a:t>Segunda detrás de las plataformas</a:t>
            </a:r>
            <a:endParaRPr lang="en-US" sz="1300" dirty="0"/>
          </a:p>
        </p:txBody>
      </p:sp>
      <p:sp>
        <p:nvSpPr>
          <p:cNvPr id="16" name="stat-3"/>
          <p:cNvSpPr/>
          <p:nvPr/>
        </p:nvSpPr>
        <p:spPr>
          <a:xfrm>
            <a:off x="3794760" y="3840480"/>
            <a:ext cx="3017520" cy="1920240"/>
          </a:xfrm>
          <a:prstGeom prst="roundRect">
            <a:avLst>
              <a:gd name="adj" fmla="val 3810"/>
            </a:avLst>
          </a:prstGeom>
          <a:solidFill>
            <a:schemeClr val="bg1"/>
          </a:solidFill>
          <a:ln w="12700">
            <a:solidFill>
              <a:schemeClr val="bg1"/>
            </a:solidFill>
            <a:prstDash val="solid"/>
          </a:ln>
        </p:spPr>
      </p:sp>
      <p:sp>
        <p:nvSpPr>
          <p:cNvPr id="17" name="Text 15"/>
          <p:cNvSpPr txBox="1"/>
          <p:nvPr/>
        </p:nvSpPr>
        <p:spPr>
          <a:xfrm>
            <a:off x="4069080" y="4069080"/>
            <a:ext cx="2560320" cy="685800"/>
          </a:xfrm>
          <a:prstGeom prst="rect">
            <a:avLst/>
          </a:prstGeom>
          <a:noFill/>
          <a:ln/>
        </p:spPr>
        <p:txBody>
          <a:bodyPr wrap="square" lIns="0" tIns="0" rIns="0" bIns="0" rtlCol="0" anchor="t"/>
          <a:lstStyle/>
          <a:p>
            <a:pPr indent="0" marL="0">
              <a:buNone/>
            </a:pPr>
            <a:r>
              <a:rPr lang="en-US" sz="3000" b="1" dirty="0">
                <a:solidFill>
                  <a:schemeClr val="tx1"/>
                </a:solidFill>
              </a:rPr>
              <a:t>S/230 000</a:t>
            </a:r>
            <a:endParaRPr lang="en-US" sz="3000" dirty="0"/>
          </a:p>
        </p:txBody>
      </p:sp>
      <p:sp>
        <p:nvSpPr>
          <p:cNvPr id="18" name="Text 16"/>
          <p:cNvSpPr txBox="1"/>
          <p:nvPr/>
        </p:nvSpPr>
        <p:spPr>
          <a:xfrm>
            <a:off x="4069080" y="4800600"/>
            <a:ext cx="2560320" cy="274320"/>
          </a:xfrm>
          <a:prstGeom prst="rect">
            <a:avLst/>
          </a:prstGeom>
          <a:noFill/>
          <a:ln/>
        </p:spPr>
        <p:txBody>
          <a:bodyPr wrap="square" lIns="0" tIns="0" rIns="0" bIns="0" rtlCol="0" anchor="t"/>
          <a:lstStyle/>
          <a:p>
            <a:pPr indent="0" marL="0">
              <a:buNone/>
            </a:pPr>
            <a:r>
              <a:rPr lang="en-US" sz="1100" b="1" spc="100" kern="0" dirty="0">
                <a:solidFill>
                  <a:schemeClr val="accent2"/>
                </a:solidFill>
              </a:rPr>
              <a:t>INGRESOS AL MES</a:t>
            </a:r>
            <a:endParaRPr lang="en-US" sz="1100" dirty="0"/>
          </a:p>
        </p:txBody>
      </p:sp>
      <p:sp>
        <p:nvSpPr>
          <p:cNvPr id="19" name="Text 17"/>
          <p:cNvSpPr txBox="1"/>
          <p:nvPr/>
        </p:nvSpPr>
        <p:spPr>
          <a:xfrm>
            <a:off x="4069080" y="5102352"/>
            <a:ext cx="2560320" cy="502920"/>
          </a:xfrm>
          <a:prstGeom prst="rect">
            <a:avLst/>
          </a:prstGeom>
          <a:noFill/>
          <a:ln/>
        </p:spPr>
        <p:txBody>
          <a:bodyPr wrap="square" lIns="0" tIns="0" rIns="0" bIns="0" rtlCol="0" anchor="t"/>
          <a:lstStyle/>
          <a:p>
            <a:pPr indent="0" marL="0">
              <a:buNone/>
            </a:pPr>
            <a:r>
              <a:rPr lang="en-US" sz="1300" dirty="0">
                <a:solidFill>
                  <a:schemeClr val="accent4"/>
                </a:solidFill>
              </a:rPr>
              <a:t>Antes llegaron a unos S/400 000</a:t>
            </a:r>
            <a:endParaRPr lang="en-US" sz="1300" dirty="0"/>
          </a:p>
        </p:txBody>
      </p:sp>
      <p:sp>
        <p:nvSpPr>
          <p:cNvPr id="20" name="objetivo"/>
          <p:cNvSpPr/>
          <p:nvPr/>
        </p:nvSpPr>
        <p:spPr>
          <a:xfrm>
            <a:off x="7315200" y="1691640"/>
            <a:ext cx="4297680" cy="4069080"/>
          </a:xfrm>
          <a:prstGeom prst="roundRect">
            <a:avLst>
              <a:gd name="adj" fmla="val 1798"/>
            </a:avLst>
          </a:prstGeom>
          <a:solidFill>
            <a:schemeClr val="tx2"/>
          </a:solidFill>
          <a:ln w="12700">
            <a:solidFill>
              <a:schemeClr val="tx2"/>
            </a:solidFill>
            <a:prstDash val="solid"/>
          </a:ln>
        </p:spPr>
      </p:sp>
      <p:sp>
        <p:nvSpPr>
          <p:cNvPr id="21" name="Text 19"/>
          <p:cNvSpPr txBox="1"/>
          <p:nvPr/>
        </p:nvSpPr>
        <p:spPr>
          <a:xfrm>
            <a:off x="7635240" y="1965960"/>
            <a:ext cx="3657600" cy="274320"/>
          </a:xfrm>
          <a:prstGeom prst="rect">
            <a:avLst/>
          </a:prstGeom>
          <a:noFill/>
          <a:ln/>
        </p:spPr>
        <p:txBody>
          <a:bodyPr wrap="square" lIns="0" tIns="0" rIns="0" bIns="0" rtlCol="0" anchor="t"/>
          <a:lstStyle/>
          <a:p>
            <a:pPr indent="0" marL="0">
              <a:buNone/>
            </a:pPr>
            <a:r>
              <a:rPr lang="en-US" sz="1100" b="1" spc="200" kern="0" dirty="0">
                <a:solidFill>
                  <a:schemeClr val="accent1"/>
                </a:solidFill>
              </a:rPr>
              <a:t>OBJETIVO PLANTEADO</a:t>
            </a:r>
            <a:endParaRPr lang="en-US" sz="1100" dirty="0"/>
          </a:p>
        </p:txBody>
      </p:sp>
      <p:sp>
        <p:nvSpPr>
          <p:cNvPr id="22" name="Text 20"/>
          <p:cNvSpPr txBox="1"/>
          <p:nvPr/>
        </p:nvSpPr>
        <p:spPr>
          <a:xfrm>
            <a:off x="7635240" y="2377440"/>
            <a:ext cx="3657600" cy="731520"/>
          </a:xfrm>
          <a:prstGeom prst="rect">
            <a:avLst/>
          </a:prstGeom>
          <a:noFill/>
          <a:ln/>
        </p:spPr>
        <p:txBody>
          <a:bodyPr wrap="square" lIns="0" tIns="0" rIns="0" bIns="0" rtlCol="0" anchor="t"/>
          <a:lstStyle/>
          <a:p>
            <a:pPr indent="0" marL="0">
              <a:buNone/>
            </a:pPr>
            <a:r>
              <a:rPr lang="en-US" sz="4000" b="1" dirty="0">
                <a:solidFill>
                  <a:schemeClr val="bg1"/>
                </a:solidFill>
              </a:rPr>
              <a:t>500 alumnos</a:t>
            </a:r>
            <a:endParaRPr lang="en-US" sz="4000" dirty="0"/>
          </a:p>
        </p:txBody>
      </p:sp>
      <p:sp>
        <p:nvSpPr>
          <p:cNvPr id="23" name="Text 21"/>
          <p:cNvSpPr txBox="1"/>
          <p:nvPr/>
        </p:nvSpPr>
        <p:spPr>
          <a:xfrm>
            <a:off x="7635240" y="3154680"/>
            <a:ext cx="3657600" cy="1097280"/>
          </a:xfrm>
          <a:prstGeom prst="rect">
            <a:avLst/>
          </a:prstGeom>
          <a:noFill/>
          <a:ln/>
        </p:spPr>
        <p:txBody>
          <a:bodyPr wrap="square" lIns="0" tIns="0" rIns="0" bIns="0" rtlCol="0" anchor="t"/>
          <a:lstStyle/>
          <a:p>
            <a:pPr indent="0" marL="0">
              <a:buNone/>
            </a:pPr>
            <a:r>
              <a:rPr lang="en-US" sz="1800" dirty="0">
                <a:solidFill>
                  <a:schemeClr val="bg1"/>
                </a:solidFill>
              </a:rPr>
              <a:t>en octubre y noviembre de 2028, mejorando el cumplimiento de los profesores.</a:t>
            </a:r>
            <a:endParaRPr lang="en-US" sz="1800" dirty="0"/>
          </a:p>
        </p:txBody>
      </p:sp>
      <p:sp>
        <p:nvSpPr>
          <p:cNvPr id="24" name="Text 22"/>
          <p:cNvSpPr txBox="1"/>
          <p:nvPr/>
        </p:nvSpPr>
        <p:spPr>
          <a:xfrm>
            <a:off x="7635240" y="4434840"/>
            <a:ext cx="3657600" cy="914400"/>
          </a:xfrm>
          <a:prstGeom prst="rect">
            <a:avLst/>
          </a:prstGeom>
          <a:noFill/>
          <a:ln/>
        </p:spPr>
        <p:txBody>
          <a:bodyPr wrap="square" lIns="0" tIns="0" rIns="0" bIns="0" rtlCol="0" anchor="t"/>
          <a:lstStyle/>
          <a:p>
            <a:pPr indent="0" marL="0">
              <a:buNone/>
            </a:pPr>
            <a:r>
              <a:rPr lang="en-US" sz="1300" dirty="0">
                <a:solidFill>
                  <a:schemeClr val="accent5"/>
                </a:solidFill>
              </a:rPr>
              <a:t>Son los meses de más demanda, cuando los padres buscan que sus hijos no desaprueben.</a:t>
            </a:r>
            <a:endParaRPr lang="en-US" sz="13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kicker"/>
          <p:cNvSpPr txBox="1"/>
          <p:nvPr/>
        </p:nvSpPr>
        <p:spPr>
          <a:xfrm>
            <a:off x="548640" y="365760"/>
            <a:ext cx="7315200" cy="274320"/>
          </a:xfrm>
          <a:prstGeom prst="rect">
            <a:avLst/>
          </a:prstGeom>
          <a:noFill/>
          <a:ln/>
        </p:spPr>
        <p:txBody>
          <a:bodyPr wrap="square" lIns="0" tIns="0" rIns="0" bIns="0" rtlCol="0" anchor="ctr"/>
          <a:lstStyle/>
          <a:p>
            <a:pPr indent="0" marL="0">
              <a:buNone/>
            </a:pPr>
            <a:r>
              <a:rPr lang="en-US" sz="1100" b="1" spc="200" kern="0" dirty="0">
                <a:solidFill>
                  <a:schemeClr val="accent2"/>
                </a:solidFill>
              </a:rPr>
              <a:t>02 / FODA CRUZADO</a:t>
            </a:r>
            <a:endParaRPr lang="en-US" sz="1100" dirty="0"/>
          </a:p>
        </p:txBody>
      </p:sp>
      <p:sp>
        <p:nvSpPr>
          <p:cNvPr id="3" name="Text 1"/>
          <p:cNvSpPr/>
          <p:nvPr>
            <p:ph idx="101" type="title" hasCustomPrompt="1"/>
          </p:nvPr>
        </p:nvSpPr>
        <p:spPr>
          <a:xfrm>
            <a:off x="548640" y="658368"/>
            <a:ext cx="11064240" cy="685800"/>
          </a:xfrm>
          <a:prstGeom prst="rect">
            <a:avLst/>
          </a:prstGeom>
          <a:noFill/>
          <a:ln/>
        </p:spPr>
        <p:txBody>
          <a:bodyPr wrap="square" lIns="0" tIns="0" rIns="0" bIns="0" rtlCol="0" anchor="t"/>
          <a:lstStyle/>
          <a:p>
            <a:pPr algn="l" indent="0" marL="0">
              <a:buNone/>
            </a:pPr>
            <a:r>
              <a:rPr lang="en-US" sz="3000" b="1" dirty="0">
                <a:solidFill>
                  <a:schemeClr val="tx1"/>
                </a:solidFill>
              </a:rPr>
              <a:t>El FODA cruzado dio diez estrategias</a:t>
            </a:r>
            <a:endParaRPr lang="en-US" sz="3000" dirty="0"/>
          </a:p>
        </p:txBody>
      </p:sp>
      <p:sp>
        <p:nvSpPr>
          <p:cNvPr id="4" name="cuadrante-0"/>
          <p:cNvSpPr/>
          <p:nvPr/>
        </p:nvSpPr>
        <p:spPr>
          <a:xfrm>
            <a:off x="548640" y="1600200"/>
            <a:ext cx="5440680" cy="2194560"/>
          </a:xfrm>
          <a:prstGeom prst="roundRect">
            <a:avLst>
              <a:gd name="adj" fmla="val 3333"/>
            </a:avLst>
          </a:prstGeom>
          <a:solidFill>
            <a:schemeClr val="accent3"/>
          </a:solidFill>
          <a:ln w="12700">
            <a:solidFill>
              <a:schemeClr val="accent3"/>
            </a:solidFill>
            <a:prstDash val="solid"/>
          </a:ln>
        </p:spPr>
      </p:sp>
      <p:sp>
        <p:nvSpPr>
          <p:cNvPr id="5" name="Text 3"/>
          <p:cNvSpPr txBox="1"/>
          <p:nvPr/>
        </p:nvSpPr>
        <p:spPr>
          <a:xfrm>
            <a:off x="822960" y="1783080"/>
            <a:ext cx="493776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FO · EXPLOTAR</a:t>
            </a:r>
            <a:endParaRPr lang="en-US" sz="1200" dirty="0"/>
          </a:p>
        </p:txBody>
      </p:sp>
      <p:sp>
        <p:nvSpPr>
          <p:cNvPr id="6" name="Text 4"/>
          <p:cNvSpPr txBox="1"/>
          <p:nvPr/>
        </p:nvSpPr>
        <p:spPr>
          <a:xfrm>
            <a:off x="822960" y="2148840"/>
            <a:ext cx="4983480" cy="1508760"/>
          </a:xfrm>
          <a:prstGeom prst="rect">
            <a:avLst/>
          </a:prstGeom>
          <a:noFill/>
          <a:ln/>
        </p:spPr>
        <p:txBody>
          <a:bodyPr wrap="square" lIns="0" tIns="0" rIns="0" bIns="0" rtlCol="0" anchor="t"/>
          <a:lstStyle/>
          <a:p>
            <a:pPr indent="0" marL="0">
              <a:spcAft>
                <a:spcPts val="600"/>
              </a:spcAft>
              <a:buNone/>
            </a:pPr>
            <a:r>
              <a:rPr lang="en-US" sz="1500" b="1" dirty="0">
                <a:solidFill>
                  <a:schemeClr val="tx1"/>
                </a:solidFill>
              </a:rPr>
              <a:t>E1  </a:t>
            </a:r>
            <a:pPr indent="0" marL="0">
              <a:spcAft>
                <a:spcPts val="600"/>
              </a:spcAft>
              <a:buNone/>
            </a:pPr>
            <a:r>
              <a:rPr lang="en-US" sz="1500" dirty="0">
                <a:solidFill>
                  <a:schemeClr val="tx1"/>
                </a:solidFill>
              </a:rPr>
              <a:t>Nivelación por grado escolar</a:t>
            </a:r>
            <a:pPr indent="0" marL="0">
              <a:spcAft>
                <a:spcPts val="600"/>
              </a:spcAft>
              <a:buNone/>
            </a:pPr>
            <a:r>
              <a:rPr lang="en-US" sz="1100" dirty="0">
                <a:solidFill>
                  <a:schemeClr val="accent4"/>
                </a:solidFill>
              </a:rPr>
              <a:t>   F1, F4, O2</a:t>
            </a:r>
            <a:endParaRPr lang="en-US" sz="1500" dirty="0"/>
          </a:p>
          <a:p>
            <a:pPr indent="0" marL="0">
              <a:spcAft>
                <a:spcPts val="600"/>
              </a:spcAft>
              <a:buNone/>
            </a:pPr>
            <a:r>
              <a:rPr lang="en-US" sz="1500" b="1" dirty="0">
                <a:solidFill>
                  <a:schemeClr val="tx1"/>
                </a:solidFill>
              </a:rPr>
              <a:t>E2  </a:t>
            </a:r>
            <a:pPr indent="0" marL="0">
              <a:spcAft>
                <a:spcPts val="600"/>
              </a:spcAft>
              <a:buNone/>
            </a:pPr>
            <a:r>
              <a:rPr lang="en-US" sz="1500" dirty="0">
                <a:solidFill>
                  <a:schemeClr val="tx1"/>
                </a:solidFill>
              </a:rPr>
              <a:t>Campañas y diagnóstico gratuito con IA</a:t>
            </a:r>
            <a:pPr indent="0" marL="0">
              <a:spcAft>
                <a:spcPts val="600"/>
              </a:spcAft>
              <a:buNone/>
            </a:pPr>
            <a:r>
              <a:rPr lang="en-US" sz="1100" dirty="0">
                <a:solidFill>
                  <a:schemeClr val="accent4"/>
                </a:solidFill>
              </a:rPr>
              <a:t>   F3, F6, O1, O5</a:t>
            </a:r>
            <a:endParaRPr lang="en-US" sz="1500" dirty="0"/>
          </a:p>
          <a:p>
            <a:pPr indent="0" marL="0">
              <a:spcAft>
                <a:spcPts val="600"/>
              </a:spcAft>
              <a:buNone/>
            </a:pPr>
            <a:r>
              <a:rPr lang="en-US" sz="1500" b="1" dirty="0">
                <a:solidFill>
                  <a:schemeClr val="tx1"/>
                </a:solidFill>
              </a:rPr>
              <a:t>E3  </a:t>
            </a:r>
            <a:pPr indent="0" marL="0">
              <a:spcAft>
                <a:spcPts val="600"/>
              </a:spcAft>
              <a:buNone/>
            </a:pPr>
            <a:r>
              <a:rPr lang="en-US" sz="1500" dirty="0">
                <a:solidFill>
                  <a:schemeClr val="tx1"/>
                </a:solidFill>
              </a:rPr>
              <a:t>Familias de otras ciudades</a:t>
            </a:r>
            <a:pPr indent="0" marL="0">
              <a:spcAft>
                <a:spcPts val="600"/>
              </a:spcAft>
              <a:buNone/>
            </a:pPr>
            <a:r>
              <a:rPr lang="en-US" sz="1100" dirty="0">
                <a:solidFill>
                  <a:schemeClr val="accent4"/>
                </a:solidFill>
              </a:rPr>
              <a:t>   F2, F3, O1, O2</a:t>
            </a:r>
            <a:endParaRPr lang="en-US" sz="1500" dirty="0"/>
          </a:p>
        </p:txBody>
      </p:sp>
      <p:sp>
        <p:nvSpPr>
          <p:cNvPr id="7" name="cuadrante-1"/>
          <p:cNvSpPr/>
          <p:nvPr/>
        </p:nvSpPr>
        <p:spPr>
          <a:xfrm>
            <a:off x="6172200" y="1600200"/>
            <a:ext cx="5440680" cy="2194560"/>
          </a:xfrm>
          <a:prstGeom prst="roundRect">
            <a:avLst>
              <a:gd name="adj" fmla="val 3333"/>
            </a:avLst>
          </a:prstGeom>
          <a:solidFill>
            <a:schemeClr val="bg1"/>
          </a:solidFill>
          <a:ln w="12700">
            <a:solidFill>
              <a:schemeClr val="bg1"/>
            </a:solidFill>
            <a:prstDash val="solid"/>
          </a:ln>
        </p:spPr>
      </p:sp>
      <p:sp>
        <p:nvSpPr>
          <p:cNvPr id="8" name="Text 6"/>
          <p:cNvSpPr txBox="1"/>
          <p:nvPr/>
        </p:nvSpPr>
        <p:spPr>
          <a:xfrm>
            <a:off x="6446520" y="1783080"/>
            <a:ext cx="493776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DO · BUSCAR</a:t>
            </a:r>
            <a:endParaRPr lang="en-US" sz="1200" dirty="0"/>
          </a:p>
        </p:txBody>
      </p:sp>
      <p:sp>
        <p:nvSpPr>
          <p:cNvPr id="9" name="Text 7"/>
          <p:cNvSpPr txBox="1"/>
          <p:nvPr/>
        </p:nvSpPr>
        <p:spPr>
          <a:xfrm>
            <a:off x="6446520" y="2148840"/>
            <a:ext cx="4983480" cy="1508760"/>
          </a:xfrm>
          <a:prstGeom prst="rect">
            <a:avLst/>
          </a:prstGeom>
          <a:noFill/>
          <a:ln/>
        </p:spPr>
        <p:txBody>
          <a:bodyPr wrap="square" lIns="0" tIns="0" rIns="0" bIns="0" rtlCol="0" anchor="t"/>
          <a:lstStyle/>
          <a:p>
            <a:pPr indent="0" marL="0">
              <a:spcAft>
                <a:spcPts val="600"/>
              </a:spcAft>
              <a:buNone/>
            </a:pPr>
            <a:r>
              <a:rPr lang="en-US" sz="1500" b="1" dirty="0">
                <a:solidFill>
                  <a:schemeClr val="tx1"/>
                </a:solidFill>
              </a:rPr>
              <a:t>E4  </a:t>
            </a:r>
            <a:pPr indent="0" marL="0">
              <a:spcAft>
                <a:spcPts val="600"/>
              </a:spcAft>
              <a:buNone/>
            </a:pPr>
            <a:r>
              <a:rPr lang="en-US" sz="1500" dirty="0">
                <a:solidFill>
                  <a:schemeClr val="tx1"/>
                </a:solidFill>
              </a:rPr>
              <a:t>Orden comercial en el CRM</a:t>
            </a:r>
            <a:pPr indent="0" marL="0">
              <a:spcAft>
                <a:spcPts val="600"/>
              </a:spcAft>
              <a:buNone/>
            </a:pPr>
            <a:r>
              <a:rPr lang="en-US" sz="1100" dirty="0">
                <a:solidFill>
                  <a:schemeClr val="accent4"/>
                </a:solidFill>
              </a:rPr>
              <a:t>   D4, D5, O5</a:t>
            </a:r>
            <a:endParaRPr lang="en-US" sz="1500" dirty="0"/>
          </a:p>
          <a:p>
            <a:pPr indent="0" marL="0">
              <a:spcAft>
                <a:spcPts val="600"/>
              </a:spcAft>
              <a:buNone/>
            </a:pPr>
            <a:r>
              <a:rPr lang="en-US" sz="1500" b="1" dirty="0">
                <a:solidFill>
                  <a:schemeClr val="tx1"/>
                </a:solidFill>
              </a:rPr>
              <a:t>E5  </a:t>
            </a:r>
            <a:pPr indent="0" marL="0">
              <a:spcAft>
                <a:spcPts val="600"/>
              </a:spcAft>
              <a:buNone/>
            </a:pPr>
            <a:r>
              <a:rPr lang="en-US" sz="1500" dirty="0">
                <a:solidFill>
                  <a:schemeClr val="tx1"/>
                </a:solidFill>
              </a:rPr>
              <a:t>Medir y premiar el cumplimiento docente</a:t>
            </a:r>
            <a:pPr indent="0" marL="0">
              <a:spcAft>
                <a:spcPts val="600"/>
              </a:spcAft>
              <a:buNone/>
            </a:pPr>
            <a:r>
              <a:rPr lang="en-US" sz="1100" dirty="0">
                <a:solidFill>
                  <a:schemeClr val="accent4"/>
                </a:solidFill>
              </a:rPr>
              <a:t>   D2, D3, D6, O5</a:t>
            </a:r>
            <a:endParaRPr lang="en-US" sz="1500" dirty="0"/>
          </a:p>
          <a:p>
            <a:pPr indent="0" marL="0">
              <a:spcAft>
                <a:spcPts val="600"/>
              </a:spcAft>
              <a:buNone/>
            </a:pPr>
            <a:r>
              <a:rPr lang="en-US" sz="1500" b="1" dirty="0">
                <a:solidFill>
                  <a:schemeClr val="tx1"/>
                </a:solidFill>
              </a:rPr>
              <a:t>E6  </a:t>
            </a:r>
            <a:pPr indent="0" marL="0">
              <a:spcAft>
                <a:spcPts val="600"/>
              </a:spcAft>
              <a:buNone/>
            </a:pPr>
            <a:r>
              <a:rPr lang="en-US" sz="1500" dirty="0">
                <a:solidFill>
                  <a:schemeClr val="tx1"/>
                </a:solidFill>
              </a:rPr>
              <a:t>Alianzas con colegios y empresas</a:t>
            </a:r>
            <a:pPr indent="0" marL="0">
              <a:spcAft>
                <a:spcPts val="600"/>
              </a:spcAft>
              <a:buNone/>
            </a:pPr>
            <a:r>
              <a:rPr lang="en-US" sz="1100" dirty="0">
                <a:solidFill>
                  <a:schemeClr val="accent4"/>
                </a:solidFill>
              </a:rPr>
              <a:t>   D5, O2, O4</a:t>
            </a:r>
            <a:endParaRPr lang="en-US" sz="1500" dirty="0"/>
          </a:p>
        </p:txBody>
      </p:sp>
      <p:sp>
        <p:nvSpPr>
          <p:cNvPr id="10" name="cuadrante-2"/>
          <p:cNvSpPr/>
          <p:nvPr/>
        </p:nvSpPr>
        <p:spPr>
          <a:xfrm>
            <a:off x="548640" y="3977640"/>
            <a:ext cx="5440680" cy="2194560"/>
          </a:xfrm>
          <a:prstGeom prst="roundRect">
            <a:avLst>
              <a:gd name="adj" fmla="val 3333"/>
            </a:avLst>
          </a:prstGeom>
          <a:solidFill>
            <a:schemeClr val="bg1"/>
          </a:solidFill>
          <a:ln w="12700">
            <a:solidFill>
              <a:schemeClr val="bg1"/>
            </a:solidFill>
            <a:prstDash val="solid"/>
          </a:ln>
        </p:spPr>
      </p:sp>
      <p:sp>
        <p:nvSpPr>
          <p:cNvPr id="11" name="Text 9"/>
          <p:cNvSpPr txBox="1"/>
          <p:nvPr/>
        </p:nvSpPr>
        <p:spPr>
          <a:xfrm>
            <a:off x="822960" y="4160520"/>
            <a:ext cx="493776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FA · CONFRONTAR</a:t>
            </a:r>
            <a:endParaRPr lang="en-US" sz="1200" dirty="0"/>
          </a:p>
        </p:txBody>
      </p:sp>
      <p:sp>
        <p:nvSpPr>
          <p:cNvPr id="12" name="Text 10"/>
          <p:cNvSpPr txBox="1"/>
          <p:nvPr/>
        </p:nvSpPr>
        <p:spPr>
          <a:xfrm>
            <a:off x="822960" y="4526280"/>
            <a:ext cx="4983480" cy="1508760"/>
          </a:xfrm>
          <a:prstGeom prst="rect">
            <a:avLst/>
          </a:prstGeom>
          <a:noFill/>
          <a:ln/>
        </p:spPr>
        <p:txBody>
          <a:bodyPr wrap="square" lIns="0" tIns="0" rIns="0" bIns="0" rtlCol="0" anchor="t"/>
          <a:lstStyle/>
          <a:p>
            <a:pPr indent="0" marL="0">
              <a:spcAft>
                <a:spcPts val="600"/>
              </a:spcAft>
              <a:buNone/>
            </a:pPr>
            <a:r>
              <a:rPr lang="en-US" sz="1500" b="1" dirty="0">
                <a:solidFill>
                  <a:schemeClr val="tx1"/>
                </a:solidFill>
              </a:rPr>
              <a:t>E7  </a:t>
            </a:r>
            <a:pPr indent="0" marL="0">
              <a:spcAft>
                <a:spcPts val="600"/>
              </a:spcAft>
              <a:buNone/>
            </a:pPr>
            <a:r>
              <a:rPr lang="en-US" sz="1500" dirty="0">
                <a:solidFill>
                  <a:schemeClr val="tx1"/>
                </a:solidFill>
              </a:rPr>
              <a:t>Destacar profesor fijo, asesor y reporte</a:t>
            </a:r>
            <a:pPr indent="0" marL="0">
              <a:spcAft>
                <a:spcPts val="600"/>
              </a:spcAft>
              <a:buNone/>
            </a:pPr>
            <a:r>
              <a:rPr lang="en-US" sz="1100" dirty="0">
                <a:solidFill>
                  <a:schemeClr val="accent4"/>
                </a:solidFill>
              </a:rPr>
              <a:t>   F1, F4, A5</a:t>
            </a:r>
            <a:endParaRPr lang="en-US" sz="1500" dirty="0"/>
          </a:p>
          <a:p>
            <a:pPr indent="0" marL="0">
              <a:spcAft>
                <a:spcPts val="600"/>
              </a:spcAft>
              <a:buNone/>
            </a:pPr>
            <a:r>
              <a:rPr lang="en-US" sz="1500" b="1" dirty="0">
                <a:solidFill>
                  <a:schemeClr val="tx1"/>
                </a:solidFill>
              </a:rPr>
              <a:t>E8  </a:t>
            </a:r>
            <a:pPr indent="0" marL="0">
              <a:spcAft>
                <a:spcPts val="600"/>
              </a:spcAft>
              <a:buNone/>
            </a:pPr>
            <a:r>
              <a:rPr lang="en-US" sz="1500" dirty="0">
                <a:solidFill>
                  <a:schemeClr val="tx1"/>
                </a:solidFill>
              </a:rPr>
              <a:t>Línea de carrera docente</a:t>
            </a:r>
            <a:pPr indent="0" marL="0">
              <a:spcAft>
                <a:spcPts val="600"/>
              </a:spcAft>
              <a:buNone/>
            </a:pPr>
            <a:r>
              <a:rPr lang="en-US" sz="1100" dirty="0">
                <a:solidFill>
                  <a:schemeClr val="accent4"/>
                </a:solidFill>
              </a:rPr>
              <a:t>   F2, F6, A6</a:t>
            </a:r>
            <a:endParaRPr lang="en-US" sz="1500" dirty="0"/>
          </a:p>
        </p:txBody>
      </p:sp>
      <p:sp>
        <p:nvSpPr>
          <p:cNvPr id="13" name="cuadrante-3"/>
          <p:cNvSpPr/>
          <p:nvPr/>
        </p:nvSpPr>
        <p:spPr>
          <a:xfrm>
            <a:off x="6172200" y="3977640"/>
            <a:ext cx="5440680" cy="2194560"/>
          </a:xfrm>
          <a:prstGeom prst="roundRect">
            <a:avLst>
              <a:gd name="adj" fmla="val 3333"/>
            </a:avLst>
          </a:prstGeom>
          <a:solidFill>
            <a:schemeClr val="accent3"/>
          </a:solidFill>
          <a:ln w="12700">
            <a:solidFill>
              <a:schemeClr val="accent3"/>
            </a:solidFill>
            <a:prstDash val="solid"/>
          </a:ln>
        </p:spPr>
      </p:sp>
      <p:sp>
        <p:nvSpPr>
          <p:cNvPr id="14" name="Text 12"/>
          <p:cNvSpPr txBox="1"/>
          <p:nvPr/>
        </p:nvSpPr>
        <p:spPr>
          <a:xfrm>
            <a:off x="6446520" y="4160520"/>
            <a:ext cx="493776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DA · EVITAR</a:t>
            </a:r>
            <a:endParaRPr lang="en-US" sz="1200" dirty="0"/>
          </a:p>
        </p:txBody>
      </p:sp>
      <p:sp>
        <p:nvSpPr>
          <p:cNvPr id="15" name="Text 13"/>
          <p:cNvSpPr txBox="1"/>
          <p:nvPr/>
        </p:nvSpPr>
        <p:spPr>
          <a:xfrm>
            <a:off x="6446520" y="4526280"/>
            <a:ext cx="4983480" cy="1508760"/>
          </a:xfrm>
          <a:prstGeom prst="rect">
            <a:avLst/>
          </a:prstGeom>
          <a:noFill/>
          <a:ln/>
        </p:spPr>
        <p:txBody>
          <a:bodyPr wrap="square" lIns="0" tIns="0" rIns="0" bIns="0" rtlCol="0" anchor="t"/>
          <a:lstStyle/>
          <a:p>
            <a:pPr indent="0" marL="0">
              <a:spcAft>
                <a:spcPts val="600"/>
              </a:spcAft>
              <a:buNone/>
            </a:pPr>
            <a:r>
              <a:rPr lang="en-US" sz="1500" b="1" dirty="0">
                <a:solidFill>
                  <a:schemeClr val="tx1"/>
                </a:solidFill>
              </a:rPr>
              <a:t>E9  </a:t>
            </a:r>
            <a:pPr indent="0" marL="0">
              <a:spcAft>
                <a:spcPts val="600"/>
              </a:spcAft>
              <a:buNone/>
            </a:pPr>
            <a:r>
              <a:rPr lang="en-US" sz="1500" dirty="0">
                <a:solidFill>
                  <a:schemeClr val="tx1"/>
                </a:solidFill>
              </a:rPr>
              <a:t>Profesores suplentes</a:t>
            </a:r>
            <a:pPr indent="0" marL="0">
              <a:spcAft>
                <a:spcPts val="600"/>
              </a:spcAft>
              <a:buNone/>
            </a:pPr>
            <a:r>
              <a:rPr lang="en-US" sz="1100" dirty="0">
                <a:solidFill>
                  <a:schemeClr val="accent4"/>
                </a:solidFill>
              </a:rPr>
              <a:t>   D1, D2, A6</a:t>
            </a:r>
            <a:endParaRPr lang="en-US" sz="1500" dirty="0"/>
          </a:p>
          <a:p>
            <a:pPr indent="0" marL="0">
              <a:spcAft>
                <a:spcPts val="600"/>
              </a:spcAft>
              <a:buNone/>
            </a:pPr>
            <a:r>
              <a:rPr lang="en-US" sz="1500" b="1" dirty="0">
                <a:solidFill>
                  <a:schemeClr val="tx1"/>
                </a:solidFill>
              </a:rPr>
              <a:t>E10  </a:t>
            </a:r>
            <a:pPr indent="0" marL="0">
              <a:spcAft>
                <a:spcPts val="600"/>
              </a:spcAft>
              <a:buNone/>
            </a:pPr>
            <a:r>
              <a:rPr lang="en-US" sz="1500" dirty="0">
                <a:solidFill>
                  <a:schemeClr val="tx1"/>
                </a:solidFill>
              </a:rPr>
              <a:t>Grupos de tres o cuatro alumnos</a:t>
            </a:r>
            <a:pPr indent="0" marL="0">
              <a:spcAft>
                <a:spcPts val="600"/>
              </a:spcAft>
              <a:buNone/>
            </a:pPr>
            <a:r>
              <a:rPr lang="en-US" sz="1100" dirty="0">
                <a:solidFill>
                  <a:schemeClr val="accent4"/>
                </a:solidFill>
              </a:rPr>
              <a:t>   D5, A1, A5</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kicker"/>
          <p:cNvSpPr txBox="1"/>
          <p:nvPr/>
        </p:nvSpPr>
        <p:spPr>
          <a:xfrm>
            <a:off x="548640" y="365760"/>
            <a:ext cx="73152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03 / MATRIZ INTERNA EXTERNA</a:t>
            </a:r>
            <a:endParaRPr lang="en-US" sz="1100" dirty="0"/>
          </a:p>
        </p:txBody>
      </p:sp>
      <p:sp>
        <p:nvSpPr>
          <p:cNvPr id="3" name="Text 1"/>
          <p:cNvSpPr/>
          <p:nvPr>
            <p:ph idx="101" type="title" hasCustomPrompt="1"/>
          </p:nvPr>
        </p:nvSpPr>
        <p:spPr>
          <a:xfrm>
            <a:off x="548640" y="658368"/>
            <a:ext cx="11064240" cy="685800"/>
          </a:xfrm>
          <a:prstGeom prst="rect">
            <a:avLst/>
          </a:prstGeom>
          <a:noFill/>
          <a:ln/>
        </p:spPr>
        <p:txBody>
          <a:bodyPr wrap="square" lIns="0" tIns="0" rIns="0" bIns="0" rtlCol="0" anchor="t"/>
          <a:lstStyle/>
          <a:p>
            <a:pPr algn="l" indent="0" marL="0">
              <a:buNone/>
            </a:pPr>
            <a:r>
              <a:rPr lang="en-US" sz="3000" b="1" dirty="0">
                <a:solidFill>
                  <a:schemeClr val="bg1"/>
                </a:solidFill>
              </a:rPr>
              <a:t>La MIE ubica a MatLab en la celda V: retener y mantener</a:t>
            </a:r>
            <a:endParaRPr lang="en-US" sz="3000" dirty="0"/>
          </a:p>
        </p:txBody>
      </p:sp>
      <p:sp>
        <p:nvSpPr>
          <p:cNvPr id="4" name="celda-I"/>
          <p:cNvSpPr/>
          <p:nvPr/>
        </p:nvSpPr>
        <p:spPr>
          <a:xfrm>
            <a:off x="1737360" y="1874520"/>
            <a:ext cx="1417320" cy="1143000"/>
          </a:xfrm>
          <a:prstGeom prst="rect">
            <a:avLst/>
          </a:prstGeom>
          <a:solidFill>
            <a:schemeClr val="accent2"/>
          </a:solidFill>
          <a:ln w="12700">
            <a:solidFill>
              <a:schemeClr val="accent2"/>
            </a:solidFill>
            <a:prstDash val="solid"/>
          </a:ln>
        </p:spPr>
      </p:sp>
      <p:sp>
        <p:nvSpPr>
          <p:cNvPr id="5" name="Text 3"/>
          <p:cNvSpPr txBox="1"/>
          <p:nvPr/>
        </p:nvSpPr>
        <p:spPr>
          <a:xfrm>
            <a:off x="1737360" y="1874520"/>
            <a:ext cx="1417320" cy="1143000"/>
          </a:xfrm>
          <a:prstGeom prst="rect">
            <a:avLst/>
          </a:prstGeom>
          <a:noFill/>
          <a:ln/>
        </p:spPr>
        <p:txBody>
          <a:bodyPr wrap="square" lIns="0" tIns="0" rIns="0" bIns="0" rtlCol="0" anchor="ctr"/>
          <a:lstStyle/>
          <a:p>
            <a:pPr algn="ctr" indent="0" marL="0">
              <a:buNone/>
            </a:pPr>
            <a:r>
              <a:rPr lang="en-US" sz="1800" dirty="0">
                <a:solidFill>
                  <a:schemeClr val="bg1"/>
                </a:solidFill>
              </a:rPr>
              <a:t>I</a:t>
            </a:r>
            <a:endParaRPr lang="en-US" sz="1800" dirty="0"/>
          </a:p>
        </p:txBody>
      </p:sp>
      <p:sp>
        <p:nvSpPr>
          <p:cNvPr id="6" name="celda-II"/>
          <p:cNvSpPr/>
          <p:nvPr/>
        </p:nvSpPr>
        <p:spPr>
          <a:xfrm>
            <a:off x="3227832" y="1874520"/>
            <a:ext cx="1417320" cy="1143000"/>
          </a:xfrm>
          <a:prstGeom prst="rect">
            <a:avLst/>
          </a:prstGeom>
          <a:solidFill>
            <a:schemeClr val="accent2"/>
          </a:solidFill>
          <a:ln w="12700">
            <a:solidFill>
              <a:schemeClr val="accent2"/>
            </a:solidFill>
            <a:prstDash val="solid"/>
          </a:ln>
        </p:spPr>
      </p:sp>
      <p:sp>
        <p:nvSpPr>
          <p:cNvPr id="7" name="Text 5"/>
          <p:cNvSpPr txBox="1"/>
          <p:nvPr/>
        </p:nvSpPr>
        <p:spPr>
          <a:xfrm>
            <a:off x="3227832" y="1874520"/>
            <a:ext cx="1417320" cy="1143000"/>
          </a:xfrm>
          <a:prstGeom prst="rect">
            <a:avLst/>
          </a:prstGeom>
          <a:noFill/>
          <a:ln/>
        </p:spPr>
        <p:txBody>
          <a:bodyPr wrap="square" lIns="0" tIns="0" rIns="0" bIns="0" rtlCol="0" anchor="ctr"/>
          <a:lstStyle/>
          <a:p>
            <a:pPr algn="ctr" indent="0" marL="0">
              <a:buNone/>
            </a:pPr>
            <a:r>
              <a:rPr lang="en-US" sz="1800" dirty="0">
                <a:solidFill>
                  <a:schemeClr val="bg1"/>
                </a:solidFill>
              </a:rPr>
              <a:t>II</a:t>
            </a:r>
            <a:endParaRPr lang="en-US" sz="1800" dirty="0"/>
          </a:p>
        </p:txBody>
      </p:sp>
      <p:sp>
        <p:nvSpPr>
          <p:cNvPr id="8" name="celda-III"/>
          <p:cNvSpPr/>
          <p:nvPr/>
        </p:nvSpPr>
        <p:spPr>
          <a:xfrm>
            <a:off x="4718304" y="1874520"/>
            <a:ext cx="1417320" cy="1143000"/>
          </a:xfrm>
          <a:prstGeom prst="rect">
            <a:avLst/>
          </a:prstGeom>
          <a:solidFill>
            <a:schemeClr val="accent4"/>
          </a:solidFill>
          <a:ln w="12700">
            <a:solidFill>
              <a:schemeClr val="accent4"/>
            </a:solidFill>
            <a:prstDash val="solid"/>
          </a:ln>
        </p:spPr>
      </p:sp>
      <p:sp>
        <p:nvSpPr>
          <p:cNvPr id="9" name="Text 7"/>
          <p:cNvSpPr txBox="1"/>
          <p:nvPr/>
        </p:nvSpPr>
        <p:spPr>
          <a:xfrm>
            <a:off x="4718304" y="1874520"/>
            <a:ext cx="1417320" cy="1143000"/>
          </a:xfrm>
          <a:prstGeom prst="rect">
            <a:avLst/>
          </a:prstGeom>
          <a:noFill/>
          <a:ln/>
        </p:spPr>
        <p:txBody>
          <a:bodyPr wrap="square" lIns="0" tIns="0" rIns="0" bIns="0" rtlCol="0" anchor="ctr"/>
          <a:lstStyle/>
          <a:p>
            <a:pPr algn="ctr" indent="0" marL="0">
              <a:buNone/>
            </a:pPr>
            <a:r>
              <a:rPr lang="en-US" sz="1800" dirty="0">
                <a:solidFill>
                  <a:schemeClr val="bg1"/>
                </a:solidFill>
              </a:rPr>
              <a:t>III</a:t>
            </a:r>
            <a:endParaRPr lang="en-US" sz="1800" dirty="0"/>
          </a:p>
        </p:txBody>
      </p:sp>
      <p:sp>
        <p:nvSpPr>
          <p:cNvPr id="10" name="celda-IV"/>
          <p:cNvSpPr/>
          <p:nvPr/>
        </p:nvSpPr>
        <p:spPr>
          <a:xfrm>
            <a:off x="1737360" y="3090672"/>
            <a:ext cx="1417320" cy="1143000"/>
          </a:xfrm>
          <a:prstGeom prst="rect">
            <a:avLst/>
          </a:prstGeom>
          <a:solidFill>
            <a:schemeClr val="accent2"/>
          </a:solidFill>
          <a:ln w="12700">
            <a:solidFill>
              <a:schemeClr val="accent2"/>
            </a:solidFill>
            <a:prstDash val="solid"/>
          </a:ln>
        </p:spPr>
      </p:sp>
      <p:sp>
        <p:nvSpPr>
          <p:cNvPr id="11" name="Text 9"/>
          <p:cNvSpPr txBox="1"/>
          <p:nvPr/>
        </p:nvSpPr>
        <p:spPr>
          <a:xfrm>
            <a:off x="1737360" y="3090672"/>
            <a:ext cx="1417320" cy="1143000"/>
          </a:xfrm>
          <a:prstGeom prst="rect">
            <a:avLst/>
          </a:prstGeom>
          <a:noFill/>
          <a:ln/>
        </p:spPr>
        <p:txBody>
          <a:bodyPr wrap="square" lIns="0" tIns="0" rIns="0" bIns="0" rtlCol="0" anchor="ctr"/>
          <a:lstStyle/>
          <a:p>
            <a:pPr algn="ctr" indent="0" marL="0">
              <a:buNone/>
            </a:pPr>
            <a:r>
              <a:rPr lang="en-US" sz="1800" dirty="0">
                <a:solidFill>
                  <a:schemeClr val="bg1"/>
                </a:solidFill>
              </a:rPr>
              <a:t>IV</a:t>
            </a:r>
            <a:endParaRPr lang="en-US" sz="1800" dirty="0"/>
          </a:p>
        </p:txBody>
      </p:sp>
      <p:sp>
        <p:nvSpPr>
          <p:cNvPr id="12" name="celda-V"/>
          <p:cNvSpPr/>
          <p:nvPr/>
        </p:nvSpPr>
        <p:spPr>
          <a:xfrm>
            <a:off x="3227832" y="3090672"/>
            <a:ext cx="1417320" cy="1143000"/>
          </a:xfrm>
          <a:prstGeom prst="rect">
            <a:avLst/>
          </a:prstGeom>
          <a:solidFill>
            <a:schemeClr val="accent1"/>
          </a:solidFill>
          <a:ln w="12700">
            <a:solidFill>
              <a:schemeClr val="accent1"/>
            </a:solidFill>
            <a:prstDash val="solid"/>
          </a:ln>
        </p:spPr>
      </p:sp>
      <p:sp>
        <p:nvSpPr>
          <p:cNvPr id="13" name="Text 11"/>
          <p:cNvSpPr txBox="1"/>
          <p:nvPr/>
        </p:nvSpPr>
        <p:spPr>
          <a:xfrm>
            <a:off x="3227832" y="3090672"/>
            <a:ext cx="1417320" cy="1143000"/>
          </a:xfrm>
          <a:prstGeom prst="rect">
            <a:avLst/>
          </a:prstGeom>
          <a:noFill/>
          <a:ln/>
        </p:spPr>
        <p:txBody>
          <a:bodyPr wrap="square" lIns="0" tIns="0" rIns="0" bIns="0" rtlCol="0" anchor="ctr"/>
          <a:lstStyle/>
          <a:p>
            <a:pPr algn="ctr" indent="0" marL="0">
              <a:buNone/>
            </a:pPr>
            <a:r>
              <a:rPr lang="en-US" sz="2200" b="1" dirty="0">
                <a:solidFill>
                  <a:schemeClr val="tx2"/>
                </a:solidFill>
              </a:rPr>
              <a:t>V</a:t>
            </a:r>
            <a:endParaRPr lang="en-US" sz="1800" dirty="0"/>
          </a:p>
          <a:p>
            <a:pPr algn="ctr" indent="0" marL="0">
              <a:buNone/>
            </a:pPr>
            <a:r>
              <a:rPr lang="en-US" sz="1300" b="1" dirty="0">
                <a:solidFill>
                  <a:schemeClr val="tx2"/>
                </a:solidFill>
              </a:rPr>
              <a:t>MatLab</a:t>
            </a:r>
            <a:endParaRPr lang="en-US" sz="1800" dirty="0"/>
          </a:p>
        </p:txBody>
      </p:sp>
      <p:sp>
        <p:nvSpPr>
          <p:cNvPr id="14" name="celda-VI"/>
          <p:cNvSpPr/>
          <p:nvPr/>
        </p:nvSpPr>
        <p:spPr>
          <a:xfrm>
            <a:off x="4718304" y="3090672"/>
            <a:ext cx="1417320" cy="1143000"/>
          </a:xfrm>
          <a:prstGeom prst="rect">
            <a:avLst/>
          </a:prstGeom>
          <a:solidFill>
            <a:schemeClr val="tx1"/>
          </a:solidFill>
          <a:ln w="12700">
            <a:solidFill>
              <a:schemeClr val="tx1"/>
            </a:solidFill>
            <a:prstDash val="solid"/>
          </a:ln>
        </p:spPr>
      </p:sp>
      <p:sp>
        <p:nvSpPr>
          <p:cNvPr id="15" name="Text 13"/>
          <p:cNvSpPr txBox="1"/>
          <p:nvPr/>
        </p:nvSpPr>
        <p:spPr>
          <a:xfrm>
            <a:off x="4718304" y="3090672"/>
            <a:ext cx="1417320" cy="1143000"/>
          </a:xfrm>
          <a:prstGeom prst="rect">
            <a:avLst/>
          </a:prstGeom>
          <a:noFill/>
          <a:ln/>
        </p:spPr>
        <p:txBody>
          <a:bodyPr wrap="square" lIns="0" tIns="0" rIns="0" bIns="0" rtlCol="0" anchor="ctr"/>
          <a:lstStyle/>
          <a:p>
            <a:pPr algn="ctr" indent="0" marL="0">
              <a:buNone/>
            </a:pPr>
            <a:r>
              <a:rPr lang="en-US" sz="1800" dirty="0">
                <a:solidFill>
                  <a:schemeClr val="bg1"/>
                </a:solidFill>
              </a:rPr>
              <a:t>VI</a:t>
            </a:r>
            <a:endParaRPr lang="en-US" sz="1800" dirty="0"/>
          </a:p>
        </p:txBody>
      </p:sp>
      <p:sp>
        <p:nvSpPr>
          <p:cNvPr id="16" name="celda-VII"/>
          <p:cNvSpPr/>
          <p:nvPr/>
        </p:nvSpPr>
        <p:spPr>
          <a:xfrm>
            <a:off x="1737360" y="4306824"/>
            <a:ext cx="1417320" cy="1143000"/>
          </a:xfrm>
          <a:prstGeom prst="rect">
            <a:avLst/>
          </a:prstGeom>
          <a:solidFill>
            <a:schemeClr val="accent4"/>
          </a:solidFill>
          <a:ln w="12700">
            <a:solidFill>
              <a:schemeClr val="accent4"/>
            </a:solidFill>
            <a:prstDash val="solid"/>
          </a:ln>
        </p:spPr>
      </p:sp>
      <p:sp>
        <p:nvSpPr>
          <p:cNvPr id="17" name="Text 15"/>
          <p:cNvSpPr txBox="1"/>
          <p:nvPr/>
        </p:nvSpPr>
        <p:spPr>
          <a:xfrm>
            <a:off x="1737360" y="4306824"/>
            <a:ext cx="1417320" cy="1143000"/>
          </a:xfrm>
          <a:prstGeom prst="rect">
            <a:avLst/>
          </a:prstGeom>
          <a:noFill/>
          <a:ln/>
        </p:spPr>
        <p:txBody>
          <a:bodyPr wrap="square" lIns="0" tIns="0" rIns="0" bIns="0" rtlCol="0" anchor="ctr"/>
          <a:lstStyle/>
          <a:p>
            <a:pPr algn="ctr" indent="0" marL="0">
              <a:buNone/>
            </a:pPr>
            <a:r>
              <a:rPr lang="en-US" sz="1800" dirty="0">
                <a:solidFill>
                  <a:schemeClr val="bg1"/>
                </a:solidFill>
              </a:rPr>
              <a:t>VII</a:t>
            </a:r>
            <a:endParaRPr lang="en-US" sz="1800" dirty="0"/>
          </a:p>
        </p:txBody>
      </p:sp>
      <p:sp>
        <p:nvSpPr>
          <p:cNvPr id="18" name="celda-VIII"/>
          <p:cNvSpPr/>
          <p:nvPr/>
        </p:nvSpPr>
        <p:spPr>
          <a:xfrm>
            <a:off x="3227832" y="4306824"/>
            <a:ext cx="1417320" cy="1143000"/>
          </a:xfrm>
          <a:prstGeom prst="rect">
            <a:avLst/>
          </a:prstGeom>
          <a:solidFill>
            <a:schemeClr val="tx1"/>
          </a:solidFill>
          <a:ln w="12700">
            <a:solidFill>
              <a:schemeClr val="tx1"/>
            </a:solidFill>
            <a:prstDash val="solid"/>
          </a:ln>
        </p:spPr>
      </p:sp>
      <p:sp>
        <p:nvSpPr>
          <p:cNvPr id="19" name="Text 17"/>
          <p:cNvSpPr txBox="1"/>
          <p:nvPr/>
        </p:nvSpPr>
        <p:spPr>
          <a:xfrm>
            <a:off x="3227832" y="4306824"/>
            <a:ext cx="1417320" cy="1143000"/>
          </a:xfrm>
          <a:prstGeom prst="rect">
            <a:avLst/>
          </a:prstGeom>
          <a:noFill/>
          <a:ln/>
        </p:spPr>
        <p:txBody>
          <a:bodyPr wrap="square" lIns="0" tIns="0" rIns="0" bIns="0" rtlCol="0" anchor="ctr"/>
          <a:lstStyle/>
          <a:p>
            <a:pPr algn="ctr" indent="0" marL="0">
              <a:buNone/>
            </a:pPr>
            <a:r>
              <a:rPr lang="en-US" sz="1800" dirty="0">
                <a:solidFill>
                  <a:schemeClr val="bg1"/>
                </a:solidFill>
              </a:rPr>
              <a:t>VIII</a:t>
            </a:r>
            <a:endParaRPr lang="en-US" sz="1800" dirty="0"/>
          </a:p>
        </p:txBody>
      </p:sp>
      <p:sp>
        <p:nvSpPr>
          <p:cNvPr id="20" name="celda-IX"/>
          <p:cNvSpPr/>
          <p:nvPr/>
        </p:nvSpPr>
        <p:spPr>
          <a:xfrm>
            <a:off x="4718304" y="4306824"/>
            <a:ext cx="1417320" cy="1143000"/>
          </a:xfrm>
          <a:prstGeom prst="rect">
            <a:avLst/>
          </a:prstGeom>
          <a:solidFill>
            <a:schemeClr val="tx1"/>
          </a:solidFill>
          <a:ln w="12700">
            <a:solidFill>
              <a:schemeClr val="tx1"/>
            </a:solidFill>
            <a:prstDash val="solid"/>
          </a:ln>
        </p:spPr>
      </p:sp>
      <p:sp>
        <p:nvSpPr>
          <p:cNvPr id="21" name="Text 19"/>
          <p:cNvSpPr txBox="1"/>
          <p:nvPr/>
        </p:nvSpPr>
        <p:spPr>
          <a:xfrm>
            <a:off x="4718304" y="4306824"/>
            <a:ext cx="1417320" cy="1143000"/>
          </a:xfrm>
          <a:prstGeom prst="rect">
            <a:avLst/>
          </a:prstGeom>
          <a:noFill/>
          <a:ln/>
        </p:spPr>
        <p:txBody>
          <a:bodyPr wrap="square" lIns="0" tIns="0" rIns="0" bIns="0" rtlCol="0" anchor="ctr"/>
          <a:lstStyle/>
          <a:p>
            <a:pPr algn="ctr" indent="0" marL="0">
              <a:buNone/>
            </a:pPr>
            <a:r>
              <a:rPr lang="en-US" sz="1800" dirty="0">
                <a:solidFill>
                  <a:schemeClr val="bg1"/>
                </a:solidFill>
              </a:rPr>
              <a:t>IX</a:t>
            </a:r>
            <a:endParaRPr lang="en-US" sz="1800" dirty="0"/>
          </a:p>
        </p:txBody>
      </p:sp>
      <p:sp>
        <p:nvSpPr>
          <p:cNvPr id="22" name="Text 20"/>
          <p:cNvSpPr txBox="1"/>
          <p:nvPr/>
        </p:nvSpPr>
        <p:spPr>
          <a:xfrm>
            <a:off x="1737360" y="1508760"/>
            <a:ext cx="1417320" cy="274320"/>
          </a:xfrm>
          <a:prstGeom prst="rect">
            <a:avLst/>
          </a:prstGeom>
          <a:noFill/>
          <a:ln/>
        </p:spPr>
        <p:txBody>
          <a:bodyPr wrap="square" lIns="0" tIns="0" rIns="0" bIns="0" rtlCol="0" anchor="t"/>
          <a:lstStyle/>
          <a:p>
            <a:pPr algn="ctr" indent="0" marL="0">
              <a:buNone/>
            </a:pPr>
            <a:r>
              <a:rPr lang="en-US" sz="1200" dirty="0">
                <a:solidFill>
                  <a:schemeClr val="accent5"/>
                </a:solidFill>
              </a:rPr>
              <a:t>Fuerte</a:t>
            </a:r>
            <a:endParaRPr lang="en-US" sz="1200" dirty="0"/>
          </a:p>
        </p:txBody>
      </p:sp>
      <p:sp>
        <p:nvSpPr>
          <p:cNvPr id="23" name="Text 21"/>
          <p:cNvSpPr txBox="1"/>
          <p:nvPr/>
        </p:nvSpPr>
        <p:spPr>
          <a:xfrm>
            <a:off x="3227832" y="1508760"/>
            <a:ext cx="1417320" cy="274320"/>
          </a:xfrm>
          <a:prstGeom prst="rect">
            <a:avLst/>
          </a:prstGeom>
          <a:noFill/>
          <a:ln/>
        </p:spPr>
        <p:txBody>
          <a:bodyPr wrap="square" lIns="0" tIns="0" rIns="0" bIns="0" rtlCol="0" anchor="t"/>
          <a:lstStyle/>
          <a:p>
            <a:pPr algn="ctr" indent="0" marL="0">
              <a:buNone/>
            </a:pPr>
            <a:r>
              <a:rPr lang="en-US" sz="1200" dirty="0">
                <a:solidFill>
                  <a:schemeClr val="accent5"/>
                </a:solidFill>
              </a:rPr>
              <a:t>Promedio</a:t>
            </a:r>
            <a:endParaRPr lang="en-US" sz="1200" dirty="0"/>
          </a:p>
        </p:txBody>
      </p:sp>
      <p:sp>
        <p:nvSpPr>
          <p:cNvPr id="24" name="Text 22"/>
          <p:cNvSpPr txBox="1"/>
          <p:nvPr/>
        </p:nvSpPr>
        <p:spPr>
          <a:xfrm>
            <a:off x="4718304" y="1508760"/>
            <a:ext cx="1417320" cy="274320"/>
          </a:xfrm>
          <a:prstGeom prst="rect">
            <a:avLst/>
          </a:prstGeom>
          <a:noFill/>
          <a:ln/>
        </p:spPr>
        <p:txBody>
          <a:bodyPr wrap="square" lIns="0" tIns="0" rIns="0" bIns="0" rtlCol="0" anchor="t"/>
          <a:lstStyle/>
          <a:p>
            <a:pPr algn="ctr" indent="0" marL="0">
              <a:buNone/>
            </a:pPr>
            <a:r>
              <a:rPr lang="en-US" sz="1200" dirty="0">
                <a:solidFill>
                  <a:schemeClr val="accent5"/>
                </a:solidFill>
              </a:rPr>
              <a:t>Débil</a:t>
            </a:r>
            <a:endParaRPr lang="en-US" sz="1200" dirty="0"/>
          </a:p>
        </p:txBody>
      </p:sp>
      <p:sp>
        <p:nvSpPr>
          <p:cNvPr id="25" name="Text 23"/>
          <p:cNvSpPr txBox="1"/>
          <p:nvPr/>
        </p:nvSpPr>
        <p:spPr>
          <a:xfrm>
            <a:off x="868680" y="2286000"/>
            <a:ext cx="777240" cy="274320"/>
          </a:xfrm>
          <a:prstGeom prst="rect">
            <a:avLst/>
          </a:prstGeom>
          <a:noFill/>
          <a:ln/>
        </p:spPr>
        <p:txBody>
          <a:bodyPr wrap="square" lIns="0" tIns="0" rIns="0" bIns="0" rtlCol="0" anchor="t"/>
          <a:lstStyle/>
          <a:p>
            <a:pPr algn="r" indent="0" marL="0">
              <a:buNone/>
            </a:pPr>
            <a:r>
              <a:rPr lang="en-US" sz="1200" dirty="0">
                <a:solidFill>
                  <a:schemeClr val="accent5"/>
                </a:solidFill>
              </a:rPr>
              <a:t>Alto</a:t>
            </a:r>
            <a:endParaRPr lang="en-US" sz="1200" dirty="0"/>
          </a:p>
        </p:txBody>
      </p:sp>
      <p:sp>
        <p:nvSpPr>
          <p:cNvPr id="26" name="Text 24"/>
          <p:cNvSpPr txBox="1"/>
          <p:nvPr/>
        </p:nvSpPr>
        <p:spPr>
          <a:xfrm>
            <a:off x="868680" y="3502152"/>
            <a:ext cx="777240" cy="274320"/>
          </a:xfrm>
          <a:prstGeom prst="rect">
            <a:avLst/>
          </a:prstGeom>
          <a:noFill/>
          <a:ln/>
        </p:spPr>
        <p:txBody>
          <a:bodyPr wrap="square" lIns="0" tIns="0" rIns="0" bIns="0" rtlCol="0" anchor="t"/>
          <a:lstStyle/>
          <a:p>
            <a:pPr algn="r" indent="0" marL="0">
              <a:buNone/>
            </a:pPr>
            <a:r>
              <a:rPr lang="en-US" sz="1200" dirty="0">
                <a:solidFill>
                  <a:schemeClr val="accent5"/>
                </a:solidFill>
              </a:rPr>
              <a:t>Medio</a:t>
            </a:r>
            <a:endParaRPr lang="en-US" sz="1200" dirty="0"/>
          </a:p>
        </p:txBody>
      </p:sp>
      <p:sp>
        <p:nvSpPr>
          <p:cNvPr id="27" name="Text 25"/>
          <p:cNvSpPr txBox="1"/>
          <p:nvPr/>
        </p:nvSpPr>
        <p:spPr>
          <a:xfrm>
            <a:off x="868680" y="4718304"/>
            <a:ext cx="777240" cy="274320"/>
          </a:xfrm>
          <a:prstGeom prst="rect">
            <a:avLst/>
          </a:prstGeom>
          <a:noFill/>
          <a:ln/>
        </p:spPr>
        <p:txBody>
          <a:bodyPr wrap="square" lIns="0" tIns="0" rIns="0" bIns="0" rtlCol="0" anchor="t"/>
          <a:lstStyle/>
          <a:p>
            <a:pPr algn="r" indent="0" marL="0">
              <a:buNone/>
            </a:pPr>
            <a:r>
              <a:rPr lang="en-US" sz="1200" dirty="0">
                <a:solidFill>
                  <a:schemeClr val="accent5"/>
                </a:solidFill>
              </a:rPr>
              <a:t>Bajo</a:t>
            </a:r>
            <a:endParaRPr lang="en-US" sz="1200" dirty="0"/>
          </a:p>
        </p:txBody>
      </p:sp>
      <p:sp>
        <p:nvSpPr>
          <p:cNvPr id="28" name="Text 26"/>
          <p:cNvSpPr txBox="1"/>
          <p:nvPr/>
        </p:nvSpPr>
        <p:spPr>
          <a:xfrm>
            <a:off x="914400" y="5669280"/>
            <a:ext cx="5303520" cy="274320"/>
          </a:xfrm>
          <a:prstGeom prst="rect">
            <a:avLst/>
          </a:prstGeom>
          <a:noFill/>
          <a:ln/>
        </p:spPr>
        <p:txBody>
          <a:bodyPr wrap="square" lIns="0" tIns="0" rIns="0" bIns="0" rtlCol="0" anchor="t"/>
          <a:lstStyle/>
          <a:p>
            <a:pPr indent="0" marL="0">
              <a:buNone/>
            </a:pPr>
            <a:r>
              <a:rPr lang="en-US" sz="1200" dirty="0">
                <a:solidFill>
                  <a:schemeClr val="accent5"/>
                </a:solidFill>
              </a:rPr>
              <a:t>MEFI 2.40 en el eje horizontal  ·  MEFE 2.34 en el vertical</a:t>
            </a:r>
            <a:endParaRPr lang="en-US" sz="1200" dirty="0"/>
          </a:p>
        </p:txBody>
      </p:sp>
      <p:sp>
        <p:nvSpPr>
          <p:cNvPr id="29" name="Text 27"/>
          <p:cNvSpPr txBox="1"/>
          <p:nvPr/>
        </p:nvSpPr>
        <p:spPr>
          <a:xfrm>
            <a:off x="6949440" y="1828800"/>
            <a:ext cx="4572000" cy="365760"/>
          </a:xfrm>
          <a:prstGeom prst="rect">
            <a:avLst/>
          </a:prstGeom>
          <a:noFill/>
          <a:ln/>
        </p:spPr>
        <p:txBody>
          <a:bodyPr wrap="square" lIns="0" tIns="0" rIns="0" bIns="0" rtlCol="0" anchor="t"/>
          <a:lstStyle/>
          <a:p>
            <a:pPr indent="0" marL="0">
              <a:buNone/>
            </a:pPr>
            <a:r>
              <a:rPr lang="en-US" sz="2000" b="1" dirty="0">
                <a:solidFill>
                  <a:schemeClr val="accent1"/>
                </a:solidFill>
              </a:rPr>
              <a:t>Qué recomienda</a:t>
            </a:r>
            <a:endParaRPr lang="en-US" sz="2000" dirty="0"/>
          </a:p>
        </p:txBody>
      </p:sp>
      <p:sp>
        <p:nvSpPr>
          <p:cNvPr id="30" name="Text 28"/>
          <p:cNvSpPr txBox="1"/>
          <p:nvPr/>
        </p:nvSpPr>
        <p:spPr>
          <a:xfrm>
            <a:off x="6949440" y="2286000"/>
            <a:ext cx="4572000" cy="1371600"/>
          </a:xfrm>
          <a:prstGeom prst="rect">
            <a:avLst/>
          </a:prstGeom>
          <a:noFill/>
          <a:ln/>
        </p:spPr>
        <p:txBody>
          <a:bodyPr wrap="square" lIns="0" tIns="0" rIns="0" bIns="0" rtlCol="0" anchor="t"/>
          <a:lstStyle/>
          <a:p>
            <a:pPr indent="0" marL="0">
              <a:buNone/>
            </a:pPr>
            <a:r>
              <a:rPr lang="en-US" sz="1600" dirty="0">
                <a:solidFill>
                  <a:schemeClr val="bg1"/>
                </a:solidFill>
              </a:rPr>
              <a:t>Penetración de mercado y desarrollo de productos. La empresa no debe arriesgarse con negocios nuevos, sino vender más de lo que ya hace bien.</a:t>
            </a:r>
            <a:endParaRPr lang="en-US" sz="1600" dirty="0"/>
          </a:p>
        </p:txBody>
      </p:sp>
      <p:sp>
        <p:nvSpPr>
          <p:cNvPr id="31" name="Text 29"/>
          <p:cNvSpPr txBox="1"/>
          <p:nvPr/>
        </p:nvSpPr>
        <p:spPr>
          <a:xfrm>
            <a:off x="6949440" y="3840480"/>
            <a:ext cx="4572000" cy="365760"/>
          </a:xfrm>
          <a:prstGeom prst="rect">
            <a:avLst/>
          </a:prstGeom>
          <a:noFill/>
          <a:ln/>
        </p:spPr>
        <p:txBody>
          <a:bodyPr wrap="square" lIns="0" tIns="0" rIns="0" bIns="0" rtlCol="0" anchor="t"/>
          <a:lstStyle/>
          <a:p>
            <a:pPr indent="0" marL="0">
              <a:buNone/>
            </a:pPr>
            <a:r>
              <a:rPr lang="en-US" sz="2000" b="1" dirty="0">
                <a:solidFill>
                  <a:schemeClr val="accent1"/>
                </a:solidFill>
              </a:rPr>
              <a:t>Estrategias del FODA que coinciden</a:t>
            </a:r>
            <a:endParaRPr lang="en-US" sz="2000" dirty="0"/>
          </a:p>
        </p:txBody>
      </p:sp>
      <p:sp>
        <p:nvSpPr>
          <p:cNvPr id="32" name="chip-E1"/>
          <p:cNvSpPr/>
          <p:nvPr/>
        </p:nvSpPr>
        <p:spPr>
          <a:xfrm>
            <a:off x="6949440" y="4389120"/>
            <a:ext cx="731520" cy="731520"/>
          </a:xfrm>
          <a:prstGeom prst="ellipse">
            <a:avLst/>
          </a:prstGeom>
          <a:solidFill>
            <a:schemeClr val="accent1"/>
          </a:solidFill>
          <a:ln w="12700">
            <a:solidFill>
              <a:schemeClr val="accent1"/>
            </a:solidFill>
            <a:prstDash val="solid"/>
          </a:ln>
        </p:spPr>
      </p:sp>
      <p:sp>
        <p:nvSpPr>
          <p:cNvPr id="33" name="Text 31"/>
          <p:cNvSpPr txBox="1"/>
          <p:nvPr/>
        </p:nvSpPr>
        <p:spPr>
          <a:xfrm>
            <a:off x="6949440" y="4389120"/>
            <a:ext cx="731520" cy="731520"/>
          </a:xfrm>
          <a:prstGeom prst="rect">
            <a:avLst/>
          </a:prstGeom>
          <a:noFill/>
          <a:ln/>
        </p:spPr>
        <p:txBody>
          <a:bodyPr wrap="square" lIns="0" tIns="0" rIns="0" bIns="0" rtlCol="0" anchor="ctr"/>
          <a:lstStyle/>
          <a:p>
            <a:pPr algn="ctr" indent="0" marL="0">
              <a:buNone/>
            </a:pPr>
            <a:r>
              <a:rPr lang="en-US" sz="1400" b="1" dirty="0">
                <a:solidFill>
                  <a:schemeClr val="tx2"/>
                </a:solidFill>
              </a:rPr>
              <a:t>E1</a:t>
            </a:r>
            <a:endParaRPr lang="en-US" sz="1400" dirty="0"/>
          </a:p>
        </p:txBody>
      </p:sp>
      <p:sp>
        <p:nvSpPr>
          <p:cNvPr id="34" name="chip-E2"/>
          <p:cNvSpPr/>
          <p:nvPr/>
        </p:nvSpPr>
        <p:spPr>
          <a:xfrm>
            <a:off x="7818120" y="4389120"/>
            <a:ext cx="731520" cy="731520"/>
          </a:xfrm>
          <a:prstGeom prst="ellipse">
            <a:avLst/>
          </a:prstGeom>
          <a:solidFill>
            <a:schemeClr val="accent1"/>
          </a:solidFill>
          <a:ln w="12700">
            <a:solidFill>
              <a:schemeClr val="accent1"/>
            </a:solidFill>
            <a:prstDash val="solid"/>
          </a:ln>
        </p:spPr>
      </p:sp>
      <p:sp>
        <p:nvSpPr>
          <p:cNvPr id="35" name="Text 33"/>
          <p:cNvSpPr txBox="1"/>
          <p:nvPr/>
        </p:nvSpPr>
        <p:spPr>
          <a:xfrm>
            <a:off x="7818120" y="4389120"/>
            <a:ext cx="731520" cy="731520"/>
          </a:xfrm>
          <a:prstGeom prst="rect">
            <a:avLst/>
          </a:prstGeom>
          <a:noFill/>
          <a:ln/>
        </p:spPr>
        <p:txBody>
          <a:bodyPr wrap="square" lIns="0" tIns="0" rIns="0" bIns="0" rtlCol="0" anchor="ctr"/>
          <a:lstStyle/>
          <a:p>
            <a:pPr algn="ctr" indent="0" marL="0">
              <a:buNone/>
            </a:pPr>
            <a:r>
              <a:rPr lang="en-US" sz="1400" b="1" dirty="0">
                <a:solidFill>
                  <a:schemeClr val="tx2"/>
                </a:solidFill>
              </a:rPr>
              <a:t>E2</a:t>
            </a:r>
            <a:endParaRPr lang="en-US" sz="1400" dirty="0"/>
          </a:p>
        </p:txBody>
      </p:sp>
      <p:sp>
        <p:nvSpPr>
          <p:cNvPr id="36" name="chip-E4"/>
          <p:cNvSpPr/>
          <p:nvPr/>
        </p:nvSpPr>
        <p:spPr>
          <a:xfrm>
            <a:off x="8686800" y="4389120"/>
            <a:ext cx="731520" cy="731520"/>
          </a:xfrm>
          <a:prstGeom prst="ellipse">
            <a:avLst/>
          </a:prstGeom>
          <a:solidFill>
            <a:schemeClr val="accent1"/>
          </a:solidFill>
          <a:ln w="12700">
            <a:solidFill>
              <a:schemeClr val="accent1"/>
            </a:solidFill>
            <a:prstDash val="solid"/>
          </a:ln>
        </p:spPr>
      </p:sp>
      <p:sp>
        <p:nvSpPr>
          <p:cNvPr id="37" name="Text 35"/>
          <p:cNvSpPr txBox="1"/>
          <p:nvPr/>
        </p:nvSpPr>
        <p:spPr>
          <a:xfrm>
            <a:off x="8686800" y="4389120"/>
            <a:ext cx="731520" cy="731520"/>
          </a:xfrm>
          <a:prstGeom prst="rect">
            <a:avLst/>
          </a:prstGeom>
          <a:noFill/>
          <a:ln/>
        </p:spPr>
        <p:txBody>
          <a:bodyPr wrap="square" lIns="0" tIns="0" rIns="0" bIns="0" rtlCol="0" anchor="ctr"/>
          <a:lstStyle/>
          <a:p>
            <a:pPr algn="ctr" indent="0" marL="0">
              <a:buNone/>
            </a:pPr>
            <a:r>
              <a:rPr lang="en-US" sz="1400" b="1" dirty="0">
                <a:solidFill>
                  <a:schemeClr val="tx2"/>
                </a:solidFill>
              </a:rPr>
              <a:t>E4</a:t>
            </a:r>
            <a:endParaRPr lang="en-US" sz="1400" dirty="0"/>
          </a:p>
        </p:txBody>
      </p:sp>
      <p:sp>
        <p:nvSpPr>
          <p:cNvPr id="38" name="chip-E7"/>
          <p:cNvSpPr/>
          <p:nvPr/>
        </p:nvSpPr>
        <p:spPr>
          <a:xfrm>
            <a:off x="9555480" y="4389120"/>
            <a:ext cx="731520" cy="731520"/>
          </a:xfrm>
          <a:prstGeom prst="ellipse">
            <a:avLst/>
          </a:prstGeom>
          <a:solidFill>
            <a:schemeClr val="accent1"/>
          </a:solidFill>
          <a:ln w="12700">
            <a:solidFill>
              <a:schemeClr val="accent1"/>
            </a:solidFill>
            <a:prstDash val="solid"/>
          </a:ln>
        </p:spPr>
      </p:sp>
      <p:sp>
        <p:nvSpPr>
          <p:cNvPr id="39" name="Text 37"/>
          <p:cNvSpPr txBox="1"/>
          <p:nvPr/>
        </p:nvSpPr>
        <p:spPr>
          <a:xfrm>
            <a:off x="9555480" y="4389120"/>
            <a:ext cx="731520" cy="731520"/>
          </a:xfrm>
          <a:prstGeom prst="rect">
            <a:avLst/>
          </a:prstGeom>
          <a:noFill/>
          <a:ln/>
        </p:spPr>
        <p:txBody>
          <a:bodyPr wrap="square" lIns="0" tIns="0" rIns="0" bIns="0" rtlCol="0" anchor="ctr"/>
          <a:lstStyle/>
          <a:p>
            <a:pPr algn="ctr" indent="0" marL="0">
              <a:buNone/>
            </a:pPr>
            <a:r>
              <a:rPr lang="en-US" sz="1400" b="1" dirty="0">
                <a:solidFill>
                  <a:schemeClr val="tx2"/>
                </a:solidFill>
              </a:rPr>
              <a:t>E7</a:t>
            </a:r>
            <a:endParaRPr lang="en-US" sz="1400" dirty="0"/>
          </a:p>
        </p:txBody>
      </p:sp>
      <p:sp>
        <p:nvSpPr>
          <p:cNvPr id="40" name="chip-E10"/>
          <p:cNvSpPr/>
          <p:nvPr/>
        </p:nvSpPr>
        <p:spPr>
          <a:xfrm>
            <a:off x="10424160" y="4389120"/>
            <a:ext cx="731520" cy="731520"/>
          </a:xfrm>
          <a:prstGeom prst="ellipse">
            <a:avLst/>
          </a:prstGeom>
          <a:solidFill>
            <a:schemeClr val="accent1"/>
          </a:solidFill>
          <a:ln w="12700">
            <a:solidFill>
              <a:schemeClr val="accent1"/>
            </a:solidFill>
            <a:prstDash val="solid"/>
          </a:ln>
        </p:spPr>
      </p:sp>
      <p:sp>
        <p:nvSpPr>
          <p:cNvPr id="41" name="Text 39"/>
          <p:cNvSpPr txBox="1"/>
          <p:nvPr/>
        </p:nvSpPr>
        <p:spPr>
          <a:xfrm>
            <a:off x="10424160" y="4389120"/>
            <a:ext cx="731520" cy="731520"/>
          </a:xfrm>
          <a:prstGeom prst="rect">
            <a:avLst/>
          </a:prstGeom>
          <a:noFill/>
          <a:ln/>
        </p:spPr>
        <p:txBody>
          <a:bodyPr wrap="square" lIns="0" tIns="0" rIns="0" bIns="0" rtlCol="0" anchor="ctr"/>
          <a:lstStyle/>
          <a:p>
            <a:pPr algn="ctr" indent="0" marL="0">
              <a:buNone/>
            </a:pPr>
            <a:r>
              <a:rPr lang="en-US" sz="1400" b="1" dirty="0">
                <a:solidFill>
                  <a:schemeClr val="tx2"/>
                </a:solidFill>
              </a:rPr>
              <a:t>E10</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kicker"/>
          <p:cNvSpPr txBox="1"/>
          <p:nvPr/>
        </p:nvSpPr>
        <p:spPr>
          <a:xfrm>
            <a:off x="548640" y="365760"/>
            <a:ext cx="7315200" cy="274320"/>
          </a:xfrm>
          <a:prstGeom prst="rect">
            <a:avLst/>
          </a:prstGeom>
          <a:noFill/>
          <a:ln/>
        </p:spPr>
        <p:txBody>
          <a:bodyPr wrap="square" lIns="0" tIns="0" rIns="0" bIns="0" rtlCol="0" anchor="ctr"/>
          <a:lstStyle/>
          <a:p>
            <a:pPr indent="0" marL="0">
              <a:buNone/>
            </a:pPr>
            <a:r>
              <a:rPr lang="en-US" sz="1100" b="1" spc="200" kern="0" dirty="0">
                <a:solidFill>
                  <a:schemeClr val="accent2"/>
                </a:solidFill>
              </a:rPr>
              <a:t>04 / MATRIZ PEYEA</a:t>
            </a:r>
            <a:endParaRPr lang="en-US" sz="1100" dirty="0"/>
          </a:p>
        </p:txBody>
      </p:sp>
      <p:sp>
        <p:nvSpPr>
          <p:cNvPr id="3" name="Text 1"/>
          <p:cNvSpPr/>
          <p:nvPr>
            <p:ph idx="101" type="title" hasCustomPrompt="1"/>
          </p:nvPr>
        </p:nvSpPr>
        <p:spPr>
          <a:xfrm>
            <a:off x="548640" y="658368"/>
            <a:ext cx="11064240" cy="685800"/>
          </a:xfrm>
          <a:prstGeom prst="rect">
            <a:avLst/>
          </a:prstGeom>
          <a:noFill/>
          <a:ln/>
        </p:spPr>
        <p:txBody>
          <a:bodyPr wrap="square" lIns="0" tIns="0" rIns="0" bIns="0" rtlCol="0" anchor="t"/>
          <a:lstStyle/>
          <a:p>
            <a:pPr algn="l" indent="0" marL="0">
              <a:buNone/>
            </a:pPr>
            <a:r>
              <a:rPr lang="en-US" sz="3000" b="1" dirty="0">
                <a:solidFill>
                  <a:schemeClr val="tx1"/>
                </a:solidFill>
              </a:rPr>
              <a:t>PEYEA: agresiva, pero frenada por el cumplimiento</a:t>
            </a:r>
            <a:endParaRPr lang="en-US" sz="3000" dirty="0"/>
          </a:p>
        </p:txBody>
      </p:sp>
      <p:sp>
        <p:nvSpPr>
          <p:cNvPr id="4" name="marco-peyea"/>
          <p:cNvSpPr/>
          <p:nvPr/>
        </p:nvSpPr>
        <p:spPr>
          <a:xfrm>
            <a:off x="548640" y="1600200"/>
            <a:ext cx="4526280" cy="4526280"/>
          </a:xfrm>
          <a:prstGeom prst="roundRect">
            <a:avLst>
              <a:gd name="adj" fmla="val 1616"/>
            </a:avLst>
          </a:prstGeom>
          <a:solidFill>
            <a:schemeClr val="bg1"/>
          </a:solidFill>
          <a:ln w="12700">
            <a:solidFill>
              <a:schemeClr val="bg1"/>
            </a:solidFill>
            <a:prstDash val="solid"/>
          </a:ln>
        </p:spPr>
      </p:sp>
      <p:pic>
        <p:nvPicPr>
          <p:cNvPr id="5" name="grafico-peyea" descr="/home/user/Planeamiento-estrategico/APF2/figuras/peyea_ppt.png">    </p:cNvPr>
          <p:cNvPicPr>
            <a:picLocks noChangeAspect="1"/>
          </p:cNvPicPr>
          <p:nvPr/>
        </p:nvPicPr>
        <p:blipFill>
          <a:blip r:embed="rId1"/>
          <a:stretch>
            <a:fillRect/>
          </a:stretch>
        </p:blipFill>
        <p:spPr>
          <a:xfrm>
            <a:off x="685800" y="1737360"/>
            <a:ext cx="4251960" cy="4251960"/>
          </a:xfrm>
          <a:prstGeom prst="rect">
            <a:avLst/>
          </a:prstGeom>
        </p:spPr>
      </p:pic>
      <p:sp>
        <p:nvSpPr>
          <p:cNvPr id="6" name="dim-0"/>
          <p:cNvSpPr/>
          <p:nvPr/>
        </p:nvSpPr>
        <p:spPr>
          <a:xfrm>
            <a:off x="5440680" y="1600200"/>
            <a:ext cx="2971800" cy="1280160"/>
          </a:xfrm>
          <a:prstGeom prst="roundRect">
            <a:avLst>
              <a:gd name="adj" fmla="val 5714"/>
            </a:avLst>
          </a:prstGeom>
          <a:solidFill>
            <a:schemeClr val="bg1"/>
          </a:solidFill>
          <a:ln w="12700">
            <a:solidFill>
              <a:schemeClr val="bg1"/>
            </a:solidFill>
            <a:prstDash val="solid"/>
          </a:ln>
        </p:spPr>
      </p:sp>
      <p:sp>
        <p:nvSpPr>
          <p:cNvPr id="7" name="Text 4"/>
          <p:cNvSpPr txBox="1"/>
          <p:nvPr/>
        </p:nvSpPr>
        <p:spPr>
          <a:xfrm>
            <a:off x="5669280" y="1737360"/>
            <a:ext cx="1371600" cy="502920"/>
          </a:xfrm>
          <a:prstGeom prst="rect">
            <a:avLst/>
          </a:prstGeom>
          <a:noFill/>
          <a:ln/>
        </p:spPr>
        <p:txBody>
          <a:bodyPr wrap="square" lIns="0" tIns="0" rIns="0" bIns="0" rtlCol="0" anchor="t"/>
          <a:lstStyle/>
          <a:p>
            <a:pPr indent="0" marL="0">
              <a:buNone/>
            </a:pPr>
            <a:r>
              <a:rPr lang="en-US" sz="2600" b="1" dirty="0">
                <a:solidFill>
                  <a:schemeClr val="tx1"/>
                </a:solidFill>
              </a:rPr>
              <a:t>+4.40</a:t>
            </a:r>
            <a:endParaRPr lang="en-US" sz="2600" dirty="0"/>
          </a:p>
        </p:txBody>
      </p:sp>
      <p:sp>
        <p:nvSpPr>
          <p:cNvPr id="8" name="Text 5"/>
          <p:cNvSpPr txBox="1"/>
          <p:nvPr/>
        </p:nvSpPr>
        <p:spPr>
          <a:xfrm>
            <a:off x="5669280" y="2258568"/>
            <a:ext cx="2606040" cy="274320"/>
          </a:xfrm>
          <a:prstGeom prst="rect">
            <a:avLst/>
          </a:prstGeom>
          <a:noFill/>
          <a:ln/>
        </p:spPr>
        <p:txBody>
          <a:bodyPr wrap="square" lIns="0" tIns="0" rIns="0" bIns="0" rtlCol="0" anchor="t"/>
          <a:lstStyle/>
          <a:p>
            <a:pPr indent="0" marL="0">
              <a:buNone/>
            </a:pPr>
            <a:r>
              <a:rPr lang="en-US" sz="1300" b="1" dirty="0">
                <a:solidFill>
                  <a:schemeClr val="accent2"/>
                </a:solidFill>
              </a:rPr>
              <a:t>Fuerza financiera</a:t>
            </a:r>
            <a:endParaRPr lang="en-US" sz="1300" dirty="0"/>
          </a:p>
        </p:txBody>
      </p:sp>
      <p:sp>
        <p:nvSpPr>
          <p:cNvPr id="9" name="Text 6"/>
          <p:cNvSpPr txBox="1"/>
          <p:nvPr/>
        </p:nvSpPr>
        <p:spPr>
          <a:xfrm>
            <a:off x="5669280" y="2514600"/>
            <a:ext cx="2606040" cy="274320"/>
          </a:xfrm>
          <a:prstGeom prst="rect">
            <a:avLst/>
          </a:prstGeom>
          <a:noFill/>
          <a:ln/>
        </p:spPr>
        <p:txBody>
          <a:bodyPr wrap="square" lIns="0" tIns="0" rIns="0" bIns="0" rtlCol="0" anchor="t"/>
          <a:lstStyle/>
          <a:p>
            <a:pPr indent="0" marL="0">
              <a:buNone/>
            </a:pPr>
            <a:r>
              <a:rPr lang="en-US" sz="1100" dirty="0">
                <a:solidFill>
                  <a:schemeClr val="accent4"/>
                </a:solidFill>
              </a:rPr>
              <a:t>Sin deudas, pagos a tiempo y ahorro</a:t>
            </a:r>
            <a:endParaRPr lang="en-US" sz="1100" dirty="0"/>
          </a:p>
        </p:txBody>
      </p:sp>
      <p:sp>
        <p:nvSpPr>
          <p:cNvPr id="10" name="dim-1"/>
          <p:cNvSpPr/>
          <p:nvPr/>
        </p:nvSpPr>
        <p:spPr>
          <a:xfrm>
            <a:off x="8595360" y="1600200"/>
            <a:ext cx="2971800" cy="1280160"/>
          </a:xfrm>
          <a:prstGeom prst="roundRect">
            <a:avLst>
              <a:gd name="adj" fmla="val 5714"/>
            </a:avLst>
          </a:prstGeom>
          <a:solidFill>
            <a:schemeClr val="accent3"/>
          </a:solidFill>
          <a:ln w="12700">
            <a:solidFill>
              <a:schemeClr val="accent3"/>
            </a:solidFill>
            <a:prstDash val="solid"/>
          </a:ln>
        </p:spPr>
      </p:sp>
      <p:sp>
        <p:nvSpPr>
          <p:cNvPr id="11" name="Text 8"/>
          <p:cNvSpPr txBox="1"/>
          <p:nvPr/>
        </p:nvSpPr>
        <p:spPr>
          <a:xfrm>
            <a:off x="8823960" y="1737360"/>
            <a:ext cx="1371600" cy="502920"/>
          </a:xfrm>
          <a:prstGeom prst="rect">
            <a:avLst/>
          </a:prstGeom>
          <a:noFill/>
          <a:ln/>
        </p:spPr>
        <p:txBody>
          <a:bodyPr wrap="square" lIns="0" tIns="0" rIns="0" bIns="0" rtlCol="0" anchor="t"/>
          <a:lstStyle/>
          <a:p>
            <a:pPr indent="0" marL="0">
              <a:buNone/>
            </a:pPr>
            <a:r>
              <a:rPr lang="en-US" sz="2600" b="1" dirty="0">
                <a:solidFill>
                  <a:schemeClr val="tx1"/>
                </a:solidFill>
              </a:rPr>
              <a:t>−3.33</a:t>
            </a:r>
            <a:endParaRPr lang="en-US" sz="2600" dirty="0"/>
          </a:p>
        </p:txBody>
      </p:sp>
      <p:sp>
        <p:nvSpPr>
          <p:cNvPr id="12" name="Text 9"/>
          <p:cNvSpPr txBox="1"/>
          <p:nvPr/>
        </p:nvSpPr>
        <p:spPr>
          <a:xfrm>
            <a:off x="8823960" y="2258568"/>
            <a:ext cx="2606040" cy="274320"/>
          </a:xfrm>
          <a:prstGeom prst="rect">
            <a:avLst/>
          </a:prstGeom>
          <a:noFill/>
          <a:ln/>
        </p:spPr>
        <p:txBody>
          <a:bodyPr wrap="square" lIns="0" tIns="0" rIns="0" bIns="0" rtlCol="0" anchor="t"/>
          <a:lstStyle/>
          <a:p>
            <a:pPr indent="0" marL="0">
              <a:buNone/>
            </a:pPr>
            <a:r>
              <a:rPr lang="en-US" sz="1300" b="1" dirty="0">
                <a:solidFill>
                  <a:schemeClr val="accent2"/>
                </a:solidFill>
              </a:rPr>
              <a:t>Ventaja competitiva</a:t>
            </a:r>
            <a:endParaRPr lang="en-US" sz="1300" dirty="0"/>
          </a:p>
        </p:txBody>
      </p:sp>
      <p:sp>
        <p:nvSpPr>
          <p:cNvPr id="13" name="Text 10"/>
          <p:cNvSpPr txBox="1"/>
          <p:nvPr/>
        </p:nvSpPr>
        <p:spPr>
          <a:xfrm>
            <a:off x="8823960" y="2514600"/>
            <a:ext cx="2606040" cy="274320"/>
          </a:xfrm>
          <a:prstGeom prst="rect">
            <a:avLst/>
          </a:prstGeom>
          <a:noFill/>
          <a:ln/>
        </p:spPr>
        <p:txBody>
          <a:bodyPr wrap="square" lIns="0" tIns="0" rIns="0" bIns="0" rtlCol="0" anchor="t"/>
          <a:lstStyle/>
          <a:p>
            <a:pPr indent="0" marL="0">
              <a:buNone/>
            </a:pPr>
            <a:r>
              <a:rPr lang="en-US" sz="1100" dirty="0">
                <a:solidFill>
                  <a:schemeClr val="accent4"/>
                </a:solidFill>
              </a:rPr>
              <a:t>Puntualidad docente con −6</a:t>
            </a:r>
            <a:endParaRPr lang="en-US" sz="1100" dirty="0"/>
          </a:p>
        </p:txBody>
      </p:sp>
      <p:sp>
        <p:nvSpPr>
          <p:cNvPr id="14" name="dim-2"/>
          <p:cNvSpPr/>
          <p:nvPr/>
        </p:nvSpPr>
        <p:spPr>
          <a:xfrm>
            <a:off x="5440680" y="3017520"/>
            <a:ext cx="2971800" cy="1280160"/>
          </a:xfrm>
          <a:prstGeom prst="roundRect">
            <a:avLst>
              <a:gd name="adj" fmla="val 5714"/>
            </a:avLst>
          </a:prstGeom>
          <a:solidFill>
            <a:schemeClr val="bg1"/>
          </a:solidFill>
          <a:ln w="12700">
            <a:solidFill>
              <a:schemeClr val="bg1"/>
            </a:solidFill>
            <a:prstDash val="solid"/>
          </a:ln>
        </p:spPr>
      </p:sp>
      <p:sp>
        <p:nvSpPr>
          <p:cNvPr id="15" name="Text 12"/>
          <p:cNvSpPr txBox="1"/>
          <p:nvPr/>
        </p:nvSpPr>
        <p:spPr>
          <a:xfrm>
            <a:off x="5669280" y="3154680"/>
            <a:ext cx="1371600" cy="502920"/>
          </a:xfrm>
          <a:prstGeom prst="rect">
            <a:avLst/>
          </a:prstGeom>
          <a:noFill/>
          <a:ln/>
        </p:spPr>
        <p:txBody>
          <a:bodyPr wrap="square" lIns="0" tIns="0" rIns="0" bIns="0" rtlCol="0" anchor="t"/>
          <a:lstStyle/>
          <a:p>
            <a:pPr indent="0" marL="0">
              <a:buNone/>
            </a:pPr>
            <a:r>
              <a:rPr lang="en-US" sz="2600" b="1" dirty="0">
                <a:solidFill>
                  <a:schemeClr val="tx1"/>
                </a:solidFill>
              </a:rPr>
              <a:t>−3.33</a:t>
            </a:r>
            <a:endParaRPr lang="en-US" sz="2600" dirty="0"/>
          </a:p>
        </p:txBody>
      </p:sp>
      <p:sp>
        <p:nvSpPr>
          <p:cNvPr id="16" name="Text 13"/>
          <p:cNvSpPr txBox="1"/>
          <p:nvPr/>
        </p:nvSpPr>
        <p:spPr>
          <a:xfrm>
            <a:off x="5669280" y="3675888"/>
            <a:ext cx="2606040" cy="274320"/>
          </a:xfrm>
          <a:prstGeom prst="rect">
            <a:avLst/>
          </a:prstGeom>
          <a:noFill/>
          <a:ln/>
        </p:spPr>
        <p:txBody>
          <a:bodyPr wrap="square" lIns="0" tIns="0" rIns="0" bIns="0" rtlCol="0" anchor="t"/>
          <a:lstStyle/>
          <a:p>
            <a:pPr indent="0" marL="0">
              <a:buNone/>
            </a:pPr>
            <a:r>
              <a:rPr lang="en-US" sz="1300" b="1" dirty="0">
                <a:solidFill>
                  <a:schemeClr val="accent2"/>
                </a:solidFill>
              </a:rPr>
              <a:t>Estabilidad del entorno</a:t>
            </a:r>
            <a:endParaRPr lang="en-US" sz="1300" dirty="0"/>
          </a:p>
        </p:txBody>
      </p:sp>
      <p:sp>
        <p:nvSpPr>
          <p:cNvPr id="17" name="Text 14"/>
          <p:cNvSpPr txBox="1"/>
          <p:nvPr/>
        </p:nvSpPr>
        <p:spPr>
          <a:xfrm>
            <a:off x="5669280" y="3931920"/>
            <a:ext cx="2606040" cy="274320"/>
          </a:xfrm>
          <a:prstGeom prst="rect">
            <a:avLst/>
          </a:prstGeom>
          <a:noFill/>
          <a:ln/>
        </p:spPr>
        <p:txBody>
          <a:bodyPr wrap="square" lIns="0" tIns="0" rIns="0" bIns="0" rtlCol="0" anchor="t"/>
          <a:lstStyle/>
          <a:p>
            <a:pPr indent="0" marL="0">
              <a:buNone/>
            </a:pPr>
            <a:r>
              <a:rPr lang="en-US" sz="1100" dirty="0">
                <a:solidFill>
                  <a:schemeClr val="accent4"/>
                </a:solidFill>
              </a:rPr>
              <a:t>La IA cambia rápido el estudio</a:t>
            </a:r>
            <a:endParaRPr lang="en-US" sz="1100" dirty="0"/>
          </a:p>
        </p:txBody>
      </p:sp>
      <p:sp>
        <p:nvSpPr>
          <p:cNvPr id="18" name="dim-3"/>
          <p:cNvSpPr/>
          <p:nvPr/>
        </p:nvSpPr>
        <p:spPr>
          <a:xfrm>
            <a:off x="8595360" y="3017520"/>
            <a:ext cx="2971800" cy="1280160"/>
          </a:xfrm>
          <a:prstGeom prst="roundRect">
            <a:avLst>
              <a:gd name="adj" fmla="val 5714"/>
            </a:avLst>
          </a:prstGeom>
          <a:solidFill>
            <a:schemeClr val="bg1"/>
          </a:solidFill>
          <a:ln w="12700">
            <a:solidFill>
              <a:schemeClr val="bg1"/>
            </a:solidFill>
            <a:prstDash val="solid"/>
          </a:ln>
        </p:spPr>
      </p:sp>
      <p:sp>
        <p:nvSpPr>
          <p:cNvPr id="19" name="Text 16"/>
          <p:cNvSpPr txBox="1"/>
          <p:nvPr/>
        </p:nvSpPr>
        <p:spPr>
          <a:xfrm>
            <a:off x="8823960" y="3154680"/>
            <a:ext cx="1371600" cy="502920"/>
          </a:xfrm>
          <a:prstGeom prst="rect">
            <a:avLst/>
          </a:prstGeom>
          <a:noFill/>
          <a:ln/>
        </p:spPr>
        <p:txBody>
          <a:bodyPr wrap="square" lIns="0" tIns="0" rIns="0" bIns="0" rtlCol="0" anchor="t"/>
          <a:lstStyle/>
          <a:p>
            <a:pPr indent="0" marL="0">
              <a:buNone/>
            </a:pPr>
            <a:r>
              <a:rPr lang="en-US" sz="2600" b="1" dirty="0">
                <a:solidFill>
                  <a:schemeClr val="tx1"/>
                </a:solidFill>
              </a:rPr>
              <a:t>+3.50</a:t>
            </a:r>
            <a:endParaRPr lang="en-US" sz="2600" dirty="0"/>
          </a:p>
        </p:txBody>
      </p:sp>
      <p:sp>
        <p:nvSpPr>
          <p:cNvPr id="20" name="Text 17"/>
          <p:cNvSpPr txBox="1"/>
          <p:nvPr/>
        </p:nvSpPr>
        <p:spPr>
          <a:xfrm>
            <a:off x="8823960" y="3675888"/>
            <a:ext cx="2606040" cy="274320"/>
          </a:xfrm>
          <a:prstGeom prst="rect">
            <a:avLst/>
          </a:prstGeom>
          <a:noFill/>
          <a:ln/>
        </p:spPr>
        <p:txBody>
          <a:bodyPr wrap="square" lIns="0" tIns="0" rIns="0" bIns="0" rtlCol="0" anchor="t"/>
          <a:lstStyle/>
          <a:p>
            <a:pPr indent="0" marL="0">
              <a:buNone/>
            </a:pPr>
            <a:r>
              <a:rPr lang="en-US" sz="1300" b="1" dirty="0">
                <a:solidFill>
                  <a:schemeClr val="accent2"/>
                </a:solidFill>
              </a:rPr>
              <a:t>Fuerza de la industria</a:t>
            </a:r>
            <a:endParaRPr lang="en-US" sz="1300" dirty="0"/>
          </a:p>
        </p:txBody>
      </p:sp>
      <p:sp>
        <p:nvSpPr>
          <p:cNvPr id="21" name="Text 18"/>
          <p:cNvSpPr txBox="1"/>
          <p:nvPr/>
        </p:nvSpPr>
        <p:spPr>
          <a:xfrm>
            <a:off x="8823960" y="3931920"/>
            <a:ext cx="2606040" cy="274320"/>
          </a:xfrm>
          <a:prstGeom prst="rect">
            <a:avLst/>
          </a:prstGeom>
          <a:noFill/>
          <a:ln/>
        </p:spPr>
        <p:txBody>
          <a:bodyPr wrap="square" lIns="0" tIns="0" rIns="0" bIns="0" rtlCol="0" anchor="t"/>
          <a:lstStyle/>
          <a:p>
            <a:pPr indent="0" marL="0">
              <a:buNone/>
            </a:pPr>
            <a:r>
              <a:rPr lang="en-US" sz="1100" dirty="0">
                <a:solidFill>
                  <a:schemeClr val="accent4"/>
                </a:solidFill>
              </a:rPr>
              <a:t>Conectividad y demanda de refuerzo</a:t>
            </a:r>
            <a:endParaRPr lang="en-US" sz="1100" dirty="0"/>
          </a:p>
        </p:txBody>
      </p:sp>
      <p:sp>
        <p:nvSpPr>
          <p:cNvPr id="22" name="resultado-peyea"/>
          <p:cNvSpPr/>
          <p:nvPr/>
        </p:nvSpPr>
        <p:spPr>
          <a:xfrm>
            <a:off x="5440680" y="4526280"/>
            <a:ext cx="6126480" cy="1600200"/>
          </a:xfrm>
          <a:prstGeom prst="roundRect">
            <a:avLst>
              <a:gd name="adj" fmla="val 4571"/>
            </a:avLst>
          </a:prstGeom>
          <a:solidFill>
            <a:schemeClr val="tx2"/>
          </a:solidFill>
          <a:ln w="12700">
            <a:solidFill>
              <a:schemeClr val="tx2"/>
            </a:solidFill>
            <a:prstDash val="solid"/>
          </a:ln>
        </p:spPr>
      </p:sp>
      <p:sp>
        <p:nvSpPr>
          <p:cNvPr id="23" name="Text 20"/>
          <p:cNvSpPr txBox="1"/>
          <p:nvPr/>
        </p:nvSpPr>
        <p:spPr>
          <a:xfrm>
            <a:off x="5669280" y="4681728"/>
            <a:ext cx="5760720" cy="365760"/>
          </a:xfrm>
          <a:prstGeom prst="rect">
            <a:avLst/>
          </a:prstGeom>
          <a:noFill/>
          <a:ln/>
        </p:spPr>
        <p:txBody>
          <a:bodyPr wrap="square" lIns="0" tIns="0" rIns="0" bIns="0" rtlCol="0" anchor="t"/>
          <a:lstStyle/>
          <a:p>
            <a:pPr indent="0" marL="0">
              <a:buNone/>
            </a:pPr>
            <a:r>
              <a:rPr lang="en-US" sz="1600" b="1" dirty="0">
                <a:solidFill>
                  <a:schemeClr val="accent1"/>
                </a:solidFill>
              </a:rPr>
              <a:t>Vector X = 0.17 · Y = 1.07  →  cuadrante agresivo</a:t>
            </a:r>
            <a:endParaRPr lang="en-US" sz="1600" dirty="0"/>
          </a:p>
        </p:txBody>
      </p:sp>
      <p:sp>
        <p:nvSpPr>
          <p:cNvPr id="24" name="Text 21"/>
          <p:cNvSpPr txBox="1"/>
          <p:nvPr/>
        </p:nvSpPr>
        <p:spPr>
          <a:xfrm>
            <a:off x="5669280" y="5120640"/>
            <a:ext cx="5760720" cy="868680"/>
          </a:xfrm>
          <a:prstGeom prst="rect">
            <a:avLst/>
          </a:prstGeom>
          <a:noFill/>
          <a:ln/>
        </p:spPr>
        <p:txBody>
          <a:bodyPr wrap="square" lIns="0" tIns="0" rIns="0" bIns="0" rtlCol="0" anchor="t"/>
          <a:lstStyle/>
          <a:p>
            <a:pPr indent="0" marL="0">
              <a:buNone/>
            </a:pPr>
            <a:r>
              <a:rPr lang="en-US" sz="1400" dirty="0">
                <a:solidFill>
                  <a:schemeClr val="bg1"/>
                </a:solidFill>
              </a:rPr>
              <a:t>Estrategias: E1, E2, E3, E4, E5 y E10. Crecer con lo que ya hace bien y corregir la puntualidad, que es lo que más la debilita.</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kicker"/>
          <p:cNvSpPr txBox="1"/>
          <p:nvPr/>
        </p:nvSpPr>
        <p:spPr>
          <a:xfrm>
            <a:off x="548640" y="365760"/>
            <a:ext cx="7315200" cy="274320"/>
          </a:xfrm>
          <a:prstGeom prst="rect">
            <a:avLst/>
          </a:prstGeom>
          <a:noFill/>
          <a:ln/>
        </p:spPr>
        <p:txBody>
          <a:bodyPr wrap="square" lIns="0" tIns="0" rIns="0" bIns="0" rtlCol="0" anchor="ctr"/>
          <a:lstStyle/>
          <a:p>
            <a:pPr indent="0" marL="0">
              <a:buNone/>
            </a:pPr>
            <a:r>
              <a:rPr lang="en-US" sz="1100" b="1" spc="200" kern="0" dirty="0">
                <a:solidFill>
                  <a:schemeClr val="accent2"/>
                </a:solidFill>
              </a:rPr>
              <a:t>05 / MATRIZ BCG</a:t>
            </a:r>
            <a:endParaRPr lang="en-US" sz="1100" dirty="0"/>
          </a:p>
        </p:txBody>
      </p:sp>
      <p:sp>
        <p:nvSpPr>
          <p:cNvPr id="3" name="Text 1"/>
          <p:cNvSpPr/>
          <p:nvPr>
            <p:ph idx="101" type="title" hasCustomPrompt="1"/>
          </p:nvPr>
        </p:nvSpPr>
        <p:spPr>
          <a:xfrm>
            <a:off x="548640" y="658368"/>
            <a:ext cx="11064240" cy="685800"/>
          </a:xfrm>
          <a:prstGeom prst="rect">
            <a:avLst/>
          </a:prstGeom>
          <a:noFill/>
          <a:ln/>
        </p:spPr>
        <p:txBody>
          <a:bodyPr wrap="square" lIns="0" tIns="0" rIns="0" bIns="0" rtlCol="0" anchor="t"/>
          <a:lstStyle/>
          <a:p>
            <a:pPr algn="l" indent="0" marL="0">
              <a:buNone/>
            </a:pPr>
            <a:r>
              <a:rPr lang="en-US" sz="3000" b="1" dirty="0">
                <a:solidFill>
                  <a:schemeClr val="tx1"/>
                </a:solidFill>
              </a:rPr>
              <a:t>En la BCG, dos vacas sostienen el 90 % de los ingresos</a:t>
            </a:r>
            <a:endParaRPr lang="en-US" sz="3000" dirty="0"/>
          </a:p>
        </p:txBody>
      </p:sp>
      <p:sp>
        <p:nvSpPr>
          <p:cNvPr id="4" name="marco-bcg"/>
          <p:cNvSpPr/>
          <p:nvPr/>
        </p:nvSpPr>
        <p:spPr>
          <a:xfrm>
            <a:off x="548640" y="1600200"/>
            <a:ext cx="5120640" cy="4526280"/>
          </a:xfrm>
          <a:prstGeom prst="roundRect">
            <a:avLst>
              <a:gd name="adj" fmla="val 1616"/>
            </a:avLst>
          </a:prstGeom>
          <a:solidFill>
            <a:schemeClr val="bg1"/>
          </a:solidFill>
          <a:ln w="12700">
            <a:solidFill>
              <a:schemeClr val="bg1"/>
            </a:solidFill>
            <a:prstDash val="solid"/>
          </a:ln>
        </p:spPr>
      </p:sp>
      <p:pic>
        <p:nvPicPr>
          <p:cNvPr id="5" name="grafico-bcg" descr="/home/user/Planeamiento-estrategico/APF2/figuras/bcg_ppt.png">    </p:cNvPr>
          <p:cNvPicPr>
            <a:picLocks noChangeAspect="1"/>
          </p:cNvPicPr>
          <p:nvPr/>
        </p:nvPicPr>
        <p:blipFill>
          <a:blip r:embed="rId1"/>
          <a:stretch>
            <a:fillRect/>
          </a:stretch>
        </p:blipFill>
        <p:spPr>
          <a:xfrm>
            <a:off x="731520" y="1783080"/>
            <a:ext cx="4754880" cy="4114800"/>
          </a:xfrm>
          <a:prstGeom prst="rect">
            <a:avLst/>
          </a:prstGeom>
        </p:spPr>
      </p:pic>
      <p:sp>
        <p:nvSpPr>
          <p:cNvPr id="6" name="linea-0"/>
          <p:cNvSpPr/>
          <p:nvPr/>
        </p:nvSpPr>
        <p:spPr>
          <a:xfrm>
            <a:off x="6035040" y="1600200"/>
            <a:ext cx="5532120" cy="1371600"/>
          </a:xfrm>
          <a:prstGeom prst="roundRect">
            <a:avLst>
              <a:gd name="adj" fmla="val 5333"/>
            </a:avLst>
          </a:prstGeom>
          <a:solidFill>
            <a:schemeClr val="bg1"/>
          </a:solidFill>
          <a:ln w="12700">
            <a:solidFill>
              <a:schemeClr val="bg1"/>
            </a:solidFill>
            <a:prstDash val="solid"/>
          </a:ln>
        </p:spPr>
      </p:sp>
      <p:sp>
        <p:nvSpPr>
          <p:cNvPr id="7" name="Text 4"/>
          <p:cNvSpPr txBox="1"/>
          <p:nvPr/>
        </p:nvSpPr>
        <p:spPr>
          <a:xfrm>
            <a:off x="6309360" y="1764792"/>
            <a:ext cx="5029200" cy="274320"/>
          </a:xfrm>
          <a:prstGeom prst="rect">
            <a:avLst/>
          </a:prstGeom>
          <a:noFill/>
          <a:ln/>
        </p:spPr>
        <p:txBody>
          <a:bodyPr wrap="square" lIns="0" tIns="0" rIns="0" bIns="0" rtlCol="0" anchor="t"/>
          <a:lstStyle/>
          <a:p>
            <a:pPr indent="0" marL="0">
              <a:buNone/>
            </a:pPr>
            <a:r>
              <a:rPr lang="en-US" sz="1100" b="1" spc="200" kern="0" dirty="0">
                <a:solidFill>
                  <a:schemeClr val="accent2"/>
                </a:solidFill>
              </a:rPr>
              <a:t>VACA</a:t>
            </a:r>
            <a:endParaRPr lang="en-US" sz="1100" dirty="0"/>
          </a:p>
        </p:txBody>
      </p:sp>
      <p:sp>
        <p:nvSpPr>
          <p:cNvPr id="8" name="Text 5"/>
          <p:cNvSpPr txBox="1"/>
          <p:nvPr/>
        </p:nvSpPr>
        <p:spPr>
          <a:xfrm>
            <a:off x="6309360" y="2039112"/>
            <a:ext cx="5029200" cy="365760"/>
          </a:xfrm>
          <a:prstGeom prst="rect">
            <a:avLst/>
          </a:prstGeom>
          <a:noFill/>
          <a:ln/>
        </p:spPr>
        <p:txBody>
          <a:bodyPr wrap="square" lIns="0" tIns="0" rIns="0" bIns="0" rtlCol="0" anchor="t"/>
          <a:lstStyle/>
          <a:p>
            <a:pPr indent="0" marL="0">
              <a:buNone/>
            </a:pPr>
            <a:r>
              <a:rPr lang="en-US" sz="1700" b="1" dirty="0">
                <a:solidFill>
                  <a:schemeClr val="tx1"/>
                </a:solidFill>
              </a:rPr>
              <a:t>Clases individuales · 60 %</a:t>
            </a:r>
            <a:endParaRPr lang="en-US" sz="1700" dirty="0"/>
          </a:p>
        </p:txBody>
      </p:sp>
      <p:sp>
        <p:nvSpPr>
          <p:cNvPr id="9" name="Text 6"/>
          <p:cNvSpPr txBox="1"/>
          <p:nvPr/>
        </p:nvSpPr>
        <p:spPr>
          <a:xfrm>
            <a:off x="6309360" y="2423160"/>
            <a:ext cx="5074920" cy="457200"/>
          </a:xfrm>
          <a:prstGeom prst="rect">
            <a:avLst/>
          </a:prstGeom>
          <a:noFill/>
          <a:ln/>
        </p:spPr>
        <p:txBody>
          <a:bodyPr wrap="square" lIns="0" tIns="0" rIns="0" bIns="0" rtlCol="0" anchor="t"/>
          <a:lstStyle/>
          <a:p>
            <a:pPr indent="0" marL="0">
              <a:buNone/>
            </a:pPr>
            <a:r>
              <a:rPr lang="en-US" sz="1300" dirty="0">
                <a:solidFill>
                  <a:schemeClr val="accent4"/>
                </a:solidFill>
              </a:rPr>
              <a:t>Nadie ofrece asesor académico y jefe del área. Estrategias: E1, E2, E5 y E7.</a:t>
            </a:r>
            <a:endParaRPr lang="en-US" sz="1300" dirty="0"/>
          </a:p>
        </p:txBody>
      </p:sp>
      <p:sp>
        <p:nvSpPr>
          <p:cNvPr id="10" name="linea-1"/>
          <p:cNvSpPr/>
          <p:nvPr/>
        </p:nvSpPr>
        <p:spPr>
          <a:xfrm>
            <a:off x="6035040" y="3154680"/>
            <a:ext cx="5532120" cy="1371600"/>
          </a:xfrm>
          <a:prstGeom prst="roundRect">
            <a:avLst>
              <a:gd name="adj" fmla="val 5333"/>
            </a:avLst>
          </a:prstGeom>
          <a:solidFill>
            <a:schemeClr val="bg1"/>
          </a:solidFill>
          <a:ln w="12700">
            <a:solidFill>
              <a:schemeClr val="bg1"/>
            </a:solidFill>
            <a:prstDash val="solid"/>
          </a:ln>
        </p:spPr>
      </p:sp>
      <p:sp>
        <p:nvSpPr>
          <p:cNvPr id="11" name="Text 8"/>
          <p:cNvSpPr txBox="1"/>
          <p:nvPr/>
        </p:nvSpPr>
        <p:spPr>
          <a:xfrm>
            <a:off x="6309360" y="3319272"/>
            <a:ext cx="5029200" cy="274320"/>
          </a:xfrm>
          <a:prstGeom prst="rect">
            <a:avLst/>
          </a:prstGeom>
          <a:noFill/>
          <a:ln/>
        </p:spPr>
        <p:txBody>
          <a:bodyPr wrap="square" lIns="0" tIns="0" rIns="0" bIns="0" rtlCol="0" anchor="t"/>
          <a:lstStyle/>
          <a:p>
            <a:pPr indent="0" marL="0">
              <a:buNone/>
            </a:pPr>
            <a:r>
              <a:rPr lang="en-US" sz="1100" b="1" spc="200" kern="0" dirty="0">
                <a:solidFill>
                  <a:schemeClr val="accent2"/>
                </a:solidFill>
              </a:rPr>
              <a:t>VACA</a:t>
            </a:r>
            <a:endParaRPr lang="en-US" sz="1100" dirty="0"/>
          </a:p>
        </p:txBody>
      </p:sp>
      <p:sp>
        <p:nvSpPr>
          <p:cNvPr id="12" name="Text 9"/>
          <p:cNvSpPr txBox="1"/>
          <p:nvPr/>
        </p:nvSpPr>
        <p:spPr>
          <a:xfrm>
            <a:off x="6309360" y="3593592"/>
            <a:ext cx="5029200" cy="365760"/>
          </a:xfrm>
          <a:prstGeom prst="rect">
            <a:avLst/>
          </a:prstGeom>
          <a:noFill/>
          <a:ln/>
        </p:spPr>
        <p:txBody>
          <a:bodyPr wrap="square" lIns="0" tIns="0" rIns="0" bIns="0" rtlCol="0" anchor="t"/>
          <a:lstStyle/>
          <a:p>
            <a:pPr indent="0" marL="0">
              <a:buNone/>
            </a:pPr>
            <a:r>
              <a:rPr lang="en-US" sz="1700" b="1" dirty="0">
                <a:solidFill>
                  <a:schemeClr val="tx1"/>
                </a:solidFill>
              </a:rPr>
              <a:t>Programas de verano · 30 %</a:t>
            </a:r>
            <a:endParaRPr lang="en-US" sz="1700" dirty="0"/>
          </a:p>
        </p:txBody>
      </p:sp>
      <p:sp>
        <p:nvSpPr>
          <p:cNvPr id="13" name="Text 10"/>
          <p:cNvSpPr txBox="1"/>
          <p:nvPr/>
        </p:nvSpPr>
        <p:spPr>
          <a:xfrm>
            <a:off x="6309360" y="3977640"/>
            <a:ext cx="5074920" cy="457200"/>
          </a:xfrm>
          <a:prstGeom prst="rect">
            <a:avLst/>
          </a:prstGeom>
          <a:noFill/>
          <a:ln/>
        </p:spPr>
        <p:txBody>
          <a:bodyPr wrap="square" lIns="0" tIns="0" rIns="0" bIns="0" rtlCol="0" anchor="t"/>
          <a:lstStyle/>
          <a:p>
            <a:pPr indent="0" marL="0">
              <a:buNone/>
            </a:pPr>
            <a:r>
              <a:rPr lang="en-US" sz="1300" dirty="0">
                <a:solidFill>
                  <a:schemeClr val="accent4"/>
                </a:solidFill>
              </a:rPr>
              <a:t>Muchos alumnos y metodología dinámica. Estrategia: E10.</a:t>
            </a:r>
            <a:endParaRPr lang="en-US" sz="1300" dirty="0"/>
          </a:p>
        </p:txBody>
      </p:sp>
      <p:sp>
        <p:nvSpPr>
          <p:cNvPr id="14" name="linea-2"/>
          <p:cNvSpPr/>
          <p:nvPr/>
        </p:nvSpPr>
        <p:spPr>
          <a:xfrm>
            <a:off x="6035040" y="4709160"/>
            <a:ext cx="5532120" cy="1371600"/>
          </a:xfrm>
          <a:prstGeom prst="roundRect">
            <a:avLst>
              <a:gd name="adj" fmla="val 5333"/>
            </a:avLst>
          </a:prstGeom>
          <a:solidFill>
            <a:schemeClr val="accent3"/>
          </a:solidFill>
          <a:ln w="12700">
            <a:solidFill>
              <a:schemeClr val="accent3"/>
            </a:solidFill>
            <a:prstDash val="solid"/>
          </a:ln>
        </p:spPr>
      </p:sp>
      <p:sp>
        <p:nvSpPr>
          <p:cNvPr id="15" name="Text 12"/>
          <p:cNvSpPr txBox="1"/>
          <p:nvPr/>
        </p:nvSpPr>
        <p:spPr>
          <a:xfrm>
            <a:off x="6309360" y="4873752"/>
            <a:ext cx="5029200" cy="274320"/>
          </a:xfrm>
          <a:prstGeom prst="rect">
            <a:avLst/>
          </a:prstGeom>
          <a:noFill/>
          <a:ln/>
        </p:spPr>
        <p:txBody>
          <a:bodyPr wrap="square" lIns="0" tIns="0" rIns="0" bIns="0" rtlCol="0" anchor="t"/>
          <a:lstStyle/>
          <a:p>
            <a:pPr indent="0" marL="0">
              <a:buNone/>
            </a:pPr>
            <a:r>
              <a:rPr lang="en-US" sz="1100" b="1" spc="200" kern="0" dirty="0">
                <a:solidFill>
                  <a:schemeClr val="accent2"/>
                </a:solidFill>
              </a:rPr>
              <a:t>INTERROGANTE</a:t>
            </a:r>
            <a:endParaRPr lang="en-US" sz="1100" dirty="0"/>
          </a:p>
        </p:txBody>
      </p:sp>
      <p:sp>
        <p:nvSpPr>
          <p:cNvPr id="16" name="Text 13"/>
          <p:cNvSpPr txBox="1"/>
          <p:nvPr/>
        </p:nvSpPr>
        <p:spPr>
          <a:xfrm>
            <a:off x="6309360" y="5148072"/>
            <a:ext cx="5029200" cy="365760"/>
          </a:xfrm>
          <a:prstGeom prst="rect">
            <a:avLst/>
          </a:prstGeom>
          <a:noFill/>
          <a:ln/>
        </p:spPr>
        <p:txBody>
          <a:bodyPr wrap="square" lIns="0" tIns="0" rIns="0" bIns="0" rtlCol="0" anchor="t"/>
          <a:lstStyle/>
          <a:p>
            <a:pPr indent="0" marL="0">
              <a:buNone/>
            </a:pPr>
            <a:r>
              <a:rPr lang="en-US" sz="1700" b="1" dirty="0">
                <a:solidFill>
                  <a:schemeClr val="tx1"/>
                </a:solidFill>
              </a:rPr>
              <a:t>Talleres y empresas · 10 %</a:t>
            </a:r>
            <a:endParaRPr lang="en-US" sz="1700" dirty="0"/>
          </a:p>
        </p:txBody>
      </p:sp>
      <p:sp>
        <p:nvSpPr>
          <p:cNvPr id="17" name="Text 14"/>
          <p:cNvSpPr txBox="1"/>
          <p:nvPr/>
        </p:nvSpPr>
        <p:spPr>
          <a:xfrm>
            <a:off x="6309360" y="5532120"/>
            <a:ext cx="5074920" cy="457200"/>
          </a:xfrm>
          <a:prstGeom prst="rect">
            <a:avLst/>
          </a:prstGeom>
          <a:noFill/>
          <a:ln/>
        </p:spPr>
        <p:txBody>
          <a:bodyPr wrap="square" lIns="0" tIns="0" rIns="0" bIns="0" rtlCol="0" anchor="t"/>
          <a:lstStyle/>
          <a:p>
            <a:pPr indent="0" marL="0">
              <a:buNone/>
            </a:pPr>
            <a:r>
              <a:rPr lang="en-US" sz="1300" dirty="0">
                <a:solidFill>
                  <a:schemeClr val="accent4"/>
                </a:solidFill>
              </a:rPr>
              <a:t>Hay demanda, pero la línea está en pausa. Estrategia: E6.</a:t>
            </a:r>
            <a:endParaRPr lang="en-US" sz="13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kicker"/>
          <p:cNvSpPr txBox="1"/>
          <p:nvPr/>
        </p:nvSpPr>
        <p:spPr>
          <a:xfrm>
            <a:off x="548640" y="365760"/>
            <a:ext cx="73152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06 / MATRIZ DE DECISIÓN</a:t>
            </a:r>
            <a:endParaRPr lang="en-US" sz="1100" dirty="0"/>
          </a:p>
        </p:txBody>
      </p:sp>
      <p:sp>
        <p:nvSpPr>
          <p:cNvPr id="3" name="Text 1"/>
          <p:cNvSpPr/>
          <p:nvPr>
            <p:ph idx="101" type="title" hasCustomPrompt="1"/>
          </p:nvPr>
        </p:nvSpPr>
        <p:spPr>
          <a:xfrm>
            <a:off x="548640" y="658368"/>
            <a:ext cx="11064240" cy="685800"/>
          </a:xfrm>
          <a:prstGeom prst="rect">
            <a:avLst/>
          </a:prstGeom>
          <a:noFill/>
          <a:ln/>
        </p:spPr>
        <p:txBody>
          <a:bodyPr wrap="square" lIns="0" tIns="0" rIns="0" bIns="0" rtlCol="0" anchor="t"/>
          <a:lstStyle/>
          <a:p>
            <a:pPr algn="l" indent="0" marL="0">
              <a:buNone/>
            </a:pPr>
            <a:r>
              <a:rPr lang="en-US" sz="3000" b="1" dirty="0">
                <a:solidFill>
                  <a:schemeClr val="bg1"/>
                </a:solidFill>
              </a:rPr>
              <a:t>Seis estrategias se repiten tres veces o más</a:t>
            </a:r>
            <a:endParaRPr lang="en-US" sz="3000" dirty="0"/>
          </a:p>
        </p:txBody>
      </p:sp>
      <p:graphicFrame>
        <p:nvGraphicFramePr>
          <p:cNvPr id="8" name="tabla-mde"/>
          <p:cNvGraphicFramePr>
            <a:graphicFrameLocks noGrp="1"/>
          </p:cNvGraphicFramePr>
          <p:nvPr>
            <p:extLst>
              <p:ext uri="{D42A27DB-BD31-4B8C-83A1-F6EECF244321}">
                <p14:modId xmlns:p14="http://schemas.microsoft.com/office/powerpoint/2010/main" val="1579011935"/>
              </p:ext>
            </p:extLst>
          </p:nvPr>
        </p:nvGraphicFramePr>
        <p:xfrm>
          <a:off x="548640" y="1554480"/>
          <a:ext cx="7680960" cy="914400"/>
        </p:xfrm>
        <a:graphic>
          <a:graphicData uri="http://schemas.openxmlformats.org/drawingml/2006/table">
            <a:tbl>
              <a:tblPr/>
              <a:tblGrid>
                <a:gridCol w="685800"/>
                <a:gridCol w="3291840"/>
                <a:gridCol w="731520"/>
                <a:gridCol w="640080"/>
                <a:gridCol w="822960"/>
                <a:gridCol w="685800"/>
                <a:gridCol w="822960"/>
              </a:tblGrid>
              <a:tr h="384048">
                <a:tc>
                  <a:txBody>
                    <a:bodyPr/>
                    <a:lstStyle/>
                    <a:p>
                      <a:pPr algn="ctr" indent="0" marL="0">
                        <a:buNone/>
                      </a:pPr>
                      <a:r>
                        <a:rPr lang="en-US" sz="1300" b="1" dirty="0">
                          <a:solidFill>
                            <a:srgbClr val="071D36"/>
                          </a:solidFill>
                        </a:rPr>
                        <a:t>Cód.</a:t>
                      </a:r>
                      <a:endParaRPr lang="en-US" sz="1300" dirty="0"/>
                    </a:p>
                  </a:txBody>
                  <a:tcPr marL="91440" marR="91440" marT="45720" marB="45720" anchor="ctr">
                    <a:lnL w="6350" cap="flat" cmpd="sng" algn="ctr">
                      <a:solidFill>
                        <a:srgbClr val="071D36"/>
                      </a:solidFill>
                      <a:prstDash val="solid"/>
                      <a:round/>
                      <a:headEnd type="none" w="med" len="med"/>
                      <a:tailEnd type="none" w="med" len="med"/>
                    </a:lnL>
                    <a:lnR w="6350" cap="flat" cmpd="sng" algn="ctr">
                      <a:solidFill>
                        <a:srgbClr val="071D36"/>
                      </a:solidFill>
                      <a:prstDash val="solid"/>
                      <a:round/>
                      <a:headEnd type="none" w="med" len="med"/>
                      <a:tailEnd type="none" w="med" len="med"/>
                    </a:lnR>
                    <a:lnT w="6350" cap="flat" cmpd="sng" algn="ctr">
                      <a:solidFill>
                        <a:srgbClr val="071D36"/>
                      </a:solidFill>
                      <a:prstDash val="solid"/>
                      <a:round/>
                      <a:headEnd type="none" w="med" len="med"/>
                      <a:tailEnd type="none" w="med" len="med"/>
                    </a:lnT>
                    <a:lnB w="6350" cap="flat" cmpd="sng" algn="ctr">
                      <a:solidFill>
                        <a:srgbClr val="071D36"/>
                      </a:solidFill>
                      <a:prstDash val="solid"/>
                      <a:round/>
                      <a:headEnd type="none" w="med" len="med"/>
                      <a:tailEnd type="none" w="med" len="med"/>
                    </a:lnB>
                    <a:solidFill>
                      <a:srgbClr val="65C7E8"/>
                    </a:solidFill>
                  </a:tcPr>
                </a:tc>
                <a:tc>
                  <a:txBody>
                    <a:bodyPr/>
                    <a:lstStyle/>
                    <a:p>
                      <a:pPr algn="ctr" indent="0" marL="0">
                        <a:buNone/>
                      </a:pPr>
                      <a:r>
                        <a:rPr lang="en-US" sz="1300" b="1" dirty="0">
                          <a:solidFill>
                            <a:srgbClr val="071D36"/>
                          </a:solidFill>
                        </a:rPr>
                        <a:t>Estrategia</a:t>
                      </a:r>
                      <a:endParaRPr lang="en-US" sz="1300" dirty="0"/>
                    </a:p>
                  </a:txBody>
                  <a:tcPr marL="91440" marR="91440" marT="45720" marB="45720" anchor="ctr">
                    <a:lnL w="6350" cap="flat" cmpd="sng" algn="ctr">
                      <a:solidFill>
                        <a:srgbClr val="071D36"/>
                      </a:solidFill>
                      <a:prstDash val="solid"/>
                      <a:round/>
                      <a:headEnd type="none" w="med" len="med"/>
                      <a:tailEnd type="none" w="med" len="med"/>
                    </a:lnL>
                    <a:lnR w="6350" cap="flat" cmpd="sng" algn="ctr">
                      <a:solidFill>
                        <a:srgbClr val="071D36"/>
                      </a:solidFill>
                      <a:prstDash val="solid"/>
                      <a:round/>
                      <a:headEnd type="none" w="med" len="med"/>
                      <a:tailEnd type="none" w="med" len="med"/>
                    </a:lnR>
                    <a:lnT w="6350" cap="flat" cmpd="sng" algn="ctr">
                      <a:solidFill>
                        <a:srgbClr val="071D36"/>
                      </a:solidFill>
                      <a:prstDash val="solid"/>
                      <a:round/>
                      <a:headEnd type="none" w="med" len="med"/>
                      <a:tailEnd type="none" w="med" len="med"/>
                    </a:lnT>
                    <a:lnB w="6350" cap="flat" cmpd="sng" algn="ctr">
                      <a:solidFill>
                        <a:srgbClr val="071D36"/>
                      </a:solidFill>
                      <a:prstDash val="solid"/>
                      <a:round/>
                      <a:headEnd type="none" w="med" len="med"/>
                      <a:tailEnd type="none" w="med" len="med"/>
                    </a:lnB>
                    <a:solidFill>
                      <a:srgbClr val="65C7E8"/>
                    </a:solidFill>
                  </a:tcPr>
                </a:tc>
                <a:tc>
                  <a:txBody>
                    <a:bodyPr/>
                    <a:lstStyle/>
                    <a:p>
                      <a:pPr algn="ctr" indent="0" marL="0">
                        <a:buNone/>
                      </a:pPr>
                      <a:r>
                        <a:rPr lang="en-US" sz="1300" b="1" dirty="0">
                          <a:solidFill>
                            <a:srgbClr val="071D36"/>
                          </a:solidFill>
                        </a:rPr>
                        <a:t>FODA</a:t>
                      </a:r>
                      <a:endParaRPr lang="en-US" sz="1300" dirty="0"/>
                    </a:p>
                  </a:txBody>
                  <a:tcPr marL="91440" marR="91440" marT="45720" marB="45720" anchor="ctr">
                    <a:lnL w="6350" cap="flat" cmpd="sng" algn="ctr">
                      <a:solidFill>
                        <a:srgbClr val="071D36"/>
                      </a:solidFill>
                      <a:prstDash val="solid"/>
                      <a:round/>
                      <a:headEnd type="none" w="med" len="med"/>
                      <a:tailEnd type="none" w="med" len="med"/>
                    </a:lnL>
                    <a:lnR w="6350" cap="flat" cmpd="sng" algn="ctr">
                      <a:solidFill>
                        <a:srgbClr val="071D36"/>
                      </a:solidFill>
                      <a:prstDash val="solid"/>
                      <a:round/>
                      <a:headEnd type="none" w="med" len="med"/>
                      <a:tailEnd type="none" w="med" len="med"/>
                    </a:lnR>
                    <a:lnT w="6350" cap="flat" cmpd="sng" algn="ctr">
                      <a:solidFill>
                        <a:srgbClr val="071D36"/>
                      </a:solidFill>
                      <a:prstDash val="solid"/>
                      <a:round/>
                      <a:headEnd type="none" w="med" len="med"/>
                      <a:tailEnd type="none" w="med" len="med"/>
                    </a:lnT>
                    <a:lnB w="6350" cap="flat" cmpd="sng" algn="ctr">
                      <a:solidFill>
                        <a:srgbClr val="071D36"/>
                      </a:solidFill>
                      <a:prstDash val="solid"/>
                      <a:round/>
                      <a:headEnd type="none" w="med" len="med"/>
                      <a:tailEnd type="none" w="med" len="med"/>
                    </a:lnB>
                    <a:solidFill>
                      <a:srgbClr val="65C7E8"/>
                    </a:solidFill>
                  </a:tcPr>
                </a:tc>
                <a:tc>
                  <a:txBody>
                    <a:bodyPr/>
                    <a:lstStyle/>
                    <a:p>
                      <a:pPr algn="ctr" indent="0" marL="0">
                        <a:buNone/>
                      </a:pPr>
                      <a:r>
                        <a:rPr lang="en-US" sz="1300" b="1" dirty="0">
                          <a:solidFill>
                            <a:srgbClr val="071D36"/>
                          </a:solidFill>
                        </a:rPr>
                        <a:t>MIE</a:t>
                      </a:r>
                      <a:endParaRPr lang="en-US" sz="1300" dirty="0"/>
                    </a:p>
                  </a:txBody>
                  <a:tcPr marL="91440" marR="91440" marT="45720" marB="45720" anchor="ctr">
                    <a:lnL w="6350" cap="flat" cmpd="sng" algn="ctr">
                      <a:solidFill>
                        <a:srgbClr val="071D36"/>
                      </a:solidFill>
                      <a:prstDash val="solid"/>
                      <a:round/>
                      <a:headEnd type="none" w="med" len="med"/>
                      <a:tailEnd type="none" w="med" len="med"/>
                    </a:lnL>
                    <a:lnR w="6350" cap="flat" cmpd="sng" algn="ctr">
                      <a:solidFill>
                        <a:srgbClr val="071D36"/>
                      </a:solidFill>
                      <a:prstDash val="solid"/>
                      <a:round/>
                      <a:headEnd type="none" w="med" len="med"/>
                      <a:tailEnd type="none" w="med" len="med"/>
                    </a:lnR>
                    <a:lnT w="6350" cap="flat" cmpd="sng" algn="ctr">
                      <a:solidFill>
                        <a:srgbClr val="071D36"/>
                      </a:solidFill>
                      <a:prstDash val="solid"/>
                      <a:round/>
                      <a:headEnd type="none" w="med" len="med"/>
                      <a:tailEnd type="none" w="med" len="med"/>
                    </a:lnT>
                    <a:lnB w="6350" cap="flat" cmpd="sng" algn="ctr">
                      <a:solidFill>
                        <a:srgbClr val="071D36"/>
                      </a:solidFill>
                      <a:prstDash val="solid"/>
                      <a:round/>
                      <a:headEnd type="none" w="med" len="med"/>
                      <a:tailEnd type="none" w="med" len="med"/>
                    </a:lnB>
                    <a:solidFill>
                      <a:srgbClr val="65C7E8"/>
                    </a:solidFill>
                  </a:tcPr>
                </a:tc>
                <a:tc>
                  <a:txBody>
                    <a:bodyPr/>
                    <a:lstStyle/>
                    <a:p>
                      <a:pPr algn="ctr" indent="0" marL="0">
                        <a:buNone/>
                      </a:pPr>
                      <a:r>
                        <a:rPr lang="en-US" sz="1300" b="1" dirty="0">
                          <a:solidFill>
                            <a:srgbClr val="071D36"/>
                          </a:solidFill>
                        </a:rPr>
                        <a:t>PEYEA</a:t>
                      </a:r>
                      <a:endParaRPr lang="en-US" sz="1300" dirty="0"/>
                    </a:p>
                  </a:txBody>
                  <a:tcPr marL="91440" marR="91440" marT="45720" marB="45720" anchor="ctr">
                    <a:lnL w="6350" cap="flat" cmpd="sng" algn="ctr">
                      <a:solidFill>
                        <a:srgbClr val="071D36"/>
                      </a:solidFill>
                      <a:prstDash val="solid"/>
                      <a:round/>
                      <a:headEnd type="none" w="med" len="med"/>
                      <a:tailEnd type="none" w="med" len="med"/>
                    </a:lnL>
                    <a:lnR w="6350" cap="flat" cmpd="sng" algn="ctr">
                      <a:solidFill>
                        <a:srgbClr val="071D36"/>
                      </a:solidFill>
                      <a:prstDash val="solid"/>
                      <a:round/>
                      <a:headEnd type="none" w="med" len="med"/>
                      <a:tailEnd type="none" w="med" len="med"/>
                    </a:lnR>
                    <a:lnT w="6350" cap="flat" cmpd="sng" algn="ctr">
                      <a:solidFill>
                        <a:srgbClr val="071D36"/>
                      </a:solidFill>
                      <a:prstDash val="solid"/>
                      <a:round/>
                      <a:headEnd type="none" w="med" len="med"/>
                      <a:tailEnd type="none" w="med" len="med"/>
                    </a:lnT>
                    <a:lnB w="6350" cap="flat" cmpd="sng" algn="ctr">
                      <a:solidFill>
                        <a:srgbClr val="071D36"/>
                      </a:solidFill>
                      <a:prstDash val="solid"/>
                      <a:round/>
                      <a:headEnd type="none" w="med" len="med"/>
                      <a:tailEnd type="none" w="med" len="med"/>
                    </a:lnB>
                    <a:solidFill>
                      <a:srgbClr val="65C7E8"/>
                    </a:solidFill>
                  </a:tcPr>
                </a:tc>
                <a:tc>
                  <a:txBody>
                    <a:bodyPr/>
                    <a:lstStyle/>
                    <a:p>
                      <a:pPr algn="ctr" indent="0" marL="0">
                        <a:buNone/>
                      </a:pPr>
                      <a:r>
                        <a:rPr lang="en-US" sz="1300" b="1" dirty="0">
                          <a:solidFill>
                            <a:srgbClr val="071D36"/>
                          </a:solidFill>
                        </a:rPr>
                        <a:t>BCG</a:t>
                      </a:r>
                      <a:endParaRPr lang="en-US" sz="1300" dirty="0"/>
                    </a:p>
                  </a:txBody>
                  <a:tcPr marL="91440" marR="91440" marT="45720" marB="45720" anchor="ctr">
                    <a:lnL w="6350" cap="flat" cmpd="sng" algn="ctr">
                      <a:solidFill>
                        <a:srgbClr val="071D36"/>
                      </a:solidFill>
                      <a:prstDash val="solid"/>
                      <a:round/>
                      <a:headEnd type="none" w="med" len="med"/>
                      <a:tailEnd type="none" w="med" len="med"/>
                    </a:lnL>
                    <a:lnR w="6350" cap="flat" cmpd="sng" algn="ctr">
                      <a:solidFill>
                        <a:srgbClr val="071D36"/>
                      </a:solidFill>
                      <a:prstDash val="solid"/>
                      <a:round/>
                      <a:headEnd type="none" w="med" len="med"/>
                      <a:tailEnd type="none" w="med" len="med"/>
                    </a:lnR>
                    <a:lnT w="6350" cap="flat" cmpd="sng" algn="ctr">
                      <a:solidFill>
                        <a:srgbClr val="071D36"/>
                      </a:solidFill>
                      <a:prstDash val="solid"/>
                      <a:round/>
                      <a:headEnd type="none" w="med" len="med"/>
                      <a:tailEnd type="none" w="med" len="med"/>
                    </a:lnT>
                    <a:lnB w="6350" cap="flat" cmpd="sng" algn="ctr">
                      <a:solidFill>
                        <a:srgbClr val="071D36"/>
                      </a:solidFill>
                      <a:prstDash val="solid"/>
                      <a:round/>
                      <a:headEnd type="none" w="med" len="med"/>
                      <a:tailEnd type="none" w="med" len="med"/>
                    </a:lnB>
                    <a:solidFill>
                      <a:srgbClr val="65C7E8"/>
                    </a:solidFill>
                  </a:tcPr>
                </a:tc>
                <a:tc>
                  <a:txBody>
                    <a:bodyPr/>
                    <a:lstStyle/>
                    <a:p>
                      <a:pPr algn="ctr" indent="0" marL="0">
                        <a:buNone/>
                      </a:pPr>
                      <a:r>
                        <a:rPr lang="en-US" sz="1300" b="1" dirty="0">
                          <a:solidFill>
                            <a:srgbClr val="071D36"/>
                          </a:solidFill>
                        </a:rPr>
                        <a:t>Total</a:t>
                      </a:r>
                      <a:endParaRPr lang="en-US" sz="1300" dirty="0"/>
                    </a:p>
                  </a:txBody>
                  <a:tcPr marL="91440" marR="91440" marT="45720" marB="45720" anchor="ctr">
                    <a:lnL w="6350" cap="flat" cmpd="sng" algn="ctr">
                      <a:solidFill>
                        <a:srgbClr val="071D36"/>
                      </a:solidFill>
                      <a:prstDash val="solid"/>
                      <a:round/>
                      <a:headEnd type="none" w="med" len="med"/>
                      <a:tailEnd type="none" w="med" len="med"/>
                    </a:lnL>
                    <a:lnR w="6350" cap="flat" cmpd="sng" algn="ctr">
                      <a:solidFill>
                        <a:srgbClr val="071D36"/>
                      </a:solidFill>
                      <a:prstDash val="solid"/>
                      <a:round/>
                      <a:headEnd type="none" w="med" len="med"/>
                      <a:tailEnd type="none" w="med" len="med"/>
                    </a:lnR>
                    <a:lnT w="6350" cap="flat" cmpd="sng" algn="ctr">
                      <a:solidFill>
                        <a:srgbClr val="071D36"/>
                      </a:solidFill>
                      <a:prstDash val="solid"/>
                      <a:round/>
                      <a:headEnd type="none" w="med" len="med"/>
                      <a:tailEnd type="none" w="med" len="med"/>
                    </a:lnT>
                    <a:lnB w="6350" cap="flat" cmpd="sng" algn="ctr">
                      <a:solidFill>
                        <a:srgbClr val="071D36"/>
                      </a:solidFill>
                      <a:prstDash val="solid"/>
                      <a:round/>
                      <a:headEnd type="none" w="med" len="med"/>
                      <a:tailEnd type="none" w="med" len="med"/>
                    </a:lnB>
                    <a:solidFill>
                      <a:srgbClr val="65C7E8"/>
                    </a:solidFill>
                  </a:tcPr>
                </a:tc>
              </a:tr>
              <a:tr h="384048">
                <a:tc>
                  <a:txBody>
                    <a:bodyPr/>
                    <a:lstStyle/>
                    <a:p>
                      <a:pPr algn="ctr" indent="0" marL="0">
                        <a:buNone/>
                      </a:pPr>
                      <a:r>
                        <a:rPr lang="en-US" sz="1300" b="1" dirty="0">
                          <a:solidFill>
                            <a:srgbClr val="FFFFFF"/>
                          </a:solidFill>
                        </a:rPr>
                        <a:t>E1</a:t>
                      </a:r>
                      <a:endParaRPr lang="en-US" sz="1300" dirty="0"/>
                    </a:p>
                  </a:txBody>
                  <a:tcPr marL="91440" marR="91440" marT="45720" marB="45720" anchor="ctr">
                    <a:lnL w="6350" cap="flat" cmpd="sng" algn="ctr">
                      <a:solidFill>
                        <a:srgbClr val="071D36"/>
                      </a:solidFill>
                      <a:prstDash val="solid"/>
                      <a:round/>
                      <a:headEnd type="none" w="med" len="med"/>
                      <a:tailEnd type="none" w="med" len="med"/>
                    </a:lnL>
                    <a:lnR w="6350" cap="flat" cmpd="sng" algn="ctr">
                      <a:solidFill>
                        <a:srgbClr val="071D36"/>
                      </a:solidFill>
                      <a:prstDash val="solid"/>
                      <a:round/>
                      <a:headEnd type="none" w="med" len="med"/>
                      <a:tailEnd type="none" w="med" len="med"/>
                    </a:lnR>
                    <a:lnT w="6350" cap="flat" cmpd="sng" algn="ctr">
                      <a:solidFill>
                        <a:srgbClr val="071D36"/>
                      </a:solidFill>
                      <a:prstDash val="solid"/>
                      <a:round/>
                      <a:headEnd type="none" w="med" len="med"/>
                      <a:tailEnd type="none" w="med" len="med"/>
                    </a:lnT>
                    <a:lnB w="6350" cap="flat" cmpd="sng" algn="ctr">
                      <a:solidFill>
                        <a:srgbClr val="071D36"/>
                      </a:solidFill>
                      <a:prstDash val="solid"/>
                      <a:round/>
                      <a:headEnd type="none" w="med" len="med"/>
                      <a:tailEnd type="none" w="med" len="med"/>
                    </a:lnB>
                    <a:solidFill>
                      <a:srgbClr val="0F3256"/>
                    </a:solidFill>
                  </a:tcPr>
                </a:tc>
                <a:tc>
                  <a:txBody>
                    <a:bodyPr/>
                    <a:lstStyle/>
                    <a:p>
                      <a:pPr indent="0" marL="0">
                        <a:buNone/>
                      </a:pPr>
                      <a:r>
                        <a:rPr lang="en-US" sz="1300" dirty="0">
                          <a:solidFill>
                            <a:srgbClr val="FFFFFF"/>
                          </a:solidFill>
                        </a:rPr>
                        <a:t>Nivelación por grado escolar</a:t>
                      </a:r>
                      <a:endParaRPr lang="en-US" sz="1300" dirty="0"/>
                    </a:p>
                  </a:txBody>
                  <a:tcPr marL="91440" marR="91440" marT="45720" marB="45720" anchor="ctr">
                    <a:lnL w="6350" cap="flat" cmpd="sng" algn="ctr">
                      <a:solidFill>
                        <a:srgbClr val="071D36"/>
                      </a:solidFill>
                      <a:prstDash val="solid"/>
                      <a:round/>
                      <a:headEnd type="none" w="med" len="med"/>
                      <a:tailEnd type="none" w="med" len="med"/>
                    </a:lnL>
                    <a:lnR w="6350" cap="flat" cmpd="sng" algn="ctr">
                      <a:solidFill>
                        <a:srgbClr val="071D36"/>
                      </a:solidFill>
                      <a:prstDash val="solid"/>
                      <a:round/>
                      <a:headEnd type="none" w="med" len="med"/>
                      <a:tailEnd type="none" w="med" len="med"/>
                    </a:lnR>
                    <a:lnT w="6350" cap="flat" cmpd="sng" algn="ctr">
                      <a:solidFill>
                        <a:srgbClr val="071D36"/>
                      </a:solidFill>
                      <a:prstDash val="solid"/>
                      <a:round/>
                      <a:headEnd type="none" w="med" len="med"/>
                      <a:tailEnd type="none" w="med" len="med"/>
                    </a:lnT>
                    <a:lnB w="6350" cap="flat" cmpd="sng" algn="ctr">
                      <a:solidFill>
                        <a:srgbClr val="071D36"/>
                      </a:solidFill>
                      <a:prstDash val="solid"/>
                      <a:round/>
                      <a:headEnd type="none" w="med" len="med"/>
                      <a:tailEnd type="none" w="med" len="med"/>
                    </a:lnB>
                    <a:solidFill>
                      <a:srgbClr val="0F3256"/>
                    </a:solidFill>
                  </a:tcPr>
                </a:tc>
                <a:tc>
                  <a:txBody>
                    <a:bodyPr/>
                    <a:lstStyle/>
                    <a:p>
                      <a:pPr algn="ctr" indent="0" marL="0">
                        <a:buNone/>
                      </a:pPr>
                      <a:r>
                        <a:rPr lang="en-US" sz="1300" dirty="0">
                          <a:solidFill>
                            <a:srgbClr val="65C7E8"/>
                          </a:solidFill>
                        </a:rPr>
                        <a:t>●</a:t>
                      </a:r>
                      <a:endParaRPr lang="en-US" sz="1300" dirty="0"/>
                    </a:p>
                  </a:txBody>
                  <a:tcPr marL="91440" marR="91440" marT="45720" marB="45720" anchor="ctr">
                    <a:lnL w="6350" cap="flat" cmpd="sng" algn="ctr">
                      <a:solidFill>
                        <a:srgbClr val="071D36"/>
                      </a:solidFill>
                      <a:prstDash val="solid"/>
                      <a:round/>
                      <a:headEnd type="none" w="med" len="med"/>
                      <a:tailEnd type="none" w="med" len="med"/>
                    </a:lnL>
                    <a:lnR w="6350" cap="flat" cmpd="sng" algn="ctr">
                      <a:solidFill>
                        <a:srgbClr val="071D36"/>
                      </a:solidFill>
                      <a:prstDash val="solid"/>
                      <a:round/>
                      <a:headEnd type="none" w="med" len="med"/>
                      <a:tailEnd type="none" w="med" len="med"/>
                    </a:lnR>
                    <a:lnT w="6350" cap="flat" cmpd="sng" algn="ctr">
                      <a:solidFill>
                        <a:srgbClr val="071D36"/>
                      </a:solidFill>
                      <a:prstDash val="solid"/>
                      <a:round/>
                      <a:headEnd type="none" w="med" len="med"/>
                      <a:tailEnd type="none" w="med" len="med"/>
                    </a:lnT>
                    <a:lnB w="6350" cap="flat" cmpd="sng" algn="ctr">
                      <a:solidFill>
                        <a:srgbClr val="071D36"/>
                      </a:solidFill>
                      <a:prstDash val="solid"/>
                      <a:round/>
                      <a:headEnd type="none" w="med" len="med"/>
                      <a:tailEnd type="none" w="med" len="med"/>
                    </a:lnB>
                    <a:solidFill>
                      <a:srgbClr val="0F3256"/>
                    </a:solidFill>
                  </a:tcPr>
                </a:tc>
                <a:tc>
                  <a:txBody>
                    <a:bodyPr/>
                    <a:lstStyle/>
                    <a:p>
                      <a:pPr algn="ctr" indent="0" marL="0">
                        <a:buNone/>
                      </a:pPr>
                      <a:r>
                        <a:rPr lang="en-US" sz="1300" dirty="0">
                          <a:solidFill>
                            <a:srgbClr val="65C7E8"/>
                          </a:solidFill>
                        </a:rPr>
                        <a:t>●</a:t>
                      </a:r>
                      <a:endParaRPr lang="en-US" sz="1300" dirty="0"/>
                    </a:p>
                  </a:txBody>
                  <a:tcPr marL="91440" marR="91440" marT="45720" marB="45720" anchor="ctr">
                    <a:lnL w="6350" cap="flat" cmpd="sng" algn="ctr">
                      <a:solidFill>
                        <a:srgbClr val="071D36"/>
                      </a:solidFill>
                      <a:prstDash val="solid"/>
                      <a:round/>
                      <a:headEnd type="none" w="med" len="med"/>
                      <a:tailEnd type="none" w="med" len="med"/>
                    </a:lnL>
                    <a:lnR w="6350" cap="flat" cmpd="sng" algn="ctr">
                      <a:solidFill>
                        <a:srgbClr val="071D36"/>
                      </a:solidFill>
                      <a:prstDash val="solid"/>
                      <a:round/>
                      <a:headEnd type="none" w="med" len="med"/>
                      <a:tailEnd type="none" w="med" len="med"/>
                    </a:lnR>
                    <a:lnT w="6350" cap="flat" cmpd="sng" algn="ctr">
                      <a:solidFill>
                        <a:srgbClr val="071D36"/>
                      </a:solidFill>
                      <a:prstDash val="solid"/>
                      <a:round/>
                      <a:headEnd type="none" w="med" len="med"/>
                      <a:tailEnd type="none" w="med" len="med"/>
                    </a:lnT>
                    <a:lnB w="6350" cap="flat" cmpd="sng" algn="ctr">
                      <a:solidFill>
                        <a:srgbClr val="071D36"/>
                      </a:solidFill>
                      <a:prstDash val="solid"/>
                      <a:round/>
                      <a:headEnd type="none" w="med" len="med"/>
                      <a:tailEnd type="none" w="med" len="med"/>
                    </a:lnB>
                    <a:solidFill>
                      <a:srgbClr val="0F3256"/>
                    </a:solidFill>
                  </a:tcPr>
                </a:tc>
                <a:tc>
                  <a:txBody>
                    <a:bodyPr/>
                    <a:lstStyle/>
                    <a:p>
                      <a:pPr algn="ctr" indent="0" marL="0">
                        <a:buNone/>
                      </a:pPr>
                      <a:r>
                        <a:rPr lang="en-US" sz="1300" dirty="0">
                          <a:solidFill>
                            <a:srgbClr val="65C7E8"/>
                          </a:solidFill>
                        </a:rPr>
                        <a:t>●</a:t>
                      </a:r>
                      <a:endParaRPr lang="en-US" sz="1300" dirty="0"/>
                    </a:p>
                  </a:txBody>
                  <a:tcPr marL="91440" marR="91440" marT="45720" marB="45720" anchor="ctr">
                    <a:lnL w="6350" cap="flat" cmpd="sng" algn="ctr">
                      <a:solidFill>
                        <a:srgbClr val="071D36"/>
                      </a:solidFill>
                      <a:prstDash val="solid"/>
                      <a:round/>
                      <a:headEnd type="none" w="med" len="med"/>
                      <a:tailEnd type="none" w="med" len="med"/>
                    </a:lnL>
                    <a:lnR w="6350" cap="flat" cmpd="sng" algn="ctr">
                      <a:solidFill>
                        <a:srgbClr val="071D36"/>
                      </a:solidFill>
                      <a:prstDash val="solid"/>
                      <a:round/>
                      <a:headEnd type="none" w="med" len="med"/>
                      <a:tailEnd type="none" w="med" len="med"/>
                    </a:lnR>
                    <a:lnT w="6350" cap="flat" cmpd="sng" algn="ctr">
                      <a:solidFill>
                        <a:srgbClr val="071D36"/>
                      </a:solidFill>
                      <a:prstDash val="solid"/>
                      <a:round/>
                      <a:headEnd type="none" w="med" len="med"/>
                      <a:tailEnd type="none" w="med" len="med"/>
                    </a:lnT>
                    <a:lnB w="6350" cap="flat" cmpd="sng" algn="ctr">
                      <a:solidFill>
                        <a:srgbClr val="071D36"/>
                      </a:solidFill>
                      <a:prstDash val="solid"/>
                      <a:round/>
                      <a:headEnd type="none" w="med" len="med"/>
                      <a:tailEnd type="none" w="med" len="med"/>
                    </a:lnB>
                    <a:solidFill>
                      <a:srgbClr val="0F3256"/>
                    </a:solidFill>
                  </a:tcPr>
                </a:tc>
                <a:tc>
                  <a:txBody>
                    <a:bodyPr/>
                    <a:lstStyle/>
                    <a:p>
                      <a:pPr algn="ctr" indent="0" marL="0">
                        <a:buNone/>
                      </a:pPr>
                      <a:r>
                        <a:rPr lang="en-US" sz="1300" dirty="0">
                          <a:solidFill>
                            <a:srgbClr val="65C7E8"/>
                          </a:solidFill>
                        </a:rPr>
                        <a:t>●</a:t>
                      </a:r>
                      <a:endParaRPr lang="en-US" sz="1300" dirty="0"/>
                    </a:p>
                  </a:txBody>
                  <a:tcPr marL="91440" marR="91440" marT="45720" marB="45720" anchor="ctr">
                    <a:lnL w="6350" cap="flat" cmpd="sng" algn="ctr">
                      <a:solidFill>
                        <a:srgbClr val="071D36"/>
                      </a:solidFill>
                      <a:prstDash val="solid"/>
                      <a:round/>
                      <a:headEnd type="none" w="med" len="med"/>
                      <a:tailEnd type="none" w="med" len="med"/>
                    </a:lnL>
                    <a:lnR w="6350" cap="flat" cmpd="sng" algn="ctr">
                      <a:solidFill>
                        <a:srgbClr val="071D36"/>
                      </a:solidFill>
                      <a:prstDash val="solid"/>
                      <a:round/>
                      <a:headEnd type="none" w="med" len="med"/>
                      <a:tailEnd type="none" w="med" len="med"/>
                    </a:lnR>
                    <a:lnT w="6350" cap="flat" cmpd="sng" algn="ctr">
                      <a:solidFill>
                        <a:srgbClr val="071D36"/>
                      </a:solidFill>
                      <a:prstDash val="solid"/>
                      <a:round/>
                      <a:headEnd type="none" w="med" len="med"/>
                      <a:tailEnd type="none" w="med" len="med"/>
                    </a:lnT>
                    <a:lnB w="6350" cap="flat" cmpd="sng" algn="ctr">
                      <a:solidFill>
                        <a:srgbClr val="071D36"/>
                      </a:solidFill>
                      <a:prstDash val="solid"/>
                      <a:round/>
                      <a:headEnd type="none" w="med" len="med"/>
                      <a:tailEnd type="none" w="med" len="med"/>
                    </a:lnB>
                    <a:solidFill>
                      <a:srgbClr val="0F3256"/>
                    </a:solidFill>
                  </a:tcPr>
                </a:tc>
                <a:tc>
                  <a:txBody>
                    <a:bodyPr/>
                    <a:lstStyle/>
                    <a:p>
                      <a:pPr algn="ctr" indent="0" marL="0">
                        <a:buNone/>
                      </a:pPr>
                      <a:r>
                        <a:rPr lang="en-US" sz="1300" b="1" dirty="0">
                          <a:solidFill>
                            <a:srgbClr val="FFFFFF"/>
                          </a:solidFill>
                        </a:rPr>
                        <a:t>4</a:t>
                      </a:r>
                      <a:endParaRPr lang="en-US" sz="1300" dirty="0"/>
                    </a:p>
                  </a:txBody>
                  <a:tcPr marL="91440" marR="91440" marT="45720" marB="45720" anchor="ctr">
                    <a:lnL w="6350" cap="flat" cmpd="sng" algn="ctr">
                      <a:solidFill>
                        <a:srgbClr val="071D36"/>
                      </a:solidFill>
                      <a:prstDash val="solid"/>
                      <a:round/>
                      <a:headEnd type="none" w="med" len="med"/>
                      <a:tailEnd type="none" w="med" len="med"/>
                    </a:lnL>
                    <a:lnR w="6350" cap="flat" cmpd="sng" algn="ctr">
                      <a:solidFill>
                        <a:srgbClr val="071D36"/>
                      </a:solidFill>
                      <a:prstDash val="solid"/>
                      <a:round/>
                      <a:headEnd type="none" w="med" len="med"/>
                      <a:tailEnd type="none" w="med" len="med"/>
                    </a:lnR>
                    <a:lnT w="6350" cap="flat" cmpd="sng" algn="ctr">
                      <a:solidFill>
                        <a:srgbClr val="071D36"/>
                      </a:solidFill>
                      <a:prstDash val="solid"/>
                      <a:round/>
                      <a:headEnd type="none" w="med" len="med"/>
                      <a:tailEnd type="none" w="med" len="med"/>
                    </a:lnT>
                    <a:lnB w="6350" cap="flat" cmpd="sng" algn="ctr">
                      <a:solidFill>
                        <a:srgbClr val="071D36"/>
                      </a:solidFill>
                      <a:prstDash val="solid"/>
                      <a:round/>
                      <a:headEnd type="none" w="med" len="med"/>
                      <a:tailEnd type="none" w="med" len="med"/>
                    </a:lnB>
                    <a:solidFill>
                      <a:srgbClr val="0F3256"/>
                    </a:solidFill>
                  </a:tcPr>
                </a:tc>
              </a:tr>
              <a:tr h="384048">
                <a:tc>
                  <a:txBody>
                    <a:bodyPr/>
                    <a:lstStyle/>
                    <a:p>
                      <a:pPr algn="ctr" indent="0" marL="0">
                        <a:buNone/>
                      </a:pPr>
                      <a:r>
                        <a:rPr lang="en-US" sz="1300" b="1" dirty="0">
                          <a:solidFill>
                            <a:srgbClr val="FFFFFF"/>
                          </a:solidFill>
                        </a:rPr>
                        <a:t>E2</a:t>
                      </a:r>
                      <a:endParaRPr lang="en-US" sz="1300" dirty="0"/>
                    </a:p>
                  </a:txBody>
                  <a:tcPr marL="91440" marR="91440" marT="45720" marB="45720" anchor="ctr">
                    <a:lnL w="6350" cap="flat" cmpd="sng" algn="ctr">
                      <a:solidFill>
                        <a:srgbClr val="071D36"/>
                      </a:solidFill>
                      <a:prstDash val="solid"/>
                      <a:round/>
                      <a:headEnd type="none" w="med" len="med"/>
                      <a:tailEnd type="none" w="med" len="med"/>
                    </a:lnL>
                    <a:lnR w="6350" cap="flat" cmpd="sng" algn="ctr">
                      <a:solidFill>
                        <a:srgbClr val="071D36"/>
                      </a:solidFill>
                      <a:prstDash val="solid"/>
                      <a:round/>
                      <a:headEnd type="none" w="med" len="med"/>
                      <a:tailEnd type="none" w="med" len="med"/>
                    </a:lnR>
                    <a:lnT w="6350" cap="flat" cmpd="sng" algn="ctr">
                      <a:solidFill>
                        <a:srgbClr val="071D36"/>
                      </a:solidFill>
                      <a:prstDash val="solid"/>
                      <a:round/>
                      <a:headEnd type="none" w="med" len="med"/>
                      <a:tailEnd type="none" w="med" len="med"/>
                    </a:lnT>
                    <a:lnB w="6350" cap="flat" cmpd="sng" algn="ctr">
                      <a:solidFill>
                        <a:srgbClr val="071D36"/>
                      </a:solidFill>
                      <a:prstDash val="solid"/>
                      <a:round/>
                      <a:headEnd type="none" w="med" len="med"/>
                      <a:tailEnd type="none" w="med" len="med"/>
                    </a:lnB>
                    <a:solidFill>
                      <a:srgbClr val="0F3256"/>
                    </a:solidFill>
                  </a:tcPr>
                </a:tc>
                <a:tc>
                  <a:txBody>
                    <a:bodyPr/>
                    <a:lstStyle/>
                    <a:p>
                      <a:pPr indent="0" marL="0">
                        <a:buNone/>
                      </a:pPr>
                      <a:r>
                        <a:rPr lang="en-US" sz="1300" dirty="0">
                          <a:solidFill>
                            <a:srgbClr val="FFFFFF"/>
                          </a:solidFill>
                        </a:rPr>
                        <a:t>Campañas y diagnóstico gratuito</a:t>
                      </a:r>
                      <a:endParaRPr lang="en-US" sz="1300" dirty="0"/>
                    </a:p>
                  </a:txBody>
                  <a:tcPr marL="91440" marR="91440" marT="45720" marB="45720" anchor="ctr">
                    <a:lnL w="6350" cap="flat" cmpd="sng" algn="ctr">
                      <a:solidFill>
                        <a:srgbClr val="071D36"/>
                      </a:solidFill>
                      <a:prstDash val="solid"/>
                      <a:round/>
                      <a:headEnd type="none" w="med" len="med"/>
                      <a:tailEnd type="none" w="med" len="med"/>
                    </a:lnL>
                    <a:lnR w="6350" cap="flat" cmpd="sng" algn="ctr">
                      <a:solidFill>
                        <a:srgbClr val="071D36"/>
                      </a:solidFill>
                      <a:prstDash val="solid"/>
                      <a:round/>
                      <a:headEnd type="none" w="med" len="med"/>
                      <a:tailEnd type="none" w="med" len="med"/>
                    </a:lnR>
                    <a:lnT w="6350" cap="flat" cmpd="sng" algn="ctr">
                      <a:solidFill>
                        <a:srgbClr val="071D36"/>
                      </a:solidFill>
                      <a:prstDash val="solid"/>
                      <a:round/>
                      <a:headEnd type="none" w="med" len="med"/>
                      <a:tailEnd type="none" w="med" len="med"/>
                    </a:lnT>
                    <a:lnB w="6350" cap="flat" cmpd="sng" algn="ctr">
                      <a:solidFill>
                        <a:srgbClr val="071D36"/>
                      </a:solidFill>
                      <a:prstDash val="solid"/>
                      <a:round/>
                      <a:headEnd type="none" w="med" len="med"/>
                      <a:tailEnd type="none" w="med" len="med"/>
                    </a:lnB>
                    <a:solidFill>
                      <a:srgbClr val="0F3256"/>
                    </a:solidFill>
                  </a:tcPr>
                </a:tc>
                <a:tc>
                  <a:txBody>
                    <a:bodyPr/>
                    <a:lstStyle/>
                    <a:p>
                      <a:pPr algn="ctr" indent="0" marL="0">
                        <a:buNone/>
                      </a:pPr>
                      <a:r>
                        <a:rPr lang="en-US" sz="1300" dirty="0">
                          <a:solidFill>
                            <a:srgbClr val="65C7E8"/>
                          </a:solidFill>
                        </a:rPr>
                        <a:t>●</a:t>
                      </a:r>
                      <a:endParaRPr lang="en-US" sz="1300" dirty="0"/>
                    </a:p>
                  </a:txBody>
                  <a:tcPr marL="91440" marR="91440" marT="45720" marB="45720" anchor="ctr">
                    <a:lnL w="6350" cap="flat" cmpd="sng" algn="ctr">
                      <a:solidFill>
                        <a:srgbClr val="071D36"/>
                      </a:solidFill>
                      <a:prstDash val="solid"/>
                      <a:round/>
                      <a:headEnd type="none" w="med" len="med"/>
                      <a:tailEnd type="none" w="med" len="med"/>
                    </a:lnL>
                    <a:lnR w="6350" cap="flat" cmpd="sng" algn="ctr">
                      <a:solidFill>
                        <a:srgbClr val="071D36"/>
                      </a:solidFill>
                      <a:prstDash val="solid"/>
                      <a:round/>
                      <a:headEnd type="none" w="med" len="med"/>
                      <a:tailEnd type="none" w="med" len="med"/>
                    </a:lnR>
                    <a:lnT w="6350" cap="flat" cmpd="sng" algn="ctr">
                      <a:solidFill>
                        <a:srgbClr val="071D36"/>
                      </a:solidFill>
                      <a:prstDash val="solid"/>
                      <a:round/>
                      <a:headEnd type="none" w="med" len="med"/>
                      <a:tailEnd type="none" w="med" len="med"/>
                    </a:lnT>
                    <a:lnB w="6350" cap="flat" cmpd="sng" algn="ctr">
                      <a:solidFill>
                        <a:srgbClr val="071D36"/>
                      </a:solidFill>
                      <a:prstDash val="solid"/>
                      <a:round/>
                      <a:headEnd type="none" w="med" len="med"/>
                      <a:tailEnd type="none" w="med" len="med"/>
                    </a:lnB>
                    <a:solidFill>
                      <a:srgbClr val="0F3256"/>
                    </a:solidFill>
                  </a:tcPr>
                </a:tc>
                <a:tc>
                  <a:txBody>
                    <a:bodyPr/>
                    <a:lstStyle/>
                    <a:p>
                      <a:pPr algn="ctr" indent="0" marL="0">
                        <a:buNone/>
                      </a:pPr>
                      <a:r>
                        <a:rPr lang="en-US" sz="1300" dirty="0">
                          <a:solidFill>
                            <a:srgbClr val="65C7E8"/>
                          </a:solidFill>
                        </a:rPr>
                        <a:t>●</a:t>
                      </a:r>
                      <a:endParaRPr lang="en-US" sz="1300" dirty="0"/>
                    </a:p>
                  </a:txBody>
                  <a:tcPr marL="91440" marR="91440" marT="45720" marB="45720" anchor="ctr">
                    <a:lnL w="6350" cap="flat" cmpd="sng" algn="ctr">
                      <a:solidFill>
                        <a:srgbClr val="071D36"/>
                      </a:solidFill>
                      <a:prstDash val="solid"/>
                      <a:round/>
                      <a:headEnd type="none" w="med" len="med"/>
                      <a:tailEnd type="none" w="med" len="med"/>
                    </a:lnL>
                    <a:lnR w="6350" cap="flat" cmpd="sng" algn="ctr">
                      <a:solidFill>
                        <a:srgbClr val="071D36"/>
                      </a:solidFill>
                      <a:prstDash val="solid"/>
                      <a:round/>
                      <a:headEnd type="none" w="med" len="med"/>
                      <a:tailEnd type="none" w="med" len="med"/>
                    </a:lnR>
                    <a:lnT w="6350" cap="flat" cmpd="sng" algn="ctr">
                      <a:solidFill>
                        <a:srgbClr val="071D36"/>
                      </a:solidFill>
                      <a:prstDash val="solid"/>
                      <a:round/>
                      <a:headEnd type="none" w="med" len="med"/>
                      <a:tailEnd type="none" w="med" len="med"/>
                    </a:lnT>
                    <a:lnB w="6350" cap="flat" cmpd="sng" algn="ctr">
                      <a:solidFill>
                        <a:srgbClr val="071D36"/>
                      </a:solidFill>
                      <a:prstDash val="solid"/>
                      <a:round/>
                      <a:headEnd type="none" w="med" len="med"/>
                      <a:tailEnd type="none" w="med" len="med"/>
                    </a:lnB>
                    <a:solidFill>
                      <a:srgbClr val="0F3256"/>
                    </a:solidFill>
                  </a:tcPr>
                </a:tc>
                <a:tc>
                  <a:txBody>
                    <a:bodyPr/>
                    <a:lstStyle/>
                    <a:p>
                      <a:pPr algn="ctr" indent="0" marL="0">
                        <a:buNone/>
                      </a:pPr>
                      <a:r>
                        <a:rPr lang="en-US" sz="1300" dirty="0">
                          <a:solidFill>
                            <a:srgbClr val="65C7E8"/>
                          </a:solidFill>
                        </a:rPr>
                        <a:t>●</a:t>
                      </a:r>
                      <a:endParaRPr lang="en-US" sz="1300" dirty="0"/>
                    </a:p>
                  </a:txBody>
                  <a:tcPr marL="91440" marR="91440" marT="45720" marB="45720" anchor="ctr">
                    <a:lnL w="6350" cap="flat" cmpd="sng" algn="ctr">
                      <a:solidFill>
                        <a:srgbClr val="071D36"/>
                      </a:solidFill>
                      <a:prstDash val="solid"/>
                      <a:round/>
                      <a:headEnd type="none" w="med" len="med"/>
                      <a:tailEnd type="none" w="med" len="med"/>
                    </a:lnL>
                    <a:lnR w="6350" cap="flat" cmpd="sng" algn="ctr">
                      <a:solidFill>
                        <a:srgbClr val="071D36"/>
                      </a:solidFill>
                      <a:prstDash val="solid"/>
                      <a:round/>
                      <a:headEnd type="none" w="med" len="med"/>
                      <a:tailEnd type="none" w="med" len="med"/>
                    </a:lnR>
                    <a:lnT w="6350" cap="flat" cmpd="sng" algn="ctr">
                      <a:solidFill>
                        <a:srgbClr val="071D36"/>
                      </a:solidFill>
                      <a:prstDash val="solid"/>
                      <a:round/>
                      <a:headEnd type="none" w="med" len="med"/>
                      <a:tailEnd type="none" w="med" len="med"/>
                    </a:lnT>
                    <a:lnB w="6350" cap="flat" cmpd="sng" algn="ctr">
                      <a:solidFill>
                        <a:srgbClr val="071D36"/>
                      </a:solidFill>
                      <a:prstDash val="solid"/>
                      <a:round/>
                      <a:headEnd type="none" w="med" len="med"/>
                      <a:tailEnd type="none" w="med" len="med"/>
                    </a:lnB>
                    <a:solidFill>
                      <a:srgbClr val="0F3256"/>
                    </a:solidFill>
                  </a:tcPr>
                </a:tc>
                <a:tc>
                  <a:txBody>
                    <a:bodyPr/>
                    <a:lstStyle/>
                    <a:p>
                      <a:pPr algn="ctr" indent="0" marL="0">
                        <a:buNone/>
                      </a:pPr>
                      <a:r>
                        <a:rPr lang="en-US" sz="1300" dirty="0">
                          <a:solidFill>
                            <a:srgbClr val="65C7E8"/>
                          </a:solidFill>
                        </a:rPr>
                        <a:t>●</a:t>
                      </a:r>
                      <a:endParaRPr lang="en-US" sz="1300" dirty="0"/>
                    </a:p>
                  </a:txBody>
                  <a:tcPr marL="91440" marR="91440" marT="45720" marB="45720" anchor="ctr">
                    <a:lnL w="6350" cap="flat" cmpd="sng" algn="ctr">
                      <a:solidFill>
                        <a:srgbClr val="071D36"/>
                      </a:solidFill>
                      <a:prstDash val="solid"/>
                      <a:round/>
                      <a:headEnd type="none" w="med" len="med"/>
                      <a:tailEnd type="none" w="med" len="med"/>
                    </a:lnL>
                    <a:lnR w="6350" cap="flat" cmpd="sng" algn="ctr">
                      <a:solidFill>
                        <a:srgbClr val="071D36"/>
                      </a:solidFill>
                      <a:prstDash val="solid"/>
                      <a:round/>
                      <a:headEnd type="none" w="med" len="med"/>
                      <a:tailEnd type="none" w="med" len="med"/>
                    </a:lnR>
                    <a:lnT w="6350" cap="flat" cmpd="sng" algn="ctr">
                      <a:solidFill>
                        <a:srgbClr val="071D36"/>
                      </a:solidFill>
                      <a:prstDash val="solid"/>
                      <a:round/>
                      <a:headEnd type="none" w="med" len="med"/>
                      <a:tailEnd type="none" w="med" len="med"/>
                    </a:lnT>
                    <a:lnB w="6350" cap="flat" cmpd="sng" algn="ctr">
                      <a:solidFill>
                        <a:srgbClr val="071D36"/>
                      </a:solidFill>
                      <a:prstDash val="solid"/>
                      <a:round/>
                      <a:headEnd type="none" w="med" len="med"/>
                      <a:tailEnd type="none" w="med" len="med"/>
                    </a:lnB>
                    <a:solidFill>
                      <a:srgbClr val="0F3256"/>
                    </a:solidFill>
                  </a:tcPr>
                </a:tc>
                <a:tc>
                  <a:txBody>
                    <a:bodyPr/>
                    <a:lstStyle/>
                    <a:p>
                      <a:pPr algn="ctr" indent="0" marL="0">
                        <a:buNone/>
                      </a:pPr>
                      <a:r>
                        <a:rPr lang="en-US" sz="1300" b="1" dirty="0">
                          <a:solidFill>
                            <a:srgbClr val="FFFFFF"/>
                          </a:solidFill>
                        </a:rPr>
                        <a:t>4</a:t>
                      </a:r>
                      <a:endParaRPr lang="en-US" sz="1300" dirty="0"/>
                    </a:p>
                  </a:txBody>
                  <a:tcPr marL="91440" marR="91440" marT="45720" marB="45720" anchor="ctr">
                    <a:lnL w="6350" cap="flat" cmpd="sng" algn="ctr">
                      <a:solidFill>
                        <a:srgbClr val="071D36"/>
                      </a:solidFill>
                      <a:prstDash val="solid"/>
                      <a:round/>
                      <a:headEnd type="none" w="med" len="med"/>
                      <a:tailEnd type="none" w="med" len="med"/>
                    </a:lnL>
                    <a:lnR w="6350" cap="flat" cmpd="sng" algn="ctr">
                      <a:solidFill>
                        <a:srgbClr val="071D36"/>
                      </a:solidFill>
                      <a:prstDash val="solid"/>
                      <a:round/>
                      <a:headEnd type="none" w="med" len="med"/>
                      <a:tailEnd type="none" w="med" len="med"/>
                    </a:lnR>
                    <a:lnT w="6350" cap="flat" cmpd="sng" algn="ctr">
                      <a:solidFill>
                        <a:srgbClr val="071D36"/>
                      </a:solidFill>
                      <a:prstDash val="solid"/>
                      <a:round/>
                      <a:headEnd type="none" w="med" len="med"/>
                      <a:tailEnd type="none" w="med" len="med"/>
                    </a:lnT>
                    <a:lnB w="6350" cap="flat" cmpd="sng" algn="ctr">
                      <a:solidFill>
                        <a:srgbClr val="071D36"/>
                      </a:solidFill>
                      <a:prstDash val="solid"/>
                      <a:round/>
                      <a:headEnd type="none" w="med" len="med"/>
                      <a:tailEnd type="none" w="med" len="med"/>
                    </a:lnB>
                    <a:solidFill>
                      <a:srgbClr val="0F3256"/>
                    </a:solidFill>
                  </a:tcPr>
                </a:tc>
              </a:tr>
              <a:tr h="384048">
                <a:tc>
                  <a:txBody>
                    <a:bodyPr/>
                    <a:lstStyle/>
                    <a:p>
                      <a:pPr algn="ctr" indent="0" marL="0">
                        <a:buNone/>
                      </a:pPr>
                      <a:r>
                        <a:rPr lang="en-US" sz="1300" b="1" dirty="0">
                          <a:solidFill>
                            <a:srgbClr val="FFFFFF"/>
                          </a:solidFill>
                        </a:rPr>
                        <a:t>E10</a:t>
                      </a:r>
                      <a:endParaRPr lang="en-US" sz="1300" dirty="0"/>
                    </a:p>
                  </a:txBody>
                  <a:tcPr marL="91440" marR="91440" marT="45720" marB="45720" anchor="ctr">
                    <a:lnL w="6350" cap="flat" cmpd="sng" algn="ctr">
                      <a:solidFill>
                        <a:srgbClr val="071D36"/>
                      </a:solidFill>
                      <a:prstDash val="solid"/>
                      <a:round/>
                      <a:headEnd type="none" w="med" len="med"/>
                      <a:tailEnd type="none" w="med" len="med"/>
                    </a:lnL>
                    <a:lnR w="6350" cap="flat" cmpd="sng" algn="ctr">
                      <a:solidFill>
                        <a:srgbClr val="071D36"/>
                      </a:solidFill>
                      <a:prstDash val="solid"/>
                      <a:round/>
                      <a:headEnd type="none" w="med" len="med"/>
                      <a:tailEnd type="none" w="med" len="med"/>
                    </a:lnR>
                    <a:lnT w="6350" cap="flat" cmpd="sng" algn="ctr">
                      <a:solidFill>
                        <a:srgbClr val="071D36"/>
                      </a:solidFill>
                      <a:prstDash val="solid"/>
                      <a:round/>
                      <a:headEnd type="none" w="med" len="med"/>
                      <a:tailEnd type="none" w="med" len="med"/>
                    </a:lnT>
                    <a:lnB w="6350" cap="flat" cmpd="sng" algn="ctr">
                      <a:solidFill>
                        <a:srgbClr val="071D36"/>
                      </a:solidFill>
                      <a:prstDash val="solid"/>
                      <a:round/>
                      <a:headEnd type="none" w="med" len="med"/>
                      <a:tailEnd type="none" w="med" len="med"/>
                    </a:lnB>
                    <a:solidFill>
                      <a:srgbClr val="0F3256"/>
                    </a:solidFill>
                  </a:tcPr>
                </a:tc>
                <a:tc>
                  <a:txBody>
                    <a:bodyPr/>
                    <a:lstStyle/>
                    <a:p>
                      <a:pPr indent="0" marL="0">
                        <a:buNone/>
                      </a:pPr>
                      <a:r>
                        <a:rPr lang="en-US" sz="1300" dirty="0">
                          <a:solidFill>
                            <a:srgbClr val="FFFFFF"/>
                          </a:solidFill>
                        </a:rPr>
                        <a:t>Grupos de tres o cuatro alumnos</a:t>
                      </a:r>
                      <a:endParaRPr lang="en-US" sz="1300" dirty="0"/>
                    </a:p>
                  </a:txBody>
                  <a:tcPr marL="91440" marR="91440" marT="45720" marB="45720" anchor="ctr">
                    <a:lnL w="6350" cap="flat" cmpd="sng" algn="ctr">
                      <a:solidFill>
                        <a:srgbClr val="071D36"/>
                      </a:solidFill>
                      <a:prstDash val="solid"/>
                      <a:round/>
                      <a:headEnd type="none" w="med" len="med"/>
                      <a:tailEnd type="none" w="med" len="med"/>
                    </a:lnL>
                    <a:lnR w="6350" cap="flat" cmpd="sng" algn="ctr">
                      <a:solidFill>
                        <a:srgbClr val="071D36"/>
                      </a:solidFill>
                      <a:prstDash val="solid"/>
                      <a:round/>
                      <a:headEnd type="none" w="med" len="med"/>
                      <a:tailEnd type="none" w="med" len="med"/>
                    </a:lnR>
                    <a:lnT w="6350" cap="flat" cmpd="sng" algn="ctr">
                      <a:solidFill>
                        <a:srgbClr val="071D36"/>
                      </a:solidFill>
                      <a:prstDash val="solid"/>
                      <a:round/>
                      <a:headEnd type="none" w="med" len="med"/>
                      <a:tailEnd type="none" w="med" len="med"/>
                    </a:lnT>
                    <a:lnB w="6350" cap="flat" cmpd="sng" algn="ctr">
                      <a:solidFill>
                        <a:srgbClr val="071D36"/>
                      </a:solidFill>
                      <a:prstDash val="solid"/>
                      <a:round/>
                      <a:headEnd type="none" w="med" len="med"/>
                      <a:tailEnd type="none" w="med" len="med"/>
                    </a:lnB>
                    <a:solidFill>
                      <a:srgbClr val="0F3256"/>
                    </a:solidFill>
                  </a:tcPr>
                </a:tc>
                <a:tc>
                  <a:txBody>
                    <a:bodyPr/>
                    <a:lstStyle/>
                    <a:p>
                      <a:pPr algn="ctr" indent="0" marL="0">
                        <a:buNone/>
                      </a:pPr>
                      <a:r>
                        <a:rPr lang="en-US" sz="1300" dirty="0">
                          <a:solidFill>
                            <a:srgbClr val="65C7E8"/>
                          </a:solidFill>
                        </a:rPr>
                        <a:t>●</a:t>
                      </a:r>
                      <a:endParaRPr lang="en-US" sz="1300" dirty="0"/>
                    </a:p>
                  </a:txBody>
                  <a:tcPr marL="91440" marR="91440" marT="45720" marB="45720" anchor="ctr">
                    <a:lnL w="6350" cap="flat" cmpd="sng" algn="ctr">
                      <a:solidFill>
                        <a:srgbClr val="071D36"/>
                      </a:solidFill>
                      <a:prstDash val="solid"/>
                      <a:round/>
                      <a:headEnd type="none" w="med" len="med"/>
                      <a:tailEnd type="none" w="med" len="med"/>
                    </a:lnL>
                    <a:lnR w="6350" cap="flat" cmpd="sng" algn="ctr">
                      <a:solidFill>
                        <a:srgbClr val="071D36"/>
                      </a:solidFill>
                      <a:prstDash val="solid"/>
                      <a:round/>
                      <a:headEnd type="none" w="med" len="med"/>
                      <a:tailEnd type="none" w="med" len="med"/>
                    </a:lnR>
                    <a:lnT w="6350" cap="flat" cmpd="sng" algn="ctr">
                      <a:solidFill>
                        <a:srgbClr val="071D36"/>
                      </a:solidFill>
                      <a:prstDash val="solid"/>
                      <a:round/>
                      <a:headEnd type="none" w="med" len="med"/>
                      <a:tailEnd type="none" w="med" len="med"/>
                    </a:lnT>
                    <a:lnB w="6350" cap="flat" cmpd="sng" algn="ctr">
                      <a:solidFill>
                        <a:srgbClr val="071D36"/>
                      </a:solidFill>
                      <a:prstDash val="solid"/>
                      <a:round/>
                      <a:headEnd type="none" w="med" len="med"/>
                      <a:tailEnd type="none" w="med" len="med"/>
                    </a:lnB>
                    <a:solidFill>
                      <a:srgbClr val="0F3256"/>
                    </a:solidFill>
                  </a:tcPr>
                </a:tc>
                <a:tc>
                  <a:txBody>
                    <a:bodyPr/>
                    <a:lstStyle/>
                    <a:p>
                      <a:pPr algn="ctr" indent="0" marL="0">
                        <a:buNone/>
                      </a:pPr>
                      <a:r>
                        <a:rPr lang="en-US" sz="1300" dirty="0">
                          <a:solidFill>
                            <a:srgbClr val="65C7E8"/>
                          </a:solidFill>
                        </a:rPr>
                        <a:t>●</a:t>
                      </a:r>
                      <a:endParaRPr lang="en-US" sz="1300" dirty="0"/>
                    </a:p>
                  </a:txBody>
                  <a:tcPr marL="91440" marR="91440" marT="45720" marB="45720" anchor="ctr">
                    <a:lnL w="6350" cap="flat" cmpd="sng" algn="ctr">
                      <a:solidFill>
                        <a:srgbClr val="071D36"/>
                      </a:solidFill>
                      <a:prstDash val="solid"/>
                      <a:round/>
                      <a:headEnd type="none" w="med" len="med"/>
                      <a:tailEnd type="none" w="med" len="med"/>
                    </a:lnL>
                    <a:lnR w="6350" cap="flat" cmpd="sng" algn="ctr">
                      <a:solidFill>
                        <a:srgbClr val="071D36"/>
                      </a:solidFill>
                      <a:prstDash val="solid"/>
                      <a:round/>
                      <a:headEnd type="none" w="med" len="med"/>
                      <a:tailEnd type="none" w="med" len="med"/>
                    </a:lnR>
                    <a:lnT w="6350" cap="flat" cmpd="sng" algn="ctr">
                      <a:solidFill>
                        <a:srgbClr val="071D36"/>
                      </a:solidFill>
                      <a:prstDash val="solid"/>
                      <a:round/>
                      <a:headEnd type="none" w="med" len="med"/>
                      <a:tailEnd type="none" w="med" len="med"/>
                    </a:lnT>
                    <a:lnB w="6350" cap="flat" cmpd="sng" algn="ctr">
                      <a:solidFill>
                        <a:srgbClr val="071D36"/>
                      </a:solidFill>
                      <a:prstDash val="solid"/>
                      <a:round/>
                      <a:headEnd type="none" w="med" len="med"/>
                      <a:tailEnd type="none" w="med" len="med"/>
                    </a:lnB>
                    <a:solidFill>
                      <a:srgbClr val="0F3256"/>
                    </a:solidFill>
                  </a:tcPr>
                </a:tc>
                <a:tc>
                  <a:txBody>
                    <a:bodyPr/>
                    <a:lstStyle/>
                    <a:p>
                      <a:pPr algn="ctr" indent="0" marL="0">
                        <a:buNone/>
                      </a:pPr>
                      <a:r>
                        <a:rPr lang="en-US" sz="1300" dirty="0">
                          <a:solidFill>
                            <a:srgbClr val="65C7E8"/>
                          </a:solidFill>
                        </a:rPr>
                        <a:t>●</a:t>
                      </a:r>
                      <a:endParaRPr lang="en-US" sz="1300" dirty="0"/>
                    </a:p>
                  </a:txBody>
                  <a:tcPr marL="91440" marR="91440" marT="45720" marB="45720" anchor="ctr">
                    <a:lnL w="6350" cap="flat" cmpd="sng" algn="ctr">
                      <a:solidFill>
                        <a:srgbClr val="071D36"/>
                      </a:solidFill>
                      <a:prstDash val="solid"/>
                      <a:round/>
                      <a:headEnd type="none" w="med" len="med"/>
                      <a:tailEnd type="none" w="med" len="med"/>
                    </a:lnL>
                    <a:lnR w="6350" cap="flat" cmpd="sng" algn="ctr">
                      <a:solidFill>
                        <a:srgbClr val="071D36"/>
                      </a:solidFill>
                      <a:prstDash val="solid"/>
                      <a:round/>
                      <a:headEnd type="none" w="med" len="med"/>
                      <a:tailEnd type="none" w="med" len="med"/>
                    </a:lnR>
                    <a:lnT w="6350" cap="flat" cmpd="sng" algn="ctr">
                      <a:solidFill>
                        <a:srgbClr val="071D36"/>
                      </a:solidFill>
                      <a:prstDash val="solid"/>
                      <a:round/>
                      <a:headEnd type="none" w="med" len="med"/>
                      <a:tailEnd type="none" w="med" len="med"/>
                    </a:lnT>
                    <a:lnB w="6350" cap="flat" cmpd="sng" algn="ctr">
                      <a:solidFill>
                        <a:srgbClr val="071D36"/>
                      </a:solidFill>
                      <a:prstDash val="solid"/>
                      <a:round/>
                      <a:headEnd type="none" w="med" len="med"/>
                      <a:tailEnd type="none" w="med" len="med"/>
                    </a:lnB>
                    <a:solidFill>
                      <a:srgbClr val="0F3256"/>
                    </a:solidFill>
                  </a:tcPr>
                </a:tc>
                <a:tc>
                  <a:txBody>
                    <a:bodyPr/>
                    <a:lstStyle/>
                    <a:p>
                      <a:pPr algn="ctr" indent="0" marL="0">
                        <a:buNone/>
                      </a:pPr>
                      <a:r>
                        <a:rPr lang="en-US" sz="1300" dirty="0">
                          <a:solidFill>
                            <a:srgbClr val="65C7E8"/>
                          </a:solidFill>
                        </a:rPr>
                        <a:t>●</a:t>
                      </a:r>
                      <a:endParaRPr lang="en-US" sz="1300" dirty="0"/>
                    </a:p>
                  </a:txBody>
                  <a:tcPr marL="91440" marR="91440" marT="45720" marB="45720" anchor="ctr">
                    <a:lnL w="6350" cap="flat" cmpd="sng" algn="ctr">
                      <a:solidFill>
                        <a:srgbClr val="071D36"/>
                      </a:solidFill>
                      <a:prstDash val="solid"/>
                      <a:round/>
                      <a:headEnd type="none" w="med" len="med"/>
                      <a:tailEnd type="none" w="med" len="med"/>
                    </a:lnL>
                    <a:lnR w="6350" cap="flat" cmpd="sng" algn="ctr">
                      <a:solidFill>
                        <a:srgbClr val="071D36"/>
                      </a:solidFill>
                      <a:prstDash val="solid"/>
                      <a:round/>
                      <a:headEnd type="none" w="med" len="med"/>
                      <a:tailEnd type="none" w="med" len="med"/>
                    </a:lnR>
                    <a:lnT w="6350" cap="flat" cmpd="sng" algn="ctr">
                      <a:solidFill>
                        <a:srgbClr val="071D36"/>
                      </a:solidFill>
                      <a:prstDash val="solid"/>
                      <a:round/>
                      <a:headEnd type="none" w="med" len="med"/>
                      <a:tailEnd type="none" w="med" len="med"/>
                    </a:lnT>
                    <a:lnB w="6350" cap="flat" cmpd="sng" algn="ctr">
                      <a:solidFill>
                        <a:srgbClr val="071D36"/>
                      </a:solidFill>
                      <a:prstDash val="solid"/>
                      <a:round/>
                      <a:headEnd type="none" w="med" len="med"/>
                      <a:tailEnd type="none" w="med" len="med"/>
                    </a:lnB>
                    <a:solidFill>
                      <a:srgbClr val="0F3256"/>
                    </a:solidFill>
                  </a:tcPr>
                </a:tc>
                <a:tc>
                  <a:txBody>
                    <a:bodyPr/>
                    <a:lstStyle/>
                    <a:p>
                      <a:pPr algn="ctr" indent="0" marL="0">
                        <a:buNone/>
                      </a:pPr>
                      <a:r>
                        <a:rPr lang="en-US" sz="1300" b="1" dirty="0">
                          <a:solidFill>
                            <a:srgbClr val="FFFFFF"/>
                          </a:solidFill>
                        </a:rPr>
                        <a:t>4</a:t>
                      </a:r>
                      <a:endParaRPr lang="en-US" sz="1300" dirty="0"/>
                    </a:p>
                  </a:txBody>
                  <a:tcPr marL="91440" marR="91440" marT="45720" marB="45720" anchor="ctr">
                    <a:lnL w="6350" cap="flat" cmpd="sng" algn="ctr">
                      <a:solidFill>
                        <a:srgbClr val="071D36"/>
                      </a:solidFill>
                      <a:prstDash val="solid"/>
                      <a:round/>
                      <a:headEnd type="none" w="med" len="med"/>
                      <a:tailEnd type="none" w="med" len="med"/>
                    </a:lnL>
                    <a:lnR w="6350" cap="flat" cmpd="sng" algn="ctr">
                      <a:solidFill>
                        <a:srgbClr val="071D36"/>
                      </a:solidFill>
                      <a:prstDash val="solid"/>
                      <a:round/>
                      <a:headEnd type="none" w="med" len="med"/>
                      <a:tailEnd type="none" w="med" len="med"/>
                    </a:lnR>
                    <a:lnT w="6350" cap="flat" cmpd="sng" algn="ctr">
                      <a:solidFill>
                        <a:srgbClr val="071D36"/>
                      </a:solidFill>
                      <a:prstDash val="solid"/>
                      <a:round/>
                      <a:headEnd type="none" w="med" len="med"/>
                      <a:tailEnd type="none" w="med" len="med"/>
                    </a:lnT>
                    <a:lnB w="6350" cap="flat" cmpd="sng" algn="ctr">
                      <a:solidFill>
                        <a:srgbClr val="071D36"/>
                      </a:solidFill>
                      <a:prstDash val="solid"/>
                      <a:round/>
                      <a:headEnd type="none" w="med" len="med"/>
                      <a:tailEnd type="none" w="med" len="med"/>
                    </a:lnB>
                    <a:solidFill>
                      <a:srgbClr val="0F3256"/>
                    </a:solidFill>
                  </a:tcPr>
                </a:tc>
              </a:tr>
              <a:tr h="384048">
                <a:tc>
                  <a:txBody>
                    <a:bodyPr/>
                    <a:lstStyle/>
                    <a:p>
                      <a:pPr algn="ctr" indent="0" marL="0">
                        <a:buNone/>
                      </a:pPr>
                      <a:r>
                        <a:rPr lang="en-US" sz="1300" b="1" dirty="0">
                          <a:solidFill>
                            <a:srgbClr val="FFFFFF"/>
                          </a:solidFill>
                        </a:rPr>
                        <a:t>E4</a:t>
                      </a:r>
                      <a:endParaRPr lang="en-US" sz="1300" dirty="0"/>
                    </a:p>
                  </a:txBody>
                  <a:tcPr marL="91440" marR="91440" marT="45720" marB="45720" anchor="ctr">
                    <a:lnL w="6350" cap="flat" cmpd="sng" algn="ctr">
                      <a:solidFill>
                        <a:srgbClr val="071D36"/>
                      </a:solidFill>
                      <a:prstDash val="solid"/>
                      <a:round/>
                      <a:headEnd type="none" w="med" len="med"/>
                      <a:tailEnd type="none" w="med" len="med"/>
                    </a:lnL>
                    <a:lnR w="6350" cap="flat" cmpd="sng" algn="ctr">
                      <a:solidFill>
                        <a:srgbClr val="071D36"/>
                      </a:solidFill>
                      <a:prstDash val="solid"/>
                      <a:round/>
                      <a:headEnd type="none" w="med" len="med"/>
                      <a:tailEnd type="none" w="med" len="med"/>
                    </a:lnR>
                    <a:lnT w="6350" cap="flat" cmpd="sng" algn="ctr">
                      <a:solidFill>
                        <a:srgbClr val="071D36"/>
                      </a:solidFill>
                      <a:prstDash val="solid"/>
                      <a:round/>
                      <a:headEnd type="none" w="med" len="med"/>
                      <a:tailEnd type="none" w="med" len="med"/>
                    </a:lnT>
                    <a:lnB w="6350" cap="flat" cmpd="sng" algn="ctr">
                      <a:solidFill>
                        <a:srgbClr val="071D36"/>
                      </a:solidFill>
                      <a:prstDash val="solid"/>
                      <a:round/>
                      <a:headEnd type="none" w="med" len="med"/>
                      <a:tailEnd type="none" w="med" len="med"/>
                    </a:lnB>
                    <a:solidFill>
                      <a:srgbClr val="0F3256"/>
                    </a:solidFill>
                  </a:tcPr>
                </a:tc>
                <a:tc>
                  <a:txBody>
                    <a:bodyPr/>
                    <a:lstStyle/>
                    <a:p>
                      <a:pPr indent="0" marL="0">
                        <a:buNone/>
                      </a:pPr>
                      <a:r>
                        <a:rPr lang="en-US" sz="1300" dirty="0">
                          <a:solidFill>
                            <a:srgbClr val="FFFFFF"/>
                          </a:solidFill>
                        </a:rPr>
                        <a:t>Orden comercial en el CRM</a:t>
                      </a:r>
                      <a:endParaRPr lang="en-US" sz="1300" dirty="0"/>
                    </a:p>
                  </a:txBody>
                  <a:tcPr marL="91440" marR="91440" marT="45720" marB="45720" anchor="ctr">
                    <a:lnL w="6350" cap="flat" cmpd="sng" algn="ctr">
                      <a:solidFill>
                        <a:srgbClr val="071D36"/>
                      </a:solidFill>
                      <a:prstDash val="solid"/>
                      <a:round/>
                      <a:headEnd type="none" w="med" len="med"/>
                      <a:tailEnd type="none" w="med" len="med"/>
                    </a:lnL>
                    <a:lnR w="6350" cap="flat" cmpd="sng" algn="ctr">
                      <a:solidFill>
                        <a:srgbClr val="071D36"/>
                      </a:solidFill>
                      <a:prstDash val="solid"/>
                      <a:round/>
                      <a:headEnd type="none" w="med" len="med"/>
                      <a:tailEnd type="none" w="med" len="med"/>
                    </a:lnR>
                    <a:lnT w="6350" cap="flat" cmpd="sng" algn="ctr">
                      <a:solidFill>
                        <a:srgbClr val="071D36"/>
                      </a:solidFill>
                      <a:prstDash val="solid"/>
                      <a:round/>
                      <a:headEnd type="none" w="med" len="med"/>
                      <a:tailEnd type="none" w="med" len="med"/>
                    </a:lnT>
                    <a:lnB w="6350" cap="flat" cmpd="sng" algn="ctr">
                      <a:solidFill>
                        <a:srgbClr val="071D36"/>
                      </a:solidFill>
                      <a:prstDash val="solid"/>
                      <a:round/>
                      <a:headEnd type="none" w="med" len="med"/>
                      <a:tailEnd type="none" w="med" len="med"/>
                    </a:lnB>
                    <a:solidFill>
                      <a:srgbClr val="0F3256"/>
                    </a:solidFill>
                  </a:tcPr>
                </a:tc>
                <a:tc>
                  <a:txBody>
                    <a:bodyPr/>
                    <a:lstStyle/>
                    <a:p>
                      <a:pPr algn="ctr" indent="0" marL="0">
                        <a:buNone/>
                      </a:pPr>
                      <a:r>
                        <a:rPr lang="en-US" sz="1300" dirty="0">
                          <a:solidFill>
                            <a:srgbClr val="65C7E8"/>
                          </a:solidFill>
                        </a:rPr>
                        <a:t>●</a:t>
                      </a:r>
                      <a:endParaRPr lang="en-US" sz="1300" dirty="0"/>
                    </a:p>
                  </a:txBody>
                  <a:tcPr marL="91440" marR="91440" marT="45720" marB="45720" anchor="ctr">
                    <a:lnL w="6350" cap="flat" cmpd="sng" algn="ctr">
                      <a:solidFill>
                        <a:srgbClr val="071D36"/>
                      </a:solidFill>
                      <a:prstDash val="solid"/>
                      <a:round/>
                      <a:headEnd type="none" w="med" len="med"/>
                      <a:tailEnd type="none" w="med" len="med"/>
                    </a:lnL>
                    <a:lnR w="6350" cap="flat" cmpd="sng" algn="ctr">
                      <a:solidFill>
                        <a:srgbClr val="071D36"/>
                      </a:solidFill>
                      <a:prstDash val="solid"/>
                      <a:round/>
                      <a:headEnd type="none" w="med" len="med"/>
                      <a:tailEnd type="none" w="med" len="med"/>
                    </a:lnR>
                    <a:lnT w="6350" cap="flat" cmpd="sng" algn="ctr">
                      <a:solidFill>
                        <a:srgbClr val="071D36"/>
                      </a:solidFill>
                      <a:prstDash val="solid"/>
                      <a:round/>
                      <a:headEnd type="none" w="med" len="med"/>
                      <a:tailEnd type="none" w="med" len="med"/>
                    </a:lnT>
                    <a:lnB w="6350" cap="flat" cmpd="sng" algn="ctr">
                      <a:solidFill>
                        <a:srgbClr val="071D36"/>
                      </a:solidFill>
                      <a:prstDash val="solid"/>
                      <a:round/>
                      <a:headEnd type="none" w="med" len="med"/>
                      <a:tailEnd type="none" w="med" len="med"/>
                    </a:lnB>
                    <a:solidFill>
                      <a:srgbClr val="0F3256"/>
                    </a:solidFill>
                  </a:tcPr>
                </a:tc>
                <a:tc>
                  <a:txBody>
                    <a:bodyPr/>
                    <a:lstStyle/>
                    <a:p>
                      <a:pPr algn="ctr" indent="0" marL="0">
                        <a:buNone/>
                      </a:pPr>
                      <a:r>
                        <a:rPr lang="en-US" sz="1300" dirty="0">
                          <a:solidFill>
                            <a:srgbClr val="65C7E8"/>
                          </a:solidFill>
                        </a:rPr>
                        <a:t>●</a:t>
                      </a:r>
                      <a:endParaRPr lang="en-US" sz="1300" dirty="0"/>
                    </a:p>
                  </a:txBody>
                  <a:tcPr marL="91440" marR="91440" marT="45720" marB="45720" anchor="ctr">
                    <a:lnL w="6350" cap="flat" cmpd="sng" algn="ctr">
                      <a:solidFill>
                        <a:srgbClr val="071D36"/>
                      </a:solidFill>
                      <a:prstDash val="solid"/>
                      <a:round/>
                      <a:headEnd type="none" w="med" len="med"/>
                      <a:tailEnd type="none" w="med" len="med"/>
                    </a:lnL>
                    <a:lnR w="6350" cap="flat" cmpd="sng" algn="ctr">
                      <a:solidFill>
                        <a:srgbClr val="071D36"/>
                      </a:solidFill>
                      <a:prstDash val="solid"/>
                      <a:round/>
                      <a:headEnd type="none" w="med" len="med"/>
                      <a:tailEnd type="none" w="med" len="med"/>
                    </a:lnR>
                    <a:lnT w="6350" cap="flat" cmpd="sng" algn="ctr">
                      <a:solidFill>
                        <a:srgbClr val="071D36"/>
                      </a:solidFill>
                      <a:prstDash val="solid"/>
                      <a:round/>
                      <a:headEnd type="none" w="med" len="med"/>
                      <a:tailEnd type="none" w="med" len="med"/>
                    </a:lnT>
                    <a:lnB w="6350" cap="flat" cmpd="sng" algn="ctr">
                      <a:solidFill>
                        <a:srgbClr val="071D36"/>
                      </a:solidFill>
                      <a:prstDash val="solid"/>
                      <a:round/>
                      <a:headEnd type="none" w="med" len="med"/>
                      <a:tailEnd type="none" w="med" len="med"/>
                    </a:lnB>
                    <a:solidFill>
                      <a:srgbClr val="0F3256"/>
                    </a:solidFill>
                  </a:tcPr>
                </a:tc>
                <a:tc>
                  <a:txBody>
                    <a:bodyPr/>
                    <a:lstStyle/>
                    <a:p>
                      <a:pPr algn="ctr" indent="0" marL="0">
                        <a:buNone/>
                      </a:pPr>
                      <a:r>
                        <a:rPr lang="en-US" sz="1300" dirty="0">
                          <a:solidFill>
                            <a:srgbClr val="65C7E8"/>
                          </a:solidFill>
                        </a:rPr>
                        <a:t>●</a:t>
                      </a:r>
                      <a:endParaRPr lang="en-US" sz="1300" dirty="0"/>
                    </a:p>
                  </a:txBody>
                  <a:tcPr marL="91440" marR="91440" marT="45720" marB="45720" anchor="ctr">
                    <a:lnL w="6350" cap="flat" cmpd="sng" algn="ctr">
                      <a:solidFill>
                        <a:srgbClr val="071D36"/>
                      </a:solidFill>
                      <a:prstDash val="solid"/>
                      <a:round/>
                      <a:headEnd type="none" w="med" len="med"/>
                      <a:tailEnd type="none" w="med" len="med"/>
                    </a:lnL>
                    <a:lnR w="6350" cap="flat" cmpd="sng" algn="ctr">
                      <a:solidFill>
                        <a:srgbClr val="071D36"/>
                      </a:solidFill>
                      <a:prstDash val="solid"/>
                      <a:round/>
                      <a:headEnd type="none" w="med" len="med"/>
                      <a:tailEnd type="none" w="med" len="med"/>
                    </a:lnR>
                    <a:lnT w="6350" cap="flat" cmpd="sng" algn="ctr">
                      <a:solidFill>
                        <a:srgbClr val="071D36"/>
                      </a:solidFill>
                      <a:prstDash val="solid"/>
                      <a:round/>
                      <a:headEnd type="none" w="med" len="med"/>
                      <a:tailEnd type="none" w="med" len="med"/>
                    </a:lnT>
                    <a:lnB w="6350" cap="flat" cmpd="sng" algn="ctr">
                      <a:solidFill>
                        <a:srgbClr val="071D36"/>
                      </a:solidFill>
                      <a:prstDash val="solid"/>
                      <a:round/>
                      <a:headEnd type="none" w="med" len="med"/>
                      <a:tailEnd type="none" w="med" len="med"/>
                    </a:lnB>
                    <a:solidFill>
                      <a:srgbClr val="0F3256"/>
                    </a:solidFill>
                  </a:tcPr>
                </a:tc>
                <a:tc>
                  <a:txBody>
                    <a:bodyPr/>
                    <a:lstStyle/>
                    <a:p>
                      <a:pPr algn="ctr" indent="0" marL="0">
                        <a:buNone/>
                      </a:pPr>
                      <a:endParaRPr lang="en-US" sz="1300" dirty="0"/>
                    </a:p>
                  </a:txBody>
                  <a:tcPr marL="91440" marR="91440" marT="45720" marB="45720" anchor="ctr">
                    <a:lnL w="6350" cap="flat" cmpd="sng" algn="ctr">
                      <a:solidFill>
                        <a:srgbClr val="071D36"/>
                      </a:solidFill>
                      <a:prstDash val="solid"/>
                      <a:round/>
                      <a:headEnd type="none" w="med" len="med"/>
                      <a:tailEnd type="none" w="med" len="med"/>
                    </a:lnL>
                    <a:lnR w="6350" cap="flat" cmpd="sng" algn="ctr">
                      <a:solidFill>
                        <a:srgbClr val="071D36"/>
                      </a:solidFill>
                      <a:prstDash val="solid"/>
                      <a:round/>
                      <a:headEnd type="none" w="med" len="med"/>
                      <a:tailEnd type="none" w="med" len="med"/>
                    </a:lnR>
                    <a:lnT w="6350" cap="flat" cmpd="sng" algn="ctr">
                      <a:solidFill>
                        <a:srgbClr val="071D36"/>
                      </a:solidFill>
                      <a:prstDash val="solid"/>
                      <a:round/>
                      <a:headEnd type="none" w="med" len="med"/>
                      <a:tailEnd type="none" w="med" len="med"/>
                    </a:lnT>
                    <a:lnB w="6350" cap="flat" cmpd="sng" algn="ctr">
                      <a:solidFill>
                        <a:srgbClr val="071D36"/>
                      </a:solidFill>
                      <a:prstDash val="solid"/>
                      <a:round/>
                      <a:headEnd type="none" w="med" len="med"/>
                      <a:tailEnd type="none" w="med" len="med"/>
                    </a:lnB>
                    <a:solidFill>
                      <a:srgbClr val="0F3256"/>
                    </a:solidFill>
                  </a:tcPr>
                </a:tc>
                <a:tc>
                  <a:txBody>
                    <a:bodyPr/>
                    <a:lstStyle/>
                    <a:p>
                      <a:pPr algn="ctr" indent="0" marL="0">
                        <a:buNone/>
                      </a:pPr>
                      <a:r>
                        <a:rPr lang="en-US" sz="1300" b="1" dirty="0">
                          <a:solidFill>
                            <a:srgbClr val="FFFFFF"/>
                          </a:solidFill>
                        </a:rPr>
                        <a:t>3</a:t>
                      </a:r>
                      <a:endParaRPr lang="en-US" sz="1300" dirty="0"/>
                    </a:p>
                  </a:txBody>
                  <a:tcPr marL="91440" marR="91440" marT="45720" marB="45720" anchor="ctr">
                    <a:lnL w="6350" cap="flat" cmpd="sng" algn="ctr">
                      <a:solidFill>
                        <a:srgbClr val="071D36"/>
                      </a:solidFill>
                      <a:prstDash val="solid"/>
                      <a:round/>
                      <a:headEnd type="none" w="med" len="med"/>
                      <a:tailEnd type="none" w="med" len="med"/>
                    </a:lnL>
                    <a:lnR w="6350" cap="flat" cmpd="sng" algn="ctr">
                      <a:solidFill>
                        <a:srgbClr val="071D36"/>
                      </a:solidFill>
                      <a:prstDash val="solid"/>
                      <a:round/>
                      <a:headEnd type="none" w="med" len="med"/>
                      <a:tailEnd type="none" w="med" len="med"/>
                    </a:lnR>
                    <a:lnT w="6350" cap="flat" cmpd="sng" algn="ctr">
                      <a:solidFill>
                        <a:srgbClr val="071D36"/>
                      </a:solidFill>
                      <a:prstDash val="solid"/>
                      <a:round/>
                      <a:headEnd type="none" w="med" len="med"/>
                      <a:tailEnd type="none" w="med" len="med"/>
                    </a:lnT>
                    <a:lnB w="6350" cap="flat" cmpd="sng" algn="ctr">
                      <a:solidFill>
                        <a:srgbClr val="071D36"/>
                      </a:solidFill>
                      <a:prstDash val="solid"/>
                      <a:round/>
                      <a:headEnd type="none" w="med" len="med"/>
                      <a:tailEnd type="none" w="med" len="med"/>
                    </a:lnB>
                    <a:solidFill>
                      <a:srgbClr val="0F3256"/>
                    </a:solidFill>
                  </a:tcPr>
                </a:tc>
              </a:tr>
              <a:tr h="384048">
                <a:tc>
                  <a:txBody>
                    <a:bodyPr/>
                    <a:lstStyle/>
                    <a:p>
                      <a:pPr algn="ctr" indent="0" marL="0">
                        <a:buNone/>
                      </a:pPr>
                      <a:r>
                        <a:rPr lang="en-US" sz="1300" b="1" dirty="0">
                          <a:solidFill>
                            <a:srgbClr val="FFFFFF"/>
                          </a:solidFill>
                        </a:rPr>
                        <a:t>E5</a:t>
                      </a:r>
                      <a:endParaRPr lang="en-US" sz="1300" dirty="0"/>
                    </a:p>
                  </a:txBody>
                  <a:tcPr marL="91440" marR="91440" marT="45720" marB="45720" anchor="ctr">
                    <a:lnL w="6350" cap="flat" cmpd="sng" algn="ctr">
                      <a:solidFill>
                        <a:srgbClr val="071D36"/>
                      </a:solidFill>
                      <a:prstDash val="solid"/>
                      <a:round/>
                      <a:headEnd type="none" w="med" len="med"/>
                      <a:tailEnd type="none" w="med" len="med"/>
                    </a:lnL>
                    <a:lnR w="6350" cap="flat" cmpd="sng" algn="ctr">
                      <a:solidFill>
                        <a:srgbClr val="071D36"/>
                      </a:solidFill>
                      <a:prstDash val="solid"/>
                      <a:round/>
                      <a:headEnd type="none" w="med" len="med"/>
                      <a:tailEnd type="none" w="med" len="med"/>
                    </a:lnR>
                    <a:lnT w="6350" cap="flat" cmpd="sng" algn="ctr">
                      <a:solidFill>
                        <a:srgbClr val="071D36"/>
                      </a:solidFill>
                      <a:prstDash val="solid"/>
                      <a:round/>
                      <a:headEnd type="none" w="med" len="med"/>
                      <a:tailEnd type="none" w="med" len="med"/>
                    </a:lnT>
                    <a:lnB w="6350" cap="flat" cmpd="sng" algn="ctr">
                      <a:solidFill>
                        <a:srgbClr val="071D36"/>
                      </a:solidFill>
                      <a:prstDash val="solid"/>
                      <a:round/>
                      <a:headEnd type="none" w="med" len="med"/>
                      <a:tailEnd type="none" w="med" len="med"/>
                    </a:lnB>
                    <a:solidFill>
                      <a:srgbClr val="0F3256"/>
                    </a:solidFill>
                  </a:tcPr>
                </a:tc>
                <a:tc>
                  <a:txBody>
                    <a:bodyPr/>
                    <a:lstStyle/>
                    <a:p>
                      <a:pPr indent="0" marL="0">
                        <a:buNone/>
                      </a:pPr>
                      <a:r>
                        <a:rPr lang="en-US" sz="1300" dirty="0">
                          <a:solidFill>
                            <a:srgbClr val="FFFFFF"/>
                          </a:solidFill>
                        </a:rPr>
                        <a:t>Medir y premiar el cumplimiento docente</a:t>
                      </a:r>
                      <a:endParaRPr lang="en-US" sz="1300" dirty="0"/>
                    </a:p>
                  </a:txBody>
                  <a:tcPr marL="91440" marR="91440" marT="45720" marB="45720" anchor="ctr">
                    <a:lnL w="6350" cap="flat" cmpd="sng" algn="ctr">
                      <a:solidFill>
                        <a:srgbClr val="071D36"/>
                      </a:solidFill>
                      <a:prstDash val="solid"/>
                      <a:round/>
                      <a:headEnd type="none" w="med" len="med"/>
                      <a:tailEnd type="none" w="med" len="med"/>
                    </a:lnL>
                    <a:lnR w="6350" cap="flat" cmpd="sng" algn="ctr">
                      <a:solidFill>
                        <a:srgbClr val="071D36"/>
                      </a:solidFill>
                      <a:prstDash val="solid"/>
                      <a:round/>
                      <a:headEnd type="none" w="med" len="med"/>
                      <a:tailEnd type="none" w="med" len="med"/>
                    </a:lnR>
                    <a:lnT w="6350" cap="flat" cmpd="sng" algn="ctr">
                      <a:solidFill>
                        <a:srgbClr val="071D36"/>
                      </a:solidFill>
                      <a:prstDash val="solid"/>
                      <a:round/>
                      <a:headEnd type="none" w="med" len="med"/>
                      <a:tailEnd type="none" w="med" len="med"/>
                    </a:lnT>
                    <a:lnB w="6350" cap="flat" cmpd="sng" algn="ctr">
                      <a:solidFill>
                        <a:srgbClr val="071D36"/>
                      </a:solidFill>
                      <a:prstDash val="solid"/>
                      <a:round/>
                      <a:headEnd type="none" w="med" len="med"/>
                      <a:tailEnd type="none" w="med" len="med"/>
                    </a:lnB>
                    <a:solidFill>
                      <a:srgbClr val="0F3256"/>
                    </a:solidFill>
                  </a:tcPr>
                </a:tc>
                <a:tc>
                  <a:txBody>
                    <a:bodyPr/>
                    <a:lstStyle/>
                    <a:p>
                      <a:pPr algn="ctr" indent="0" marL="0">
                        <a:buNone/>
                      </a:pPr>
                      <a:r>
                        <a:rPr lang="en-US" sz="1300" dirty="0">
                          <a:solidFill>
                            <a:srgbClr val="65C7E8"/>
                          </a:solidFill>
                        </a:rPr>
                        <a:t>●</a:t>
                      </a:r>
                      <a:endParaRPr lang="en-US" sz="1300" dirty="0"/>
                    </a:p>
                  </a:txBody>
                  <a:tcPr marL="91440" marR="91440" marT="45720" marB="45720" anchor="ctr">
                    <a:lnL w="6350" cap="flat" cmpd="sng" algn="ctr">
                      <a:solidFill>
                        <a:srgbClr val="071D36"/>
                      </a:solidFill>
                      <a:prstDash val="solid"/>
                      <a:round/>
                      <a:headEnd type="none" w="med" len="med"/>
                      <a:tailEnd type="none" w="med" len="med"/>
                    </a:lnL>
                    <a:lnR w="6350" cap="flat" cmpd="sng" algn="ctr">
                      <a:solidFill>
                        <a:srgbClr val="071D36"/>
                      </a:solidFill>
                      <a:prstDash val="solid"/>
                      <a:round/>
                      <a:headEnd type="none" w="med" len="med"/>
                      <a:tailEnd type="none" w="med" len="med"/>
                    </a:lnR>
                    <a:lnT w="6350" cap="flat" cmpd="sng" algn="ctr">
                      <a:solidFill>
                        <a:srgbClr val="071D36"/>
                      </a:solidFill>
                      <a:prstDash val="solid"/>
                      <a:round/>
                      <a:headEnd type="none" w="med" len="med"/>
                      <a:tailEnd type="none" w="med" len="med"/>
                    </a:lnT>
                    <a:lnB w="6350" cap="flat" cmpd="sng" algn="ctr">
                      <a:solidFill>
                        <a:srgbClr val="071D36"/>
                      </a:solidFill>
                      <a:prstDash val="solid"/>
                      <a:round/>
                      <a:headEnd type="none" w="med" len="med"/>
                      <a:tailEnd type="none" w="med" len="med"/>
                    </a:lnB>
                    <a:solidFill>
                      <a:srgbClr val="0F3256"/>
                    </a:solidFill>
                  </a:tcPr>
                </a:tc>
                <a:tc>
                  <a:txBody>
                    <a:bodyPr/>
                    <a:lstStyle/>
                    <a:p>
                      <a:pPr algn="ctr" indent="0" marL="0">
                        <a:buNone/>
                      </a:pPr>
                      <a:endParaRPr lang="en-US" sz="1300" dirty="0"/>
                    </a:p>
                  </a:txBody>
                  <a:tcPr marL="91440" marR="91440" marT="45720" marB="45720" anchor="ctr">
                    <a:lnL w="6350" cap="flat" cmpd="sng" algn="ctr">
                      <a:solidFill>
                        <a:srgbClr val="071D36"/>
                      </a:solidFill>
                      <a:prstDash val="solid"/>
                      <a:round/>
                      <a:headEnd type="none" w="med" len="med"/>
                      <a:tailEnd type="none" w="med" len="med"/>
                    </a:lnL>
                    <a:lnR w="6350" cap="flat" cmpd="sng" algn="ctr">
                      <a:solidFill>
                        <a:srgbClr val="071D36"/>
                      </a:solidFill>
                      <a:prstDash val="solid"/>
                      <a:round/>
                      <a:headEnd type="none" w="med" len="med"/>
                      <a:tailEnd type="none" w="med" len="med"/>
                    </a:lnR>
                    <a:lnT w="6350" cap="flat" cmpd="sng" algn="ctr">
                      <a:solidFill>
                        <a:srgbClr val="071D36"/>
                      </a:solidFill>
                      <a:prstDash val="solid"/>
                      <a:round/>
                      <a:headEnd type="none" w="med" len="med"/>
                      <a:tailEnd type="none" w="med" len="med"/>
                    </a:lnT>
                    <a:lnB w="6350" cap="flat" cmpd="sng" algn="ctr">
                      <a:solidFill>
                        <a:srgbClr val="071D36"/>
                      </a:solidFill>
                      <a:prstDash val="solid"/>
                      <a:round/>
                      <a:headEnd type="none" w="med" len="med"/>
                      <a:tailEnd type="none" w="med" len="med"/>
                    </a:lnB>
                    <a:solidFill>
                      <a:srgbClr val="0F3256"/>
                    </a:solidFill>
                  </a:tcPr>
                </a:tc>
                <a:tc>
                  <a:txBody>
                    <a:bodyPr/>
                    <a:lstStyle/>
                    <a:p>
                      <a:pPr algn="ctr" indent="0" marL="0">
                        <a:buNone/>
                      </a:pPr>
                      <a:r>
                        <a:rPr lang="en-US" sz="1300" dirty="0">
                          <a:solidFill>
                            <a:srgbClr val="65C7E8"/>
                          </a:solidFill>
                        </a:rPr>
                        <a:t>●</a:t>
                      </a:r>
                      <a:endParaRPr lang="en-US" sz="1300" dirty="0"/>
                    </a:p>
                  </a:txBody>
                  <a:tcPr marL="91440" marR="91440" marT="45720" marB="45720" anchor="ctr">
                    <a:lnL w="6350" cap="flat" cmpd="sng" algn="ctr">
                      <a:solidFill>
                        <a:srgbClr val="071D36"/>
                      </a:solidFill>
                      <a:prstDash val="solid"/>
                      <a:round/>
                      <a:headEnd type="none" w="med" len="med"/>
                      <a:tailEnd type="none" w="med" len="med"/>
                    </a:lnL>
                    <a:lnR w="6350" cap="flat" cmpd="sng" algn="ctr">
                      <a:solidFill>
                        <a:srgbClr val="071D36"/>
                      </a:solidFill>
                      <a:prstDash val="solid"/>
                      <a:round/>
                      <a:headEnd type="none" w="med" len="med"/>
                      <a:tailEnd type="none" w="med" len="med"/>
                    </a:lnR>
                    <a:lnT w="6350" cap="flat" cmpd="sng" algn="ctr">
                      <a:solidFill>
                        <a:srgbClr val="071D36"/>
                      </a:solidFill>
                      <a:prstDash val="solid"/>
                      <a:round/>
                      <a:headEnd type="none" w="med" len="med"/>
                      <a:tailEnd type="none" w="med" len="med"/>
                    </a:lnT>
                    <a:lnB w="6350" cap="flat" cmpd="sng" algn="ctr">
                      <a:solidFill>
                        <a:srgbClr val="071D36"/>
                      </a:solidFill>
                      <a:prstDash val="solid"/>
                      <a:round/>
                      <a:headEnd type="none" w="med" len="med"/>
                      <a:tailEnd type="none" w="med" len="med"/>
                    </a:lnB>
                    <a:solidFill>
                      <a:srgbClr val="0F3256"/>
                    </a:solidFill>
                  </a:tcPr>
                </a:tc>
                <a:tc>
                  <a:txBody>
                    <a:bodyPr/>
                    <a:lstStyle/>
                    <a:p>
                      <a:pPr algn="ctr" indent="0" marL="0">
                        <a:buNone/>
                      </a:pPr>
                      <a:r>
                        <a:rPr lang="en-US" sz="1300" dirty="0">
                          <a:solidFill>
                            <a:srgbClr val="65C7E8"/>
                          </a:solidFill>
                        </a:rPr>
                        <a:t>●</a:t>
                      </a:r>
                      <a:endParaRPr lang="en-US" sz="1300" dirty="0"/>
                    </a:p>
                  </a:txBody>
                  <a:tcPr marL="91440" marR="91440" marT="45720" marB="45720" anchor="ctr">
                    <a:lnL w="6350" cap="flat" cmpd="sng" algn="ctr">
                      <a:solidFill>
                        <a:srgbClr val="071D36"/>
                      </a:solidFill>
                      <a:prstDash val="solid"/>
                      <a:round/>
                      <a:headEnd type="none" w="med" len="med"/>
                      <a:tailEnd type="none" w="med" len="med"/>
                    </a:lnL>
                    <a:lnR w="6350" cap="flat" cmpd="sng" algn="ctr">
                      <a:solidFill>
                        <a:srgbClr val="071D36"/>
                      </a:solidFill>
                      <a:prstDash val="solid"/>
                      <a:round/>
                      <a:headEnd type="none" w="med" len="med"/>
                      <a:tailEnd type="none" w="med" len="med"/>
                    </a:lnR>
                    <a:lnT w="6350" cap="flat" cmpd="sng" algn="ctr">
                      <a:solidFill>
                        <a:srgbClr val="071D36"/>
                      </a:solidFill>
                      <a:prstDash val="solid"/>
                      <a:round/>
                      <a:headEnd type="none" w="med" len="med"/>
                      <a:tailEnd type="none" w="med" len="med"/>
                    </a:lnT>
                    <a:lnB w="6350" cap="flat" cmpd="sng" algn="ctr">
                      <a:solidFill>
                        <a:srgbClr val="071D36"/>
                      </a:solidFill>
                      <a:prstDash val="solid"/>
                      <a:round/>
                      <a:headEnd type="none" w="med" len="med"/>
                      <a:tailEnd type="none" w="med" len="med"/>
                    </a:lnB>
                    <a:solidFill>
                      <a:srgbClr val="0F3256"/>
                    </a:solidFill>
                  </a:tcPr>
                </a:tc>
                <a:tc>
                  <a:txBody>
                    <a:bodyPr/>
                    <a:lstStyle/>
                    <a:p>
                      <a:pPr algn="ctr" indent="0" marL="0">
                        <a:buNone/>
                      </a:pPr>
                      <a:r>
                        <a:rPr lang="en-US" sz="1300" b="1" dirty="0">
                          <a:solidFill>
                            <a:srgbClr val="FFFFFF"/>
                          </a:solidFill>
                        </a:rPr>
                        <a:t>3</a:t>
                      </a:r>
                      <a:endParaRPr lang="en-US" sz="1300" dirty="0"/>
                    </a:p>
                  </a:txBody>
                  <a:tcPr marL="91440" marR="91440" marT="45720" marB="45720" anchor="ctr">
                    <a:lnL w="6350" cap="flat" cmpd="sng" algn="ctr">
                      <a:solidFill>
                        <a:srgbClr val="071D36"/>
                      </a:solidFill>
                      <a:prstDash val="solid"/>
                      <a:round/>
                      <a:headEnd type="none" w="med" len="med"/>
                      <a:tailEnd type="none" w="med" len="med"/>
                    </a:lnL>
                    <a:lnR w="6350" cap="flat" cmpd="sng" algn="ctr">
                      <a:solidFill>
                        <a:srgbClr val="071D36"/>
                      </a:solidFill>
                      <a:prstDash val="solid"/>
                      <a:round/>
                      <a:headEnd type="none" w="med" len="med"/>
                      <a:tailEnd type="none" w="med" len="med"/>
                    </a:lnR>
                    <a:lnT w="6350" cap="flat" cmpd="sng" algn="ctr">
                      <a:solidFill>
                        <a:srgbClr val="071D36"/>
                      </a:solidFill>
                      <a:prstDash val="solid"/>
                      <a:round/>
                      <a:headEnd type="none" w="med" len="med"/>
                      <a:tailEnd type="none" w="med" len="med"/>
                    </a:lnT>
                    <a:lnB w="6350" cap="flat" cmpd="sng" algn="ctr">
                      <a:solidFill>
                        <a:srgbClr val="071D36"/>
                      </a:solidFill>
                      <a:prstDash val="solid"/>
                      <a:round/>
                      <a:headEnd type="none" w="med" len="med"/>
                      <a:tailEnd type="none" w="med" len="med"/>
                    </a:lnB>
                    <a:solidFill>
                      <a:srgbClr val="0F3256"/>
                    </a:solidFill>
                  </a:tcPr>
                </a:tc>
              </a:tr>
              <a:tr h="384048">
                <a:tc>
                  <a:txBody>
                    <a:bodyPr/>
                    <a:lstStyle/>
                    <a:p>
                      <a:pPr algn="ctr" indent="0" marL="0">
                        <a:buNone/>
                      </a:pPr>
                      <a:r>
                        <a:rPr lang="en-US" sz="1300" b="1" dirty="0">
                          <a:solidFill>
                            <a:srgbClr val="FFFFFF"/>
                          </a:solidFill>
                        </a:rPr>
                        <a:t>E7</a:t>
                      </a:r>
                      <a:endParaRPr lang="en-US" sz="1300" dirty="0"/>
                    </a:p>
                  </a:txBody>
                  <a:tcPr marL="91440" marR="91440" marT="45720" marB="45720" anchor="ctr">
                    <a:lnL w="6350" cap="flat" cmpd="sng" algn="ctr">
                      <a:solidFill>
                        <a:srgbClr val="071D36"/>
                      </a:solidFill>
                      <a:prstDash val="solid"/>
                      <a:round/>
                      <a:headEnd type="none" w="med" len="med"/>
                      <a:tailEnd type="none" w="med" len="med"/>
                    </a:lnL>
                    <a:lnR w="6350" cap="flat" cmpd="sng" algn="ctr">
                      <a:solidFill>
                        <a:srgbClr val="071D36"/>
                      </a:solidFill>
                      <a:prstDash val="solid"/>
                      <a:round/>
                      <a:headEnd type="none" w="med" len="med"/>
                      <a:tailEnd type="none" w="med" len="med"/>
                    </a:lnR>
                    <a:lnT w="6350" cap="flat" cmpd="sng" algn="ctr">
                      <a:solidFill>
                        <a:srgbClr val="071D36"/>
                      </a:solidFill>
                      <a:prstDash val="solid"/>
                      <a:round/>
                      <a:headEnd type="none" w="med" len="med"/>
                      <a:tailEnd type="none" w="med" len="med"/>
                    </a:lnT>
                    <a:lnB w="6350" cap="flat" cmpd="sng" algn="ctr">
                      <a:solidFill>
                        <a:srgbClr val="071D36"/>
                      </a:solidFill>
                      <a:prstDash val="solid"/>
                      <a:round/>
                      <a:headEnd type="none" w="med" len="med"/>
                      <a:tailEnd type="none" w="med" len="med"/>
                    </a:lnB>
                    <a:solidFill>
                      <a:srgbClr val="0F3256"/>
                    </a:solidFill>
                  </a:tcPr>
                </a:tc>
                <a:tc>
                  <a:txBody>
                    <a:bodyPr/>
                    <a:lstStyle/>
                    <a:p>
                      <a:pPr indent="0" marL="0">
                        <a:buNone/>
                      </a:pPr>
                      <a:r>
                        <a:rPr lang="en-US" sz="1300" dirty="0">
                          <a:solidFill>
                            <a:srgbClr val="FFFFFF"/>
                          </a:solidFill>
                        </a:rPr>
                        <a:t>Destacar profesor fijo, asesor y reporte</a:t>
                      </a:r>
                      <a:endParaRPr lang="en-US" sz="1300" dirty="0"/>
                    </a:p>
                  </a:txBody>
                  <a:tcPr marL="91440" marR="91440" marT="45720" marB="45720" anchor="ctr">
                    <a:lnL w="6350" cap="flat" cmpd="sng" algn="ctr">
                      <a:solidFill>
                        <a:srgbClr val="071D36"/>
                      </a:solidFill>
                      <a:prstDash val="solid"/>
                      <a:round/>
                      <a:headEnd type="none" w="med" len="med"/>
                      <a:tailEnd type="none" w="med" len="med"/>
                    </a:lnL>
                    <a:lnR w="6350" cap="flat" cmpd="sng" algn="ctr">
                      <a:solidFill>
                        <a:srgbClr val="071D36"/>
                      </a:solidFill>
                      <a:prstDash val="solid"/>
                      <a:round/>
                      <a:headEnd type="none" w="med" len="med"/>
                      <a:tailEnd type="none" w="med" len="med"/>
                    </a:lnR>
                    <a:lnT w="6350" cap="flat" cmpd="sng" algn="ctr">
                      <a:solidFill>
                        <a:srgbClr val="071D36"/>
                      </a:solidFill>
                      <a:prstDash val="solid"/>
                      <a:round/>
                      <a:headEnd type="none" w="med" len="med"/>
                      <a:tailEnd type="none" w="med" len="med"/>
                    </a:lnT>
                    <a:lnB w="6350" cap="flat" cmpd="sng" algn="ctr">
                      <a:solidFill>
                        <a:srgbClr val="071D36"/>
                      </a:solidFill>
                      <a:prstDash val="solid"/>
                      <a:round/>
                      <a:headEnd type="none" w="med" len="med"/>
                      <a:tailEnd type="none" w="med" len="med"/>
                    </a:lnB>
                    <a:solidFill>
                      <a:srgbClr val="0F3256"/>
                    </a:solidFill>
                  </a:tcPr>
                </a:tc>
                <a:tc>
                  <a:txBody>
                    <a:bodyPr/>
                    <a:lstStyle/>
                    <a:p>
                      <a:pPr algn="ctr" indent="0" marL="0">
                        <a:buNone/>
                      </a:pPr>
                      <a:r>
                        <a:rPr lang="en-US" sz="1300" dirty="0">
                          <a:solidFill>
                            <a:srgbClr val="65C7E8"/>
                          </a:solidFill>
                        </a:rPr>
                        <a:t>●</a:t>
                      </a:r>
                      <a:endParaRPr lang="en-US" sz="1300" dirty="0"/>
                    </a:p>
                  </a:txBody>
                  <a:tcPr marL="91440" marR="91440" marT="45720" marB="45720" anchor="ctr">
                    <a:lnL w="6350" cap="flat" cmpd="sng" algn="ctr">
                      <a:solidFill>
                        <a:srgbClr val="071D36"/>
                      </a:solidFill>
                      <a:prstDash val="solid"/>
                      <a:round/>
                      <a:headEnd type="none" w="med" len="med"/>
                      <a:tailEnd type="none" w="med" len="med"/>
                    </a:lnL>
                    <a:lnR w="6350" cap="flat" cmpd="sng" algn="ctr">
                      <a:solidFill>
                        <a:srgbClr val="071D36"/>
                      </a:solidFill>
                      <a:prstDash val="solid"/>
                      <a:round/>
                      <a:headEnd type="none" w="med" len="med"/>
                      <a:tailEnd type="none" w="med" len="med"/>
                    </a:lnR>
                    <a:lnT w="6350" cap="flat" cmpd="sng" algn="ctr">
                      <a:solidFill>
                        <a:srgbClr val="071D36"/>
                      </a:solidFill>
                      <a:prstDash val="solid"/>
                      <a:round/>
                      <a:headEnd type="none" w="med" len="med"/>
                      <a:tailEnd type="none" w="med" len="med"/>
                    </a:lnT>
                    <a:lnB w="6350" cap="flat" cmpd="sng" algn="ctr">
                      <a:solidFill>
                        <a:srgbClr val="071D36"/>
                      </a:solidFill>
                      <a:prstDash val="solid"/>
                      <a:round/>
                      <a:headEnd type="none" w="med" len="med"/>
                      <a:tailEnd type="none" w="med" len="med"/>
                    </a:lnB>
                    <a:solidFill>
                      <a:srgbClr val="0F3256"/>
                    </a:solidFill>
                  </a:tcPr>
                </a:tc>
                <a:tc>
                  <a:txBody>
                    <a:bodyPr/>
                    <a:lstStyle/>
                    <a:p>
                      <a:pPr algn="ctr" indent="0" marL="0">
                        <a:buNone/>
                      </a:pPr>
                      <a:r>
                        <a:rPr lang="en-US" sz="1300" dirty="0">
                          <a:solidFill>
                            <a:srgbClr val="65C7E8"/>
                          </a:solidFill>
                        </a:rPr>
                        <a:t>●</a:t>
                      </a:r>
                      <a:endParaRPr lang="en-US" sz="1300" dirty="0"/>
                    </a:p>
                  </a:txBody>
                  <a:tcPr marL="91440" marR="91440" marT="45720" marB="45720" anchor="ctr">
                    <a:lnL w="6350" cap="flat" cmpd="sng" algn="ctr">
                      <a:solidFill>
                        <a:srgbClr val="071D36"/>
                      </a:solidFill>
                      <a:prstDash val="solid"/>
                      <a:round/>
                      <a:headEnd type="none" w="med" len="med"/>
                      <a:tailEnd type="none" w="med" len="med"/>
                    </a:lnL>
                    <a:lnR w="6350" cap="flat" cmpd="sng" algn="ctr">
                      <a:solidFill>
                        <a:srgbClr val="071D36"/>
                      </a:solidFill>
                      <a:prstDash val="solid"/>
                      <a:round/>
                      <a:headEnd type="none" w="med" len="med"/>
                      <a:tailEnd type="none" w="med" len="med"/>
                    </a:lnR>
                    <a:lnT w="6350" cap="flat" cmpd="sng" algn="ctr">
                      <a:solidFill>
                        <a:srgbClr val="071D36"/>
                      </a:solidFill>
                      <a:prstDash val="solid"/>
                      <a:round/>
                      <a:headEnd type="none" w="med" len="med"/>
                      <a:tailEnd type="none" w="med" len="med"/>
                    </a:lnT>
                    <a:lnB w="6350" cap="flat" cmpd="sng" algn="ctr">
                      <a:solidFill>
                        <a:srgbClr val="071D36"/>
                      </a:solidFill>
                      <a:prstDash val="solid"/>
                      <a:round/>
                      <a:headEnd type="none" w="med" len="med"/>
                      <a:tailEnd type="none" w="med" len="med"/>
                    </a:lnB>
                    <a:solidFill>
                      <a:srgbClr val="0F3256"/>
                    </a:solidFill>
                  </a:tcPr>
                </a:tc>
                <a:tc>
                  <a:txBody>
                    <a:bodyPr/>
                    <a:lstStyle/>
                    <a:p>
                      <a:pPr algn="ctr" indent="0" marL="0">
                        <a:buNone/>
                      </a:pPr>
                      <a:endParaRPr lang="en-US" sz="1300" dirty="0"/>
                    </a:p>
                  </a:txBody>
                  <a:tcPr marL="91440" marR="91440" marT="45720" marB="45720" anchor="ctr">
                    <a:lnL w="6350" cap="flat" cmpd="sng" algn="ctr">
                      <a:solidFill>
                        <a:srgbClr val="071D36"/>
                      </a:solidFill>
                      <a:prstDash val="solid"/>
                      <a:round/>
                      <a:headEnd type="none" w="med" len="med"/>
                      <a:tailEnd type="none" w="med" len="med"/>
                    </a:lnL>
                    <a:lnR w="6350" cap="flat" cmpd="sng" algn="ctr">
                      <a:solidFill>
                        <a:srgbClr val="071D36"/>
                      </a:solidFill>
                      <a:prstDash val="solid"/>
                      <a:round/>
                      <a:headEnd type="none" w="med" len="med"/>
                      <a:tailEnd type="none" w="med" len="med"/>
                    </a:lnR>
                    <a:lnT w="6350" cap="flat" cmpd="sng" algn="ctr">
                      <a:solidFill>
                        <a:srgbClr val="071D36"/>
                      </a:solidFill>
                      <a:prstDash val="solid"/>
                      <a:round/>
                      <a:headEnd type="none" w="med" len="med"/>
                      <a:tailEnd type="none" w="med" len="med"/>
                    </a:lnT>
                    <a:lnB w="6350" cap="flat" cmpd="sng" algn="ctr">
                      <a:solidFill>
                        <a:srgbClr val="071D36"/>
                      </a:solidFill>
                      <a:prstDash val="solid"/>
                      <a:round/>
                      <a:headEnd type="none" w="med" len="med"/>
                      <a:tailEnd type="none" w="med" len="med"/>
                    </a:lnB>
                    <a:solidFill>
                      <a:srgbClr val="0F3256"/>
                    </a:solidFill>
                  </a:tcPr>
                </a:tc>
                <a:tc>
                  <a:txBody>
                    <a:bodyPr/>
                    <a:lstStyle/>
                    <a:p>
                      <a:pPr algn="ctr" indent="0" marL="0">
                        <a:buNone/>
                      </a:pPr>
                      <a:r>
                        <a:rPr lang="en-US" sz="1300" dirty="0">
                          <a:solidFill>
                            <a:srgbClr val="65C7E8"/>
                          </a:solidFill>
                        </a:rPr>
                        <a:t>●</a:t>
                      </a:r>
                      <a:endParaRPr lang="en-US" sz="1300" dirty="0"/>
                    </a:p>
                  </a:txBody>
                  <a:tcPr marL="91440" marR="91440" marT="45720" marB="45720" anchor="ctr">
                    <a:lnL w="6350" cap="flat" cmpd="sng" algn="ctr">
                      <a:solidFill>
                        <a:srgbClr val="071D36"/>
                      </a:solidFill>
                      <a:prstDash val="solid"/>
                      <a:round/>
                      <a:headEnd type="none" w="med" len="med"/>
                      <a:tailEnd type="none" w="med" len="med"/>
                    </a:lnL>
                    <a:lnR w="6350" cap="flat" cmpd="sng" algn="ctr">
                      <a:solidFill>
                        <a:srgbClr val="071D36"/>
                      </a:solidFill>
                      <a:prstDash val="solid"/>
                      <a:round/>
                      <a:headEnd type="none" w="med" len="med"/>
                      <a:tailEnd type="none" w="med" len="med"/>
                    </a:lnR>
                    <a:lnT w="6350" cap="flat" cmpd="sng" algn="ctr">
                      <a:solidFill>
                        <a:srgbClr val="071D36"/>
                      </a:solidFill>
                      <a:prstDash val="solid"/>
                      <a:round/>
                      <a:headEnd type="none" w="med" len="med"/>
                      <a:tailEnd type="none" w="med" len="med"/>
                    </a:lnT>
                    <a:lnB w="6350" cap="flat" cmpd="sng" algn="ctr">
                      <a:solidFill>
                        <a:srgbClr val="071D36"/>
                      </a:solidFill>
                      <a:prstDash val="solid"/>
                      <a:round/>
                      <a:headEnd type="none" w="med" len="med"/>
                      <a:tailEnd type="none" w="med" len="med"/>
                    </a:lnB>
                    <a:solidFill>
                      <a:srgbClr val="0F3256"/>
                    </a:solidFill>
                  </a:tcPr>
                </a:tc>
                <a:tc>
                  <a:txBody>
                    <a:bodyPr/>
                    <a:lstStyle/>
                    <a:p>
                      <a:pPr algn="ctr" indent="0" marL="0">
                        <a:buNone/>
                      </a:pPr>
                      <a:r>
                        <a:rPr lang="en-US" sz="1300" b="1" dirty="0">
                          <a:solidFill>
                            <a:srgbClr val="FFFFFF"/>
                          </a:solidFill>
                        </a:rPr>
                        <a:t>3</a:t>
                      </a:r>
                      <a:endParaRPr lang="en-US" sz="1300" dirty="0"/>
                    </a:p>
                  </a:txBody>
                  <a:tcPr marL="91440" marR="91440" marT="45720" marB="45720" anchor="ctr">
                    <a:lnL w="6350" cap="flat" cmpd="sng" algn="ctr">
                      <a:solidFill>
                        <a:srgbClr val="071D36"/>
                      </a:solidFill>
                      <a:prstDash val="solid"/>
                      <a:round/>
                      <a:headEnd type="none" w="med" len="med"/>
                      <a:tailEnd type="none" w="med" len="med"/>
                    </a:lnL>
                    <a:lnR w="6350" cap="flat" cmpd="sng" algn="ctr">
                      <a:solidFill>
                        <a:srgbClr val="071D36"/>
                      </a:solidFill>
                      <a:prstDash val="solid"/>
                      <a:round/>
                      <a:headEnd type="none" w="med" len="med"/>
                      <a:tailEnd type="none" w="med" len="med"/>
                    </a:lnR>
                    <a:lnT w="6350" cap="flat" cmpd="sng" algn="ctr">
                      <a:solidFill>
                        <a:srgbClr val="071D36"/>
                      </a:solidFill>
                      <a:prstDash val="solid"/>
                      <a:round/>
                      <a:headEnd type="none" w="med" len="med"/>
                      <a:tailEnd type="none" w="med" len="med"/>
                    </a:lnT>
                    <a:lnB w="6350" cap="flat" cmpd="sng" algn="ctr">
                      <a:solidFill>
                        <a:srgbClr val="071D36"/>
                      </a:solidFill>
                      <a:prstDash val="solid"/>
                      <a:round/>
                      <a:headEnd type="none" w="med" len="med"/>
                      <a:tailEnd type="none" w="med" len="med"/>
                    </a:lnB>
                    <a:solidFill>
                      <a:srgbClr val="0F3256"/>
                    </a:solidFill>
                  </a:tcPr>
                </a:tc>
              </a:tr>
              <a:tr h="384048">
                <a:tc>
                  <a:txBody>
                    <a:bodyPr/>
                    <a:lstStyle/>
                    <a:p>
                      <a:pPr algn="ctr" indent="0" marL="0">
                        <a:buNone/>
                      </a:pPr>
                      <a:r>
                        <a:rPr lang="en-US" sz="1300" b="1" dirty="0">
                          <a:solidFill>
                            <a:srgbClr val="C9D6DF"/>
                          </a:solidFill>
                        </a:rPr>
                        <a:t>E3</a:t>
                      </a:r>
                      <a:endParaRPr lang="en-US" sz="1300" dirty="0"/>
                    </a:p>
                  </a:txBody>
                  <a:tcPr marL="91440" marR="91440" marT="45720" marB="45720" anchor="ctr">
                    <a:lnL w="6350" cap="flat" cmpd="sng" algn="ctr">
                      <a:solidFill>
                        <a:srgbClr val="071D36"/>
                      </a:solidFill>
                      <a:prstDash val="solid"/>
                      <a:round/>
                      <a:headEnd type="none" w="med" len="med"/>
                      <a:tailEnd type="none" w="med" len="med"/>
                    </a:lnL>
                    <a:lnR w="6350" cap="flat" cmpd="sng" algn="ctr">
                      <a:solidFill>
                        <a:srgbClr val="071D36"/>
                      </a:solidFill>
                      <a:prstDash val="solid"/>
                      <a:round/>
                      <a:headEnd type="none" w="med" len="med"/>
                      <a:tailEnd type="none" w="med" len="med"/>
                    </a:lnR>
                    <a:lnT w="6350" cap="flat" cmpd="sng" algn="ctr">
                      <a:solidFill>
                        <a:srgbClr val="071D36"/>
                      </a:solidFill>
                      <a:prstDash val="solid"/>
                      <a:round/>
                      <a:headEnd type="none" w="med" len="med"/>
                      <a:tailEnd type="none" w="med" len="med"/>
                    </a:lnT>
                    <a:lnB w="6350" cap="flat" cmpd="sng" algn="ctr">
                      <a:solidFill>
                        <a:srgbClr val="071D36"/>
                      </a:solidFill>
                      <a:prstDash val="solid"/>
                      <a:round/>
                      <a:headEnd type="none" w="med" len="med"/>
                      <a:tailEnd type="none" w="med" len="med"/>
                    </a:lnB>
                    <a:solidFill>
                      <a:srgbClr val="071D36"/>
                    </a:solidFill>
                  </a:tcPr>
                </a:tc>
                <a:tc>
                  <a:txBody>
                    <a:bodyPr/>
                    <a:lstStyle/>
                    <a:p>
                      <a:pPr indent="0" marL="0">
                        <a:buNone/>
                      </a:pPr>
                      <a:r>
                        <a:rPr lang="en-US" sz="1300" dirty="0">
                          <a:solidFill>
                            <a:srgbClr val="C9D6DF"/>
                          </a:solidFill>
                        </a:rPr>
                        <a:t>Familias de otras ciudades</a:t>
                      </a:r>
                      <a:endParaRPr lang="en-US" sz="1300" dirty="0"/>
                    </a:p>
                  </a:txBody>
                  <a:tcPr marL="91440" marR="91440" marT="45720" marB="45720" anchor="ctr">
                    <a:lnL w="6350" cap="flat" cmpd="sng" algn="ctr">
                      <a:solidFill>
                        <a:srgbClr val="071D36"/>
                      </a:solidFill>
                      <a:prstDash val="solid"/>
                      <a:round/>
                      <a:headEnd type="none" w="med" len="med"/>
                      <a:tailEnd type="none" w="med" len="med"/>
                    </a:lnL>
                    <a:lnR w="6350" cap="flat" cmpd="sng" algn="ctr">
                      <a:solidFill>
                        <a:srgbClr val="071D36"/>
                      </a:solidFill>
                      <a:prstDash val="solid"/>
                      <a:round/>
                      <a:headEnd type="none" w="med" len="med"/>
                      <a:tailEnd type="none" w="med" len="med"/>
                    </a:lnR>
                    <a:lnT w="6350" cap="flat" cmpd="sng" algn="ctr">
                      <a:solidFill>
                        <a:srgbClr val="071D36"/>
                      </a:solidFill>
                      <a:prstDash val="solid"/>
                      <a:round/>
                      <a:headEnd type="none" w="med" len="med"/>
                      <a:tailEnd type="none" w="med" len="med"/>
                    </a:lnT>
                    <a:lnB w="6350" cap="flat" cmpd="sng" algn="ctr">
                      <a:solidFill>
                        <a:srgbClr val="071D36"/>
                      </a:solidFill>
                      <a:prstDash val="solid"/>
                      <a:round/>
                      <a:headEnd type="none" w="med" len="med"/>
                      <a:tailEnd type="none" w="med" len="med"/>
                    </a:lnB>
                    <a:solidFill>
                      <a:srgbClr val="071D36"/>
                    </a:solidFill>
                  </a:tcPr>
                </a:tc>
                <a:tc>
                  <a:txBody>
                    <a:bodyPr/>
                    <a:lstStyle/>
                    <a:p>
                      <a:pPr algn="ctr" indent="0" marL="0">
                        <a:buNone/>
                      </a:pPr>
                      <a:r>
                        <a:rPr lang="en-US" sz="1300" dirty="0">
                          <a:solidFill>
                            <a:srgbClr val="65C7E8"/>
                          </a:solidFill>
                        </a:rPr>
                        <a:t>●</a:t>
                      </a:r>
                      <a:endParaRPr lang="en-US" sz="1300" dirty="0"/>
                    </a:p>
                  </a:txBody>
                  <a:tcPr marL="91440" marR="91440" marT="45720" marB="45720" anchor="ctr">
                    <a:lnL w="6350" cap="flat" cmpd="sng" algn="ctr">
                      <a:solidFill>
                        <a:srgbClr val="071D36"/>
                      </a:solidFill>
                      <a:prstDash val="solid"/>
                      <a:round/>
                      <a:headEnd type="none" w="med" len="med"/>
                      <a:tailEnd type="none" w="med" len="med"/>
                    </a:lnL>
                    <a:lnR w="6350" cap="flat" cmpd="sng" algn="ctr">
                      <a:solidFill>
                        <a:srgbClr val="071D36"/>
                      </a:solidFill>
                      <a:prstDash val="solid"/>
                      <a:round/>
                      <a:headEnd type="none" w="med" len="med"/>
                      <a:tailEnd type="none" w="med" len="med"/>
                    </a:lnR>
                    <a:lnT w="6350" cap="flat" cmpd="sng" algn="ctr">
                      <a:solidFill>
                        <a:srgbClr val="071D36"/>
                      </a:solidFill>
                      <a:prstDash val="solid"/>
                      <a:round/>
                      <a:headEnd type="none" w="med" len="med"/>
                      <a:tailEnd type="none" w="med" len="med"/>
                    </a:lnT>
                    <a:lnB w="6350" cap="flat" cmpd="sng" algn="ctr">
                      <a:solidFill>
                        <a:srgbClr val="071D36"/>
                      </a:solidFill>
                      <a:prstDash val="solid"/>
                      <a:round/>
                      <a:headEnd type="none" w="med" len="med"/>
                      <a:tailEnd type="none" w="med" len="med"/>
                    </a:lnB>
                    <a:solidFill>
                      <a:srgbClr val="071D36"/>
                    </a:solidFill>
                  </a:tcPr>
                </a:tc>
                <a:tc>
                  <a:txBody>
                    <a:bodyPr/>
                    <a:lstStyle/>
                    <a:p>
                      <a:pPr algn="ctr" indent="0" marL="0">
                        <a:buNone/>
                      </a:pPr>
                      <a:endParaRPr lang="en-US" sz="1300" dirty="0"/>
                    </a:p>
                  </a:txBody>
                  <a:tcPr marL="91440" marR="91440" marT="45720" marB="45720" anchor="ctr">
                    <a:lnL w="6350" cap="flat" cmpd="sng" algn="ctr">
                      <a:solidFill>
                        <a:srgbClr val="071D36"/>
                      </a:solidFill>
                      <a:prstDash val="solid"/>
                      <a:round/>
                      <a:headEnd type="none" w="med" len="med"/>
                      <a:tailEnd type="none" w="med" len="med"/>
                    </a:lnL>
                    <a:lnR w="6350" cap="flat" cmpd="sng" algn="ctr">
                      <a:solidFill>
                        <a:srgbClr val="071D36"/>
                      </a:solidFill>
                      <a:prstDash val="solid"/>
                      <a:round/>
                      <a:headEnd type="none" w="med" len="med"/>
                      <a:tailEnd type="none" w="med" len="med"/>
                    </a:lnR>
                    <a:lnT w="6350" cap="flat" cmpd="sng" algn="ctr">
                      <a:solidFill>
                        <a:srgbClr val="071D36"/>
                      </a:solidFill>
                      <a:prstDash val="solid"/>
                      <a:round/>
                      <a:headEnd type="none" w="med" len="med"/>
                      <a:tailEnd type="none" w="med" len="med"/>
                    </a:lnT>
                    <a:lnB w="6350" cap="flat" cmpd="sng" algn="ctr">
                      <a:solidFill>
                        <a:srgbClr val="071D36"/>
                      </a:solidFill>
                      <a:prstDash val="solid"/>
                      <a:round/>
                      <a:headEnd type="none" w="med" len="med"/>
                      <a:tailEnd type="none" w="med" len="med"/>
                    </a:lnB>
                    <a:solidFill>
                      <a:srgbClr val="071D36"/>
                    </a:solidFill>
                  </a:tcPr>
                </a:tc>
                <a:tc>
                  <a:txBody>
                    <a:bodyPr/>
                    <a:lstStyle/>
                    <a:p>
                      <a:pPr algn="ctr" indent="0" marL="0">
                        <a:buNone/>
                      </a:pPr>
                      <a:r>
                        <a:rPr lang="en-US" sz="1300" dirty="0">
                          <a:solidFill>
                            <a:srgbClr val="65C7E8"/>
                          </a:solidFill>
                        </a:rPr>
                        <a:t>●</a:t>
                      </a:r>
                      <a:endParaRPr lang="en-US" sz="1300" dirty="0"/>
                    </a:p>
                  </a:txBody>
                  <a:tcPr marL="91440" marR="91440" marT="45720" marB="45720" anchor="ctr">
                    <a:lnL w="6350" cap="flat" cmpd="sng" algn="ctr">
                      <a:solidFill>
                        <a:srgbClr val="071D36"/>
                      </a:solidFill>
                      <a:prstDash val="solid"/>
                      <a:round/>
                      <a:headEnd type="none" w="med" len="med"/>
                      <a:tailEnd type="none" w="med" len="med"/>
                    </a:lnL>
                    <a:lnR w="6350" cap="flat" cmpd="sng" algn="ctr">
                      <a:solidFill>
                        <a:srgbClr val="071D36"/>
                      </a:solidFill>
                      <a:prstDash val="solid"/>
                      <a:round/>
                      <a:headEnd type="none" w="med" len="med"/>
                      <a:tailEnd type="none" w="med" len="med"/>
                    </a:lnR>
                    <a:lnT w="6350" cap="flat" cmpd="sng" algn="ctr">
                      <a:solidFill>
                        <a:srgbClr val="071D36"/>
                      </a:solidFill>
                      <a:prstDash val="solid"/>
                      <a:round/>
                      <a:headEnd type="none" w="med" len="med"/>
                      <a:tailEnd type="none" w="med" len="med"/>
                    </a:lnT>
                    <a:lnB w="6350" cap="flat" cmpd="sng" algn="ctr">
                      <a:solidFill>
                        <a:srgbClr val="071D36"/>
                      </a:solidFill>
                      <a:prstDash val="solid"/>
                      <a:round/>
                      <a:headEnd type="none" w="med" len="med"/>
                      <a:tailEnd type="none" w="med" len="med"/>
                    </a:lnB>
                    <a:solidFill>
                      <a:srgbClr val="071D36"/>
                    </a:solidFill>
                  </a:tcPr>
                </a:tc>
                <a:tc>
                  <a:txBody>
                    <a:bodyPr/>
                    <a:lstStyle/>
                    <a:p>
                      <a:pPr algn="ctr" indent="0" marL="0">
                        <a:buNone/>
                      </a:pPr>
                      <a:endParaRPr lang="en-US" sz="1300" dirty="0"/>
                    </a:p>
                  </a:txBody>
                  <a:tcPr marL="91440" marR="91440" marT="45720" marB="45720" anchor="ctr">
                    <a:lnL w="6350" cap="flat" cmpd="sng" algn="ctr">
                      <a:solidFill>
                        <a:srgbClr val="071D36"/>
                      </a:solidFill>
                      <a:prstDash val="solid"/>
                      <a:round/>
                      <a:headEnd type="none" w="med" len="med"/>
                      <a:tailEnd type="none" w="med" len="med"/>
                    </a:lnL>
                    <a:lnR w="6350" cap="flat" cmpd="sng" algn="ctr">
                      <a:solidFill>
                        <a:srgbClr val="071D36"/>
                      </a:solidFill>
                      <a:prstDash val="solid"/>
                      <a:round/>
                      <a:headEnd type="none" w="med" len="med"/>
                      <a:tailEnd type="none" w="med" len="med"/>
                    </a:lnR>
                    <a:lnT w="6350" cap="flat" cmpd="sng" algn="ctr">
                      <a:solidFill>
                        <a:srgbClr val="071D36"/>
                      </a:solidFill>
                      <a:prstDash val="solid"/>
                      <a:round/>
                      <a:headEnd type="none" w="med" len="med"/>
                      <a:tailEnd type="none" w="med" len="med"/>
                    </a:lnT>
                    <a:lnB w="6350" cap="flat" cmpd="sng" algn="ctr">
                      <a:solidFill>
                        <a:srgbClr val="071D36"/>
                      </a:solidFill>
                      <a:prstDash val="solid"/>
                      <a:round/>
                      <a:headEnd type="none" w="med" len="med"/>
                      <a:tailEnd type="none" w="med" len="med"/>
                    </a:lnB>
                    <a:solidFill>
                      <a:srgbClr val="071D36"/>
                    </a:solidFill>
                  </a:tcPr>
                </a:tc>
                <a:tc>
                  <a:txBody>
                    <a:bodyPr/>
                    <a:lstStyle/>
                    <a:p>
                      <a:pPr algn="ctr" indent="0" marL="0">
                        <a:buNone/>
                      </a:pPr>
                      <a:r>
                        <a:rPr lang="en-US" sz="1300" b="1" dirty="0">
                          <a:solidFill>
                            <a:srgbClr val="C9D6DF"/>
                          </a:solidFill>
                        </a:rPr>
                        <a:t>2</a:t>
                      </a:r>
                      <a:endParaRPr lang="en-US" sz="1300" dirty="0"/>
                    </a:p>
                  </a:txBody>
                  <a:tcPr marL="91440" marR="91440" marT="45720" marB="45720" anchor="ctr">
                    <a:lnL w="6350" cap="flat" cmpd="sng" algn="ctr">
                      <a:solidFill>
                        <a:srgbClr val="071D36"/>
                      </a:solidFill>
                      <a:prstDash val="solid"/>
                      <a:round/>
                      <a:headEnd type="none" w="med" len="med"/>
                      <a:tailEnd type="none" w="med" len="med"/>
                    </a:lnL>
                    <a:lnR w="6350" cap="flat" cmpd="sng" algn="ctr">
                      <a:solidFill>
                        <a:srgbClr val="071D36"/>
                      </a:solidFill>
                      <a:prstDash val="solid"/>
                      <a:round/>
                      <a:headEnd type="none" w="med" len="med"/>
                      <a:tailEnd type="none" w="med" len="med"/>
                    </a:lnR>
                    <a:lnT w="6350" cap="flat" cmpd="sng" algn="ctr">
                      <a:solidFill>
                        <a:srgbClr val="071D36"/>
                      </a:solidFill>
                      <a:prstDash val="solid"/>
                      <a:round/>
                      <a:headEnd type="none" w="med" len="med"/>
                      <a:tailEnd type="none" w="med" len="med"/>
                    </a:lnT>
                    <a:lnB w="6350" cap="flat" cmpd="sng" algn="ctr">
                      <a:solidFill>
                        <a:srgbClr val="071D36"/>
                      </a:solidFill>
                      <a:prstDash val="solid"/>
                      <a:round/>
                      <a:headEnd type="none" w="med" len="med"/>
                      <a:tailEnd type="none" w="med" len="med"/>
                    </a:lnB>
                    <a:solidFill>
                      <a:srgbClr val="071D36"/>
                    </a:solidFill>
                  </a:tcPr>
                </a:tc>
              </a:tr>
              <a:tr h="384048">
                <a:tc>
                  <a:txBody>
                    <a:bodyPr/>
                    <a:lstStyle/>
                    <a:p>
                      <a:pPr algn="ctr" indent="0" marL="0">
                        <a:buNone/>
                      </a:pPr>
                      <a:r>
                        <a:rPr lang="en-US" sz="1300" b="1" dirty="0">
                          <a:solidFill>
                            <a:srgbClr val="C9D6DF"/>
                          </a:solidFill>
                        </a:rPr>
                        <a:t>E6</a:t>
                      </a:r>
                      <a:endParaRPr lang="en-US" sz="1300" dirty="0"/>
                    </a:p>
                  </a:txBody>
                  <a:tcPr marL="91440" marR="91440" marT="45720" marB="45720" anchor="ctr">
                    <a:lnL w="6350" cap="flat" cmpd="sng" algn="ctr">
                      <a:solidFill>
                        <a:srgbClr val="071D36"/>
                      </a:solidFill>
                      <a:prstDash val="solid"/>
                      <a:round/>
                      <a:headEnd type="none" w="med" len="med"/>
                      <a:tailEnd type="none" w="med" len="med"/>
                    </a:lnL>
                    <a:lnR w="6350" cap="flat" cmpd="sng" algn="ctr">
                      <a:solidFill>
                        <a:srgbClr val="071D36"/>
                      </a:solidFill>
                      <a:prstDash val="solid"/>
                      <a:round/>
                      <a:headEnd type="none" w="med" len="med"/>
                      <a:tailEnd type="none" w="med" len="med"/>
                    </a:lnR>
                    <a:lnT w="6350" cap="flat" cmpd="sng" algn="ctr">
                      <a:solidFill>
                        <a:srgbClr val="071D36"/>
                      </a:solidFill>
                      <a:prstDash val="solid"/>
                      <a:round/>
                      <a:headEnd type="none" w="med" len="med"/>
                      <a:tailEnd type="none" w="med" len="med"/>
                    </a:lnT>
                    <a:lnB w="6350" cap="flat" cmpd="sng" algn="ctr">
                      <a:solidFill>
                        <a:srgbClr val="071D36"/>
                      </a:solidFill>
                      <a:prstDash val="solid"/>
                      <a:round/>
                      <a:headEnd type="none" w="med" len="med"/>
                      <a:tailEnd type="none" w="med" len="med"/>
                    </a:lnB>
                    <a:solidFill>
                      <a:srgbClr val="071D36"/>
                    </a:solidFill>
                  </a:tcPr>
                </a:tc>
                <a:tc>
                  <a:txBody>
                    <a:bodyPr/>
                    <a:lstStyle/>
                    <a:p>
                      <a:pPr indent="0" marL="0">
                        <a:buNone/>
                      </a:pPr>
                      <a:r>
                        <a:rPr lang="en-US" sz="1300" dirty="0">
                          <a:solidFill>
                            <a:srgbClr val="C9D6DF"/>
                          </a:solidFill>
                        </a:rPr>
                        <a:t>Alianzas con colegios y empresas</a:t>
                      </a:r>
                      <a:endParaRPr lang="en-US" sz="1300" dirty="0"/>
                    </a:p>
                  </a:txBody>
                  <a:tcPr marL="91440" marR="91440" marT="45720" marB="45720" anchor="ctr">
                    <a:lnL w="6350" cap="flat" cmpd="sng" algn="ctr">
                      <a:solidFill>
                        <a:srgbClr val="071D36"/>
                      </a:solidFill>
                      <a:prstDash val="solid"/>
                      <a:round/>
                      <a:headEnd type="none" w="med" len="med"/>
                      <a:tailEnd type="none" w="med" len="med"/>
                    </a:lnL>
                    <a:lnR w="6350" cap="flat" cmpd="sng" algn="ctr">
                      <a:solidFill>
                        <a:srgbClr val="071D36"/>
                      </a:solidFill>
                      <a:prstDash val="solid"/>
                      <a:round/>
                      <a:headEnd type="none" w="med" len="med"/>
                      <a:tailEnd type="none" w="med" len="med"/>
                    </a:lnR>
                    <a:lnT w="6350" cap="flat" cmpd="sng" algn="ctr">
                      <a:solidFill>
                        <a:srgbClr val="071D36"/>
                      </a:solidFill>
                      <a:prstDash val="solid"/>
                      <a:round/>
                      <a:headEnd type="none" w="med" len="med"/>
                      <a:tailEnd type="none" w="med" len="med"/>
                    </a:lnT>
                    <a:lnB w="6350" cap="flat" cmpd="sng" algn="ctr">
                      <a:solidFill>
                        <a:srgbClr val="071D36"/>
                      </a:solidFill>
                      <a:prstDash val="solid"/>
                      <a:round/>
                      <a:headEnd type="none" w="med" len="med"/>
                      <a:tailEnd type="none" w="med" len="med"/>
                    </a:lnB>
                    <a:solidFill>
                      <a:srgbClr val="071D36"/>
                    </a:solidFill>
                  </a:tcPr>
                </a:tc>
                <a:tc>
                  <a:txBody>
                    <a:bodyPr/>
                    <a:lstStyle/>
                    <a:p>
                      <a:pPr algn="ctr" indent="0" marL="0">
                        <a:buNone/>
                      </a:pPr>
                      <a:r>
                        <a:rPr lang="en-US" sz="1300" dirty="0">
                          <a:solidFill>
                            <a:srgbClr val="65C7E8"/>
                          </a:solidFill>
                        </a:rPr>
                        <a:t>●</a:t>
                      </a:r>
                      <a:endParaRPr lang="en-US" sz="1300" dirty="0"/>
                    </a:p>
                  </a:txBody>
                  <a:tcPr marL="91440" marR="91440" marT="45720" marB="45720" anchor="ctr">
                    <a:lnL w="6350" cap="flat" cmpd="sng" algn="ctr">
                      <a:solidFill>
                        <a:srgbClr val="071D36"/>
                      </a:solidFill>
                      <a:prstDash val="solid"/>
                      <a:round/>
                      <a:headEnd type="none" w="med" len="med"/>
                      <a:tailEnd type="none" w="med" len="med"/>
                    </a:lnL>
                    <a:lnR w="6350" cap="flat" cmpd="sng" algn="ctr">
                      <a:solidFill>
                        <a:srgbClr val="071D36"/>
                      </a:solidFill>
                      <a:prstDash val="solid"/>
                      <a:round/>
                      <a:headEnd type="none" w="med" len="med"/>
                      <a:tailEnd type="none" w="med" len="med"/>
                    </a:lnR>
                    <a:lnT w="6350" cap="flat" cmpd="sng" algn="ctr">
                      <a:solidFill>
                        <a:srgbClr val="071D36"/>
                      </a:solidFill>
                      <a:prstDash val="solid"/>
                      <a:round/>
                      <a:headEnd type="none" w="med" len="med"/>
                      <a:tailEnd type="none" w="med" len="med"/>
                    </a:lnT>
                    <a:lnB w="6350" cap="flat" cmpd="sng" algn="ctr">
                      <a:solidFill>
                        <a:srgbClr val="071D36"/>
                      </a:solidFill>
                      <a:prstDash val="solid"/>
                      <a:round/>
                      <a:headEnd type="none" w="med" len="med"/>
                      <a:tailEnd type="none" w="med" len="med"/>
                    </a:lnB>
                    <a:solidFill>
                      <a:srgbClr val="071D36"/>
                    </a:solidFill>
                  </a:tcPr>
                </a:tc>
                <a:tc>
                  <a:txBody>
                    <a:bodyPr/>
                    <a:lstStyle/>
                    <a:p>
                      <a:pPr algn="ctr" indent="0" marL="0">
                        <a:buNone/>
                      </a:pPr>
                      <a:endParaRPr lang="en-US" sz="1300" dirty="0"/>
                    </a:p>
                  </a:txBody>
                  <a:tcPr marL="91440" marR="91440" marT="45720" marB="45720" anchor="ctr">
                    <a:lnL w="6350" cap="flat" cmpd="sng" algn="ctr">
                      <a:solidFill>
                        <a:srgbClr val="071D36"/>
                      </a:solidFill>
                      <a:prstDash val="solid"/>
                      <a:round/>
                      <a:headEnd type="none" w="med" len="med"/>
                      <a:tailEnd type="none" w="med" len="med"/>
                    </a:lnL>
                    <a:lnR w="6350" cap="flat" cmpd="sng" algn="ctr">
                      <a:solidFill>
                        <a:srgbClr val="071D36"/>
                      </a:solidFill>
                      <a:prstDash val="solid"/>
                      <a:round/>
                      <a:headEnd type="none" w="med" len="med"/>
                      <a:tailEnd type="none" w="med" len="med"/>
                    </a:lnR>
                    <a:lnT w="6350" cap="flat" cmpd="sng" algn="ctr">
                      <a:solidFill>
                        <a:srgbClr val="071D36"/>
                      </a:solidFill>
                      <a:prstDash val="solid"/>
                      <a:round/>
                      <a:headEnd type="none" w="med" len="med"/>
                      <a:tailEnd type="none" w="med" len="med"/>
                    </a:lnT>
                    <a:lnB w="6350" cap="flat" cmpd="sng" algn="ctr">
                      <a:solidFill>
                        <a:srgbClr val="071D36"/>
                      </a:solidFill>
                      <a:prstDash val="solid"/>
                      <a:round/>
                      <a:headEnd type="none" w="med" len="med"/>
                      <a:tailEnd type="none" w="med" len="med"/>
                    </a:lnB>
                    <a:solidFill>
                      <a:srgbClr val="071D36"/>
                    </a:solidFill>
                  </a:tcPr>
                </a:tc>
                <a:tc>
                  <a:txBody>
                    <a:bodyPr/>
                    <a:lstStyle/>
                    <a:p>
                      <a:pPr algn="ctr" indent="0" marL="0">
                        <a:buNone/>
                      </a:pPr>
                      <a:endParaRPr lang="en-US" sz="1300" dirty="0"/>
                    </a:p>
                  </a:txBody>
                  <a:tcPr marL="91440" marR="91440" marT="45720" marB="45720" anchor="ctr">
                    <a:lnL w="6350" cap="flat" cmpd="sng" algn="ctr">
                      <a:solidFill>
                        <a:srgbClr val="071D36"/>
                      </a:solidFill>
                      <a:prstDash val="solid"/>
                      <a:round/>
                      <a:headEnd type="none" w="med" len="med"/>
                      <a:tailEnd type="none" w="med" len="med"/>
                    </a:lnL>
                    <a:lnR w="6350" cap="flat" cmpd="sng" algn="ctr">
                      <a:solidFill>
                        <a:srgbClr val="071D36"/>
                      </a:solidFill>
                      <a:prstDash val="solid"/>
                      <a:round/>
                      <a:headEnd type="none" w="med" len="med"/>
                      <a:tailEnd type="none" w="med" len="med"/>
                    </a:lnR>
                    <a:lnT w="6350" cap="flat" cmpd="sng" algn="ctr">
                      <a:solidFill>
                        <a:srgbClr val="071D36"/>
                      </a:solidFill>
                      <a:prstDash val="solid"/>
                      <a:round/>
                      <a:headEnd type="none" w="med" len="med"/>
                      <a:tailEnd type="none" w="med" len="med"/>
                    </a:lnT>
                    <a:lnB w="6350" cap="flat" cmpd="sng" algn="ctr">
                      <a:solidFill>
                        <a:srgbClr val="071D36"/>
                      </a:solidFill>
                      <a:prstDash val="solid"/>
                      <a:round/>
                      <a:headEnd type="none" w="med" len="med"/>
                      <a:tailEnd type="none" w="med" len="med"/>
                    </a:lnB>
                    <a:solidFill>
                      <a:srgbClr val="071D36"/>
                    </a:solidFill>
                  </a:tcPr>
                </a:tc>
                <a:tc>
                  <a:txBody>
                    <a:bodyPr/>
                    <a:lstStyle/>
                    <a:p>
                      <a:pPr algn="ctr" indent="0" marL="0">
                        <a:buNone/>
                      </a:pPr>
                      <a:r>
                        <a:rPr lang="en-US" sz="1300" dirty="0">
                          <a:solidFill>
                            <a:srgbClr val="65C7E8"/>
                          </a:solidFill>
                        </a:rPr>
                        <a:t>●</a:t>
                      </a:r>
                      <a:endParaRPr lang="en-US" sz="1300" dirty="0"/>
                    </a:p>
                  </a:txBody>
                  <a:tcPr marL="91440" marR="91440" marT="45720" marB="45720" anchor="ctr">
                    <a:lnL w="6350" cap="flat" cmpd="sng" algn="ctr">
                      <a:solidFill>
                        <a:srgbClr val="071D36"/>
                      </a:solidFill>
                      <a:prstDash val="solid"/>
                      <a:round/>
                      <a:headEnd type="none" w="med" len="med"/>
                      <a:tailEnd type="none" w="med" len="med"/>
                    </a:lnL>
                    <a:lnR w="6350" cap="flat" cmpd="sng" algn="ctr">
                      <a:solidFill>
                        <a:srgbClr val="071D36"/>
                      </a:solidFill>
                      <a:prstDash val="solid"/>
                      <a:round/>
                      <a:headEnd type="none" w="med" len="med"/>
                      <a:tailEnd type="none" w="med" len="med"/>
                    </a:lnR>
                    <a:lnT w="6350" cap="flat" cmpd="sng" algn="ctr">
                      <a:solidFill>
                        <a:srgbClr val="071D36"/>
                      </a:solidFill>
                      <a:prstDash val="solid"/>
                      <a:round/>
                      <a:headEnd type="none" w="med" len="med"/>
                      <a:tailEnd type="none" w="med" len="med"/>
                    </a:lnT>
                    <a:lnB w="6350" cap="flat" cmpd="sng" algn="ctr">
                      <a:solidFill>
                        <a:srgbClr val="071D36"/>
                      </a:solidFill>
                      <a:prstDash val="solid"/>
                      <a:round/>
                      <a:headEnd type="none" w="med" len="med"/>
                      <a:tailEnd type="none" w="med" len="med"/>
                    </a:lnB>
                    <a:solidFill>
                      <a:srgbClr val="071D36"/>
                    </a:solidFill>
                  </a:tcPr>
                </a:tc>
                <a:tc>
                  <a:txBody>
                    <a:bodyPr/>
                    <a:lstStyle/>
                    <a:p>
                      <a:pPr algn="ctr" indent="0" marL="0">
                        <a:buNone/>
                      </a:pPr>
                      <a:r>
                        <a:rPr lang="en-US" sz="1300" b="1" dirty="0">
                          <a:solidFill>
                            <a:srgbClr val="C9D6DF"/>
                          </a:solidFill>
                        </a:rPr>
                        <a:t>2</a:t>
                      </a:r>
                      <a:endParaRPr lang="en-US" sz="1300" dirty="0"/>
                    </a:p>
                  </a:txBody>
                  <a:tcPr marL="91440" marR="91440" marT="45720" marB="45720" anchor="ctr">
                    <a:lnL w="6350" cap="flat" cmpd="sng" algn="ctr">
                      <a:solidFill>
                        <a:srgbClr val="071D36"/>
                      </a:solidFill>
                      <a:prstDash val="solid"/>
                      <a:round/>
                      <a:headEnd type="none" w="med" len="med"/>
                      <a:tailEnd type="none" w="med" len="med"/>
                    </a:lnL>
                    <a:lnR w="6350" cap="flat" cmpd="sng" algn="ctr">
                      <a:solidFill>
                        <a:srgbClr val="071D36"/>
                      </a:solidFill>
                      <a:prstDash val="solid"/>
                      <a:round/>
                      <a:headEnd type="none" w="med" len="med"/>
                      <a:tailEnd type="none" w="med" len="med"/>
                    </a:lnR>
                    <a:lnT w="6350" cap="flat" cmpd="sng" algn="ctr">
                      <a:solidFill>
                        <a:srgbClr val="071D36"/>
                      </a:solidFill>
                      <a:prstDash val="solid"/>
                      <a:round/>
                      <a:headEnd type="none" w="med" len="med"/>
                      <a:tailEnd type="none" w="med" len="med"/>
                    </a:lnT>
                    <a:lnB w="6350" cap="flat" cmpd="sng" algn="ctr">
                      <a:solidFill>
                        <a:srgbClr val="071D36"/>
                      </a:solidFill>
                      <a:prstDash val="solid"/>
                      <a:round/>
                      <a:headEnd type="none" w="med" len="med"/>
                      <a:tailEnd type="none" w="med" len="med"/>
                    </a:lnB>
                    <a:solidFill>
                      <a:srgbClr val="071D36"/>
                    </a:solidFill>
                  </a:tcPr>
                </a:tc>
              </a:tr>
              <a:tr h="384048">
                <a:tc>
                  <a:txBody>
                    <a:bodyPr/>
                    <a:lstStyle/>
                    <a:p>
                      <a:pPr algn="ctr" indent="0" marL="0">
                        <a:buNone/>
                      </a:pPr>
                      <a:r>
                        <a:rPr lang="en-US" sz="1300" b="1" dirty="0">
                          <a:solidFill>
                            <a:srgbClr val="C9D6DF"/>
                          </a:solidFill>
                        </a:rPr>
                        <a:t>E8</a:t>
                      </a:r>
                      <a:endParaRPr lang="en-US" sz="1300" dirty="0"/>
                    </a:p>
                  </a:txBody>
                  <a:tcPr marL="91440" marR="91440" marT="45720" marB="45720" anchor="ctr">
                    <a:lnL w="6350" cap="flat" cmpd="sng" algn="ctr">
                      <a:solidFill>
                        <a:srgbClr val="071D36"/>
                      </a:solidFill>
                      <a:prstDash val="solid"/>
                      <a:round/>
                      <a:headEnd type="none" w="med" len="med"/>
                      <a:tailEnd type="none" w="med" len="med"/>
                    </a:lnL>
                    <a:lnR w="6350" cap="flat" cmpd="sng" algn="ctr">
                      <a:solidFill>
                        <a:srgbClr val="071D36"/>
                      </a:solidFill>
                      <a:prstDash val="solid"/>
                      <a:round/>
                      <a:headEnd type="none" w="med" len="med"/>
                      <a:tailEnd type="none" w="med" len="med"/>
                    </a:lnR>
                    <a:lnT w="6350" cap="flat" cmpd="sng" algn="ctr">
                      <a:solidFill>
                        <a:srgbClr val="071D36"/>
                      </a:solidFill>
                      <a:prstDash val="solid"/>
                      <a:round/>
                      <a:headEnd type="none" w="med" len="med"/>
                      <a:tailEnd type="none" w="med" len="med"/>
                    </a:lnT>
                    <a:lnB w="6350" cap="flat" cmpd="sng" algn="ctr">
                      <a:solidFill>
                        <a:srgbClr val="071D36"/>
                      </a:solidFill>
                      <a:prstDash val="solid"/>
                      <a:round/>
                      <a:headEnd type="none" w="med" len="med"/>
                      <a:tailEnd type="none" w="med" len="med"/>
                    </a:lnB>
                    <a:solidFill>
                      <a:srgbClr val="071D36"/>
                    </a:solidFill>
                  </a:tcPr>
                </a:tc>
                <a:tc>
                  <a:txBody>
                    <a:bodyPr/>
                    <a:lstStyle/>
                    <a:p>
                      <a:pPr indent="0" marL="0">
                        <a:buNone/>
                      </a:pPr>
                      <a:r>
                        <a:rPr lang="en-US" sz="1300" dirty="0">
                          <a:solidFill>
                            <a:srgbClr val="C9D6DF"/>
                          </a:solidFill>
                        </a:rPr>
                        <a:t>Línea de carrera docente</a:t>
                      </a:r>
                      <a:endParaRPr lang="en-US" sz="1300" dirty="0"/>
                    </a:p>
                  </a:txBody>
                  <a:tcPr marL="91440" marR="91440" marT="45720" marB="45720" anchor="ctr">
                    <a:lnL w="6350" cap="flat" cmpd="sng" algn="ctr">
                      <a:solidFill>
                        <a:srgbClr val="071D36"/>
                      </a:solidFill>
                      <a:prstDash val="solid"/>
                      <a:round/>
                      <a:headEnd type="none" w="med" len="med"/>
                      <a:tailEnd type="none" w="med" len="med"/>
                    </a:lnL>
                    <a:lnR w="6350" cap="flat" cmpd="sng" algn="ctr">
                      <a:solidFill>
                        <a:srgbClr val="071D36"/>
                      </a:solidFill>
                      <a:prstDash val="solid"/>
                      <a:round/>
                      <a:headEnd type="none" w="med" len="med"/>
                      <a:tailEnd type="none" w="med" len="med"/>
                    </a:lnR>
                    <a:lnT w="6350" cap="flat" cmpd="sng" algn="ctr">
                      <a:solidFill>
                        <a:srgbClr val="071D36"/>
                      </a:solidFill>
                      <a:prstDash val="solid"/>
                      <a:round/>
                      <a:headEnd type="none" w="med" len="med"/>
                      <a:tailEnd type="none" w="med" len="med"/>
                    </a:lnT>
                    <a:lnB w="6350" cap="flat" cmpd="sng" algn="ctr">
                      <a:solidFill>
                        <a:srgbClr val="071D36"/>
                      </a:solidFill>
                      <a:prstDash val="solid"/>
                      <a:round/>
                      <a:headEnd type="none" w="med" len="med"/>
                      <a:tailEnd type="none" w="med" len="med"/>
                    </a:lnB>
                    <a:solidFill>
                      <a:srgbClr val="071D36"/>
                    </a:solidFill>
                  </a:tcPr>
                </a:tc>
                <a:tc>
                  <a:txBody>
                    <a:bodyPr/>
                    <a:lstStyle/>
                    <a:p>
                      <a:pPr algn="ctr" indent="0" marL="0">
                        <a:buNone/>
                      </a:pPr>
                      <a:r>
                        <a:rPr lang="en-US" sz="1300" dirty="0">
                          <a:solidFill>
                            <a:srgbClr val="65C7E8"/>
                          </a:solidFill>
                        </a:rPr>
                        <a:t>●</a:t>
                      </a:r>
                      <a:endParaRPr lang="en-US" sz="1300" dirty="0"/>
                    </a:p>
                  </a:txBody>
                  <a:tcPr marL="91440" marR="91440" marT="45720" marB="45720" anchor="ctr">
                    <a:lnL w="6350" cap="flat" cmpd="sng" algn="ctr">
                      <a:solidFill>
                        <a:srgbClr val="071D36"/>
                      </a:solidFill>
                      <a:prstDash val="solid"/>
                      <a:round/>
                      <a:headEnd type="none" w="med" len="med"/>
                      <a:tailEnd type="none" w="med" len="med"/>
                    </a:lnL>
                    <a:lnR w="6350" cap="flat" cmpd="sng" algn="ctr">
                      <a:solidFill>
                        <a:srgbClr val="071D36"/>
                      </a:solidFill>
                      <a:prstDash val="solid"/>
                      <a:round/>
                      <a:headEnd type="none" w="med" len="med"/>
                      <a:tailEnd type="none" w="med" len="med"/>
                    </a:lnR>
                    <a:lnT w="6350" cap="flat" cmpd="sng" algn="ctr">
                      <a:solidFill>
                        <a:srgbClr val="071D36"/>
                      </a:solidFill>
                      <a:prstDash val="solid"/>
                      <a:round/>
                      <a:headEnd type="none" w="med" len="med"/>
                      <a:tailEnd type="none" w="med" len="med"/>
                    </a:lnT>
                    <a:lnB w="6350" cap="flat" cmpd="sng" algn="ctr">
                      <a:solidFill>
                        <a:srgbClr val="071D36"/>
                      </a:solidFill>
                      <a:prstDash val="solid"/>
                      <a:round/>
                      <a:headEnd type="none" w="med" len="med"/>
                      <a:tailEnd type="none" w="med" len="med"/>
                    </a:lnB>
                    <a:solidFill>
                      <a:srgbClr val="071D36"/>
                    </a:solidFill>
                  </a:tcPr>
                </a:tc>
                <a:tc>
                  <a:txBody>
                    <a:bodyPr/>
                    <a:lstStyle/>
                    <a:p>
                      <a:pPr algn="ctr" indent="0" marL="0">
                        <a:buNone/>
                      </a:pPr>
                      <a:endParaRPr lang="en-US" sz="1300" dirty="0"/>
                    </a:p>
                  </a:txBody>
                  <a:tcPr marL="91440" marR="91440" marT="45720" marB="45720" anchor="ctr">
                    <a:lnL w="6350" cap="flat" cmpd="sng" algn="ctr">
                      <a:solidFill>
                        <a:srgbClr val="071D36"/>
                      </a:solidFill>
                      <a:prstDash val="solid"/>
                      <a:round/>
                      <a:headEnd type="none" w="med" len="med"/>
                      <a:tailEnd type="none" w="med" len="med"/>
                    </a:lnL>
                    <a:lnR w="6350" cap="flat" cmpd="sng" algn="ctr">
                      <a:solidFill>
                        <a:srgbClr val="071D36"/>
                      </a:solidFill>
                      <a:prstDash val="solid"/>
                      <a:round/>
                      <a:headEnd type="none" w="med" len="med"/>
                      <a:tailEnd type="none" w="med" len="med"/>
                    </a:lnR>
                    <a:lnT w="6350" cap="flat" cmpd="sng" algn="ctr">
                      <a:solidFill>
                        <a:srgbClr val="071D36"/>
                      </a:solidFill>
                      <a:prstDash val="solid"/>
                      <a:round/>
                      <a:headEnd type="none" w="med" len="med"/>
                      <a:tailEnd type="none" w="med" len="med"/>
                    </a:lnT>
                    <a:lnB w="6350" cap="flat" cmpd="sng" algn="ctr">
                      <a:solidFill>
                        <a:srgbClr val="071D36"/>
                      </a:solidFill>
                      <a:prstDash val="solid"/>
                      <a:round/>
                      <a:headEnd type="none" w="med" len="med"/>
                      <a:tailEnd type="none" w="med" len="med"/>
                    </a:lnB>
                    <a:solidFill>
                      <a:srgbClr val="071D36"/>
                    </a:solidFill>
                  </a:tcPr>
                </a:tc>
                <a:tc>
                  <a:txBody>
                    <a:bodyPr/>
                    <a:lstStyle/>
                    <a:p>
                      <a:pPr algn="ctr" indent="0" marL="0">
                        <a:buNone/>
                      </a:pPr>
                      <a:endParaRPr lang="en-US" sz="1300" dirty="0"/>
                    </a:p>
                  </a:txBody>
                  <a:tcPr marL="91440" marR="91440" marT="45720" marB="45720" anchor="ctr">
                    <a:lnL w="6350" cap="flat" cmpd="sng" algn="ctr">
                      <a:solidFill>
                        <a:srgbClr val="071D36"/>
                      </a:solidFill>
                      <a:prstDash val="solid"/>
                      <a:round/>
                      <a:headEnd type="none" w="med" len="med"/>
                      <a:tailEnd type="none" w="med" len="med"/>
                    </a:lnL>
                    <a:lnR w="6350" cap="flat" cmpd="sng" algn="ctr">
                      <a:solidFill>
                        <a:srgbClr val="071D36"/>
                      </a:solidFill>
                      <a:prstDash val="solid"/>
                      <a:round/>
                      <a:headEnd type="none" w="med" len="med"/>
                      <a:tailEnd type="none" w="med" len="med"/>
                    </a:lnR>
                    <a:lnT w="6350" cap="flat" cmpd="sng" algn="ctr">
                      <a:solidFill>
                        <a:srgbClr val="071D36"/>
                      </a:solidFill>
                      <a:prstDash val="solid"/>
                      <a:round/>
                      <a:headEnd type="none" w="med" len="med"/>
                      <a:tailEnd type="none" w="med" len="med"/>
                    </a:lnT>
                    <a:lnB w="6350" cap="flat" cmpd="sng" algn="ctr">
                      <a:solidFill>
                        <a:srgbClr val="071D36"/>
                      </a:solidFill>
                      <a:prstDash val="solid"/>
                      <a:round/>
                      <a:headEnd type="none" w="med" len="med"/>
                      <a:tailEnd type="none" w="med" len="med"/>
                    </a:lnB>
                    <a:solidFill>
                      <a:srgbClr val="071D36"/>
                    </a:solidFill>
                  </a:tcPr>
                </a:tc>
                <a:tc>
                  <a:txBody>
                    <a:bodyPr/>
                    <a:lstStyle/>
                    <a:p>
                      <a:pPr algn="ctr" indent="0" marL="0">
                        <a:buNone/>
                      </a:pPr>
                      <a:endParaRPr lang="en-US" sz="1300" dirty="0"/>
                    </a:p>
                  </a:txBody>
                  <a:tcPr marL="91440" marR="91440" marT="45720" marB="45720" anchor="ctr">
                    <a:lnL w="6350" cap="flat" cmpd="sng" algn="ctr">
                      <a:solidFill>
                        <a:srgbClr val="071D36"/>
                      </a:solidFill>
                      <a:prstDash val="solid"/>
                      <a:round/>
                      <a:headEnd type="none" w="med" len="med"/>
                      <a:tailEnd type="none" w="med" len="med"/>
                    </a:lnL>
                    <a:lnR w="6350" cap="flat" cmpd="sng" algn="ctr">
                      <a:solidFill>
                        <a:srgbClr val="071D36"/>
                      </a:solidFill>
                      <a:prstDash val="solid"/>
                      <a:round/>
                      <a:headEnd type="none" w="med" len="med"/>
                      <a:tailEnd type="none" w="med" len="med"/>
                    </a:lnR>
                    <a:lnT w="6350" cap="flat" cmpd="sng" algn="ctr">
                      <a:solidFill>
                        <a:srgbClr val="071D36"/>
                      </a:solidFill>
                      <a:prstDash val="solid"/>
                      <a:round/>
                      <a:headEnd type="none" w="med" len="med"/>
                      <a:tailEnd type="none" w="med" len="med"/>
                    </a:lnT>
                    <a:lnB w="6350" cap="flat" cmpd="sng" algn="ctr">
                      <a:solidFill>
                        <a:srgbClr val="071D36"/>
                      </a:solidFill>
                      <a:prstDash val="solid"/>
                      <a:round/>
                      <a:headEnd type="none" w="med" len="med"/>
                      <a:tailEnd type="none" w="med" len="med"/>
                    </a:lnB>
                    <a:solidFill>
                      <a:srgbClr val="071D36"/>
                    </a:solidFill>
                  </a:tcPr>
                </a:tc>
                <a:tc>
                  <a:txBody>
                    <a:bodyPr/>
                    <a:lstStyle/>
                    <a:p>
                      <a:pPr algn="ctr" indent="0" marL="0">
                        <a:buNone/>
                      </a:pPr>
                      <a:r>
                        <a:rPr lang="en-US" sz="1300" b="1" dirty="0">
                          <a:solidFill>
                            <a:srgbClr val="C9D6DF"/>
                          </a:solidFill>
                        </a:rPr>
                        <a:t>1</a:t>
                      </a:r>
                      <a:endParaRPr lang="en-US" sz="1300" dirty="0"/>
                    </a:p>
                  </a:txBody>
                  <a:tcPr marL="91440" marR="91440" marT="45720" marB="45720" anchor="ctr">
                    <a:lnL w="6350" cap="flat" cmpd="sng" algn="ctr">
                      <a:solidFill>
                        <a:srgbClr val="071D36"/>
                      </a:solidFill>
                      <a:prstDash val="solid"/>
                      <a:round/>
                      <a:headEnd type="none" w="med" len="med"/>
                      <a:tailEnd type="none" w="med" len="med"/>
                    </a:lnL>
                    <a:lnR w="6350" cap="flat" cmpd="sng" algn="ctr">
                      <a:solidFill>
                        <a:srgbClr val="071D36"/>
                      </a:solidFill>
                      <a:prstDash val="solid"/>
                      <a:round/>
                      <a:headEnd type="none" w="med" len="med"/>
                      <a:tailEnd type="none" w="med" len="med"/>
                    </a:lnR>
                    <a:lnT w="6350" cap="flat" cmpd="sng" algn="ctr">
                      <a:solidFill>
                        <a:srgbClr val="071D36"/>
                      </a:solidFill>
                      <a:prstDash val="solid"/>
                      <a:round/>
                      <a:headEnd type="none" w="med" len="med"/>
                      <a:tailEnd type="none" w="med" len="med"/>
                    </a:lnT>
                    <a:lnB w="6350" cap="flat" cmpd="sng" algn="ctr">
                      <a:solidFill>
                        <a:srgbClr val="071D36"/>
                      </a:solidFill>
                      <a:prstDash val="solid"/>
                      <a:round/>
                      <a:headEnd type="none" w="med" len="med"/>
                      <a:tailEnd type="none" w="med" len="med"/>
                    </a:lnB>
                    <a:solidFill>
                      <a:srgbClr val="071D36"/>
                    </a:solidFill>
                  </a:tcPr>
                </a:tc>
              </a:tr>
              <a:tr h="384048">
                <a:tc>
                  <a:txBody>
                    <a:bodyPr/>
                    <a:lstStyle/>
                    <a:p>
                      <a:pPr algn="ctr" indent="0" marL="0">
                        <a:buNone/>
                      </a:pPr>
                      <a:r>
                        <a:rPr lang="en-US" sz="1300" b="1" dirty="0">
                          <a:solidFill>
                            <a:srgbClr val="C9D6DF"/>
                          </a:solidFill>
                        </a:rPr>
                        <a:t>E9</a:t>
                      </a:r>
                      <a:endParaRPr lang="en-US" sz="1300" dirty="0"/>
                    </a:p>
                  </a:txBody>
                  <a:tcPr marL="91440" marR="91440" marT="45720" marB="45720" anchor="ctr">
                    <a:lnL w="6350" cap="flat" cmpd="sng" algn="ctr">
                      <a:solidFill>
                        <a:srgbClr val="071D36"/>
                      </a:solidFill>
                      <a:prstDash val="solid"/>
                      <a:round/>
                      <a:headEnd type="none" w="med" len="med"/>
                      <a:tailEnd type="none" w="med" len="med"/>
                    </a:lnL>
                    <a:lnR w="6350" cap="flat" cmpd="sng" algn="ctr">
                      <a:solidFill>
                        <a:srgbClr val="071D36"/>
                      </a:solidFill>
                      <a:prstDash val="solid"/>
                      <a:round/>
                      <a:headEnd type="none" w="med" len="med"/>
                      <a:tailEnd type="none" w="med" len="med"/>
                    </a:lnR>
                    <a:lnT w="6350" cap="flat" cmpd="sng" algn="ctr">
                      <a:solidFill>
                        <a:srgbClr val="071D36"/>
                      </a:solidFill>
                      <a:prstDash val="solid"/>
                      <a:round/>
                      <a:headEnd type="none" w="med" len="med"/>
                      <a:tailEnd type="none" w="med" len="med"/>
                    </a:lnT>
                    <a:lnB w="6350" cap="flat" cmpd="sng" algn="ctr">
                      <a:solidFill>
                        <a:srgbClr val="071D36"/>
                      </a:solidFill>
                      <a:prstDash val="solid"/>
                      <a:round/>
                      <a:headEnd type="none" w="med" len="med"/>
                      <a:tailEnd type="none" w="med" len="med"/>
                    </a:lnB>
                    <a:solidFill>
                      <a:srgbClr val="071D36"/>
                    </a:solidFill>
                  </a:tcPr>
                </a:tc>
                <a:tc>
                  <a:txBody>
                    <a:bodyPr/>
                    <a:lstStyle/>
                    <a:p>
                      <a:pPr indent="0" marL="0">
                        <a:buNone/>
                      </a:pPr>
                      <a:r>
                        <a:rPr lang="en-US" sz="1300" dirty="0">
                          <a:solidFill>
                            <a:srgbClr val="C9D6DF"/>
                          </a:solidFill>
                        </a:rPr>
                        <a:t>Profesores suplentes</a:t>
                      </a:r>
                      <a:endParaRPr lang="en-US" sz="1300" dirty="0"/>
                    </a:p>
                  </a:txBody>
                  <a:tcPr marL="91440" marR="91440" marT="45720" marB="45720" anchor="ctr">
                    <a:lnL w="6350" cap="flat" cmpd="sng" algn="ctr">
                      <a:solidFill>
                        <a:srgbClr val="071D36"/>
                      </a:solidFill>
                      <a:prstDash val="solid"/>
                      <a:round/>
                      <a:headEnd type="none" w="med" len="med"/>
                      <a:tailEnd type="none" w="med" len="med"/>
                    </a:lnL>
                    <a:lnR w="6350" cap="flat" cmpd="sng" algn="ctr">
                      <a:solidFill>
                        <a:srgbClr val="071D36"/>
                      </a:solidFill>
                      <a:prstDash val="solid"/>
                      <a:round/>
                      <a:headEnd type="none" w="med" len="med"/>
                      <a:tailEnd type="none" w="med" len="med"/>
                    </a:lnR>
                    <a:lnT w="6350" cap="flat" cmpd="sng" algn="ctr">
                      <a:solidFill>
                        <a:srgbClr val="071D36"/>
                      </a:solidFill>
                      <a:prstDash val="solid"/>
                      <a:round/>
                      <a:headEnd type="none" w="med" len="med"/>
                      <a:tailEnd type="none" w="med" len="med"/>
                    </a:lnT>
                    <a:lnB w="6350" cap="flat" cmpd="sng" algn="ctr">
                      <a:solidFill>
                        <a:srgbClr val="071D36"/>
                      </a:solidFill>
                      <a:prstDash val="solid"/>
                      <a:round/>
                      <a:headEnd type="none" w="med" len="med"/>
                      <a:tailEnd type="none" w="med" len="med"/>
                    </a:lnB>
                    <a:solidFill>
                      <a:srgbClr val="071D36"/>
                    </a:solidFill>
                  </a:tcPr>
                </a:tc>
                <a:tc>
                  <a:txBody>
                    <a:bodyPr/>
                    <a:lstStyle/>
                    <a:p>
                      <a:pPr algn="ctr" indent="0" marL="0">
                        <a:buNone/>
                      </a:pPr>
                      <a:r>
                        <a:rPr lang="en-US" sz="1300" dirty="0">
                          <a:solidFill>
                            <a:srgbClr val="65C7E8"/>
                          </a:solidFill>
                        </a:rPr>
                        <a:t>●</a:t>
                      </a:r>
                      <a:endParaRPr lang="en-US" sz="1300" dirty="0"/>
                    </a:p>
                  </a:txBody>
                  <a:tcPr marL="91440" marR="91440" marT="45720" marB="45720" anchor="ctr">
                    <a:lnL w="6350" cap="flat" cmpd="sng" algn="ctr">
                      <a:solidFill>
                        <a:srgbClr val="071D36"/>
                      </a:solidFill>
                      <a:prstDash val="solid"/>
                      <a:round/>
                      <a:headEnd type="none" w="med" len="med"/>
                      <a:tailEnd type="none" w="med" len="med"/>
                    </a:lnL>
                    <a:lnR w="6350" cap="flat" cmpd="sng" algn="ctr">
                      <a:solidFill>
                        <a:srgbClr val="071D36"/>
                      </a:solidFill>
                      <a:prstDash val="solid"/>
                      <a:round/>
                      <a:headEnd type="none" w="med" len="med"/>
                      <a:tailEnd type="none" w="med" len="med"/>
                    </a:lnR>
                    <a:lnT w="6350" cap="flat" cmpd="sng" algn="ctr">
                      <a:solidFill>
                        <a:srgbClr val="071D36"/>
                      </a:solidFill>
                      <a:prstDash val="solid"/>
                      <a:round/>
                      <a:headEnd type="none" w="med" len="med"/>
                      <a:tailEnd type="none" w="med" len="med"/>
                    </a:lnT>
                    <a:lnB w="6350" cap="flat" cmpd="sng" algn="ctr">
                      <a:solidFill>
                        <a:srgbClr val="071D36"/>
                      </a:solidFill>
                      <a:prstDash val="solid"/>
                      <a:round/>
                      <a:headEnd type="none" w="med" len="med"/>
                      <a:tailEnd type="none" w="med" len="med"/>
                    </a:lnB>
                    <a:solidFill>
                      <a:srgbClr val="071D36"/>
                    </a:solidFill>
                  </a:tcPr>
                </a:tc>
                <a:tc>
                  <a:txBody>
                    <a:bodyPr/>
                    <a:lstStyle/>
                    <a:p>
                      <a:pPr algn="ctr" indent="0" marL="0">
                        <a:buNone/>
                      </a:pPr>
                      <a:endParaRPr lang="en-US" sz="1300" dirty="0"/>
                    </a:p>
                  </a:txBody>
                  <a:tcPr marL="91440" marR="91440" marT="45720" marB="45720" anchor="ctr">
                    <a:lnL w="6350" cap="flat" cmpd="sng" algn="ctr">
                      <a:solidFill>
                        <a:srgbClr val="071D36"/>
                      </a:solidFill>
                      <a:prstDash val="solid"/>
                      <a:round/>
                      <a:headEnd type="none" w="med" len="med"/>
                      <a:tailEnd type="none" w="med" len="med"/>
                    </a:lnL>
                    <a:lnR w="6350" cap="flat" cmpd="sng" algn="ctr">
                      <a:solidFill>
                        <a:srgbClr val="071D36"/>
                      </a:solidFill>
                      <a:prstDash val="solid"/>
                      <a:round/>
                      <a:headEnd type="none" w="med" len="med"/>
                      <a:tailEnd type="none" w="med" len="med"/>
                    </a:lnR>
                    <a:lnT w="6350" cap="flat" cmpd="sng" algn="ctr">
                      <a:solidFill>
                        <a:srgbClr val="071D36"/>
                      </a:solidFill>
                      <a:prstDash val="solid"/>
                      <a:round/>
                      <a:headEnd type="none" w="med" len="med"/>
                      <a:tailEnd type="none" w="med" len="med"/>
                    </a:lnT>
                    <a:lnB w="6350" cap="flat" cmpd="sng" algn="ctr">
                      <a:solidFill>
                        <a:srgbClr val="071D36"/>
                      </a:solidFill>
                      <a:prstDash val="solid"/>
                      <a:round/>
                      <a:headEnd type="none" w="med" len="med"/>
                      <a:tailEnd type="none" w="med" len="med"/>
                    </a:lnB>
                    <a:solidFill>
                      <a:srgbClr val="071D36"/>
                    </a:solidFill>
                  </a:tcPr>
                </a:tc>
                <a:tc>
                  <a:txBody>
                    <a:bodyPr/>
                    <a:lstStyle/>
                    <a:p>
                      <a:pPr algn="ctr" indent="0" marL="0">
                        <a:buNone/>
                      </a:pPr>
                      <a:endParaRPr lang="en-US" sz="1300" dirty="0"/>
                    </a:p>
                  </a:txBody>
                  <a:tcPr marL="91440" marR="91440" marT="45720" marB="45720" anchor="ctr">
                    <a:lnL w="6350" cap="flat" cmpd="sng" algn="ctr">
                      <a:solidFill>
                        <a:srgbClr val="071D36"/>
                      </a:solidFill>
                      <a:prstDash val="solid"/>
                      <a:round/>
                      <a:headEnd type="none" w="med" len="med"/>
                      <a:tailEnd type="none" w="med" len="med"/>
                    </a:lnL>
                    <a:lnR w="6350" cap="flat" cmpd="sng" algn="ctr">
                      <a:solidFill>
                        <a:srgbClr val="071D36"/>
                      </a:solidFill>
                      <a:prstDash val="solid"/>
                      <a:round/>
                      <a:headEnd type="none" w="med" len="med"/>
                      <a:tailEnd type="none" w="med" len="med"/>
                    </a:lnR>
                    <a:lnT w="6350" cap="flat" cmpd="sng" algn="ctr">
                      <a:solidFill>
                        <a:srgbClr val="071D36"/>
                      </a:solidFill>
                      <a:prstDash val="solid"/>
                      <a:round/>
                      <a:headEnd type="none" w="med" len="med"/>
                      <a:tailEnd type="none" w="med" len="med"/>
                    </a:lnT>
                    <a:lnB w="6350" cap="flat" cmpd="sng" algn="ctr">
                      <a:solidFill>
                        <a:srgbClr val="071D36"/>
                      </a:solidFill>
                      <a:prstDash val="solid"/>
                      <a:round/>
                      <a:headEnd type="none" w="med" len="med"/>
                      <a:tailEnd type="none" w="med" len="med"/>
                    </a:lnB>
                    <a:solidFill>
                      <a:srgbClr val="071D36"/>
                    </a:solidFill>
                  </a:tcPr>
                </a:tc>
                <a:tc>
                  <a:txBody>
                    <a:bodyPr/>
                    <a:lstStyle/>
                    <a:p>
                      <a:pPr algn="ctr" indent="0" marL="0">
                        <a:buNone/>
                      </a:pPr>
                      <a:endParaRPr lang="en-US" sz="1300" dirty="0"/>
                    </a:p>
                  </a:txBody>
                  <a:tcPr marL="91440" marR="91440" marT="45720" marB="45720" anchor="ctr">
                    <a:lnL w="6350" cap="flat" cmpd="sng" algn="ctr">
                      <a:solidFill>
                        <a:srgbClr val="071D36"/>
                      </a:solidFill>
                      <a:prstDash val="solid"/>
                      <a:round/>
                      <a:headEnd type="none" w="med" len="med"/>
                      <a:tailEnd type="none" w="med" len="med"/>
                    </a:lnL>
                    <a:lnR w="6350" cap="flat" cmpd="sng" algn="ctr">
                      <a:solidFill>
                        <a:srgbClr val="071D36"/>
                      </a:solidFill>
                      <a:prstDash val="solid"/>
                      <a:round/>
                      <a:headEnd type="none" w="med" len="med"/>
                      <a:tailEnd type="none" w="med" len="med"/>
                    </a:lnR>
                    <a:lnT w="6350" cap="flat" cmpd="sng" algn="ctr">
                      <a:solidFill>
                        <a:srgbClr val="071D36"/>
                      </a:solidFill>
                      <a:prstDash val="solid"/>
                      <a:round/>
                      <a:headEnd type="none" w="med" len="med"/>
                      <a:tailEnd type="none" w="med" len="med"/>
                    </a:lnT>
                    <a:lnB w="6350" cap="flat" cmpd="sng" algn="ctr">
                      <a:solidFill>
                        <a:srgbClr val="071D36"/>
                      </a:solidFill>
                      <a:prstDash val="solid"/>
                      <a:round/>
                      <a:headEnd type="none" w="med" len="med"/>
                      <a:tailEnd type="none" w="med" len="med"/>
                    </a:lnB>
                    <a:solidFill>
                      <a:srgbClr val="071D36"/>
                    </a:solidFill>
                  </a:tcPr>
                </a:tc>
                <a:tc>
                  <a:txBody>
                    <a:bodyPr/>
                    <a:lstStyle/>
                    <a:p>
                      <a:pPr algn="ctr" indent="0" marL="0">
                        <a:buNone/>
                      </a:pPr>
                      <a:r>
                        <a:rPr lang="en-US" sz="1300" b="1" dirty="0">
                          <a:solidFill>
                            <a:srgbClr val="C9D6DF"/>
                          </a:solidFill>
                        </a:rPr>
                        <a:t>1</a:t>
                      </a:r>
                      <a:endParaRPr lang="en-US" sz="1300" dirty="0"/>
                    </a:p>
                  </a:txBody>
                  <a:tcPr marL="91440" marR="91440" marT="45720" marB="45720" anchor="ctr">
                    <a:lnL w="6350" cap="flat" cmpd="sng" algn="ctr">
                      <a:solidFill>
                        <a:srgbClr val="071D36"/>
                      </a:solidFill>
                      <a:prstDash val="solid"/>
                      <a:round/>
                      <a:headEnd type="none" w="med" len="med"/>
                      <a:tailEnd type="none" w="med" len="med"/>
                    </a:lnL>
                    <a:lnR w="6350" cap="flat" cmpd="sng" algn="ctr">
                      <a:solidFill>
                        <a:srgbClr val="071D36"/>
                      </a:solidFill>
                      <a:prstDash val="solid"/>
                      <a:round/>
                      <a:headEnd type="none" w="med" len="med"/>
                      <a:tailEnd type="none" w="med" len="med"/>
                    </a:lnR>
                    <a:lnT w="6350" cap="flat" cmpd="sng" algn="ctr">
                      <a:solidFill>
                        <a:srgbClr val="071D36"/>
                      </a:solidFill>
                      <a:prstDash val="solid"/>
                      <a:round/>
                      <a:headEnd type="none" w="med" len="med"/>
                      <a:tailEnd type="none" w="med" len="med"/>
                    </a:lnT>
                    <a:lnB w="6350" cap="flat" cmpd="sng" algn="ctr">
                      <a:solidFill>
                        <a:srgbClr val="071D36"/>
                      </a:solidFill>
                      <a:prstDash val="solid"/>
                      <a:round/>
                      <a:headEnd type="none" w="med" len="med"/>
                      <a:tailEnd type="none" w="med" len="med"/>
                    </a:lnB>
                    <a:solidFill>
                      <a:srgbClr val="071D36"/>
                    </a:solidFill>
                  </a:tcPr>
                </a:tc>
              </a:tr>
            </a:tbl>
          </a:graphicData>
        </a:graphic>
      </p:graphicFrame>
      <p:sp>
        <p:nvSpPr>
          <p:cNvPr id="5" name="retenidas"/>
          <p:cNvSpPr/>
          <p:nvPr/>
        </p:nvSpPr>
        <p:spPr>
          <a:xfrm>
            <a:off x="8595360" y="1554480"/>
            <a:ext cx="3017520" cy="2011680"/>
          </a:xfrm>
          <a:prstGeom prst="roundRect">
            <a:avLst>
              <a:gd name="adj" fmla="val 3636"/>
            </a:avLst>
          </a:prstGeom>
          <a:solidFill>
            <a:srgbClr val="0F3256"/>
          </a:solidFill>
          <a:ln w="12700">
            <a:solidFill>
              <a:srgbClr val="0F3256"/>
            </a:solidFill>
            <a:prstDash val="solid"/>
          </a:ln>
        </p:spPr>
      </p:sp>
      <p:sp>
        <p:nvSpPr>
          <p:cNvPr id="6" name="Text 3"/>
          <p:cNvSpPr txBox="1"/>
          <p:nvPr/>
        </p:nvSpPr>
        <p:spPr>
          <a:xfrm>
            <a:off x="8823960" y="1737360"/>
            <a:ext cx="2651760" cy="502920"/>
          </a:xfrm>
          <a:prstGeom prst="rect">
            <a:avLst/>
          </a:prstGeom>
          <a:noFill/>
          <a:ln/>
        </p:spPr>
        <p:txBody>
          <a:bodyPr wrap="square" lIns="0" tIns="0" rIns="0" bIns="0" rtlCol="0" anchor="t"/>
          <a:lstStyle/>
          <a:p>
            <a:pPr indent="0" marL="0">
              <a:buNone/>
            </a:pPr>
            <a:r>
              <a:rPr lang="en-US" sz="2600" b="1" dirty="0">
                <a:solidFill>
                  <a:schemeClr val="accent1"/>
                </a:solidFill>
              </a:rPr>
              <a:t>6 retenidas</a:t>
            </a:r>
            <a:endParaRPr lang="en-US" sz="2600" dirty="0"/>
          </a:p>
        </p:txBody>
      </p:sp>
      <p:sp>
        <p:nvSpPr>
          <p:cNvPr id="7" name="Text 4"/>
          <p:cNvSpPr txBox="1"/>
          <p:nvPr/>
        </p:nvSpPr>
        <p:spPr>
          <a:xfrm>
            <a:off x="8823960" y="2331720"/>
            <a:ext cx="2606040" cy="1005840"/>
          </a:xfrm>
          <a:prstGeom prst="rect">
            <a:avLst/>
          </a:prstGeom>
          <a:noFill/>
          <a:ln/>
        </p:spPr>
        <p:txBody>
          <a:bodyPr wrap="square" lIns="0" tIns="0" rIns="0" bIns="0" rtlCol="0" anchor="t"/>
          <a:lstStyle/>
          <a:p>
            <a:pPr indent="0" marL="0">
              <a:buNone/>
            </a:pPr>
            <a:r>
              <a:rPr lang="en-US" sz="1500" dirty="0">
                <a:solidFill>
                  <a:schemeClr val="bg1"/>
                </a:solidFill>
              </a:rPr>
              <a:t>E1, E2, E10, E4, E5 y E7 pasan a la MCPE.</a:t>
            </a:r>
            <a:endParaRPr lang="en-US" sz="1500" dirty="0"/>
          </a:p>
        </p:txBody>
      </p:sp>
      <p:sp>
        <p:nvSpPr>
          <p:cNvPr id="8" name="contingencia"/>
          <p:cNvSpPr/>
          <p:nvPr/>
        </p:nvSpPr>
        <p:spPr>
          <a:xfrm>
            <a:off x="8595360" y="3749040"/>
            <a:ext cx="3017520" cy="2011680"/>
          </a:xfrm>
          <a:prstGeom prst="roundRect">
            <a:avLst>
              <a:gd name="adj" fmla="val 3636"/>
            </a:avLst>
          </a:prstGeom>
          <a:solidFill>
            <a:schemeClr val="tx1"/>
          </a:solidFill>
          <a:ln w="12700">
            <a:solidFill>
              <a:schemeClr val="tx1"/>
            </a:solidFill>
            <a:prstDash val="solid"/>
          </a:ln>
        </p:spPr>
      </p:sp>
      <p:sp>
        <p:nvSpPr>
          <p:cNvPr id="9" name="Text 6"/>
          <p:cNvSpPr txBox="1"/>
          <p:nvPr/>
        </p:nvSpPr>
        <p:spPr>
          <a:xfrm>
            <a:off x="8823960" y="3931920"/>
            <a:ext cx="2651760" cy="457200"/>
          </a:xfrm>
          <a:prstGeom prst="rect">
            <a:avLst/>
          </a:prstGeom>
          <a:noFill/>
          <a:ln/>
        </p:spPr>
        <p:txBody>
          <a:bodyPr wrap="square" lIns="0" tIns="0" rIns="0" bIns="0" rtlCol="0" anchor="t"/>
          <a:lstStyle/>
          <a:p>
            <a:pPr indent="0" marL="0">
              <a:buNone/>
            </a:pPr>
            <a:r>
              <a:rPr lang="en-US" sz="2000" b="1" dirty="0">
                <a:solidFill>
                  <a:schemeClr val="bg1"/>
                </a:solidFill>
              </a:rPr>
              <a:t>4 de contingencia</a:t>
            </a:r>
            <a:endParaRPr lang="en-US" sz="2000" dirty="0"/>
          </a:p>
        </p:txBody>
      </p:sp>
      <p:sp>
        <p:nvSpPr>
          <p:cNvPr id="10" name="Text 7"/>
          <p:cNvSpPr txBox="1"/>
          <p:nvPr/>
        </p:nvSpPr>
        <p:spPr>
          <a:xfrm>
            <a:off x="8823960" y="4480560"/>
            <a:ext cx="2606040" cy="1005840"/>
          </a:xfrm>
          <a:prstGeom prst="rect">
            <a:avLst/>
          </a:prstGeom>
          <a:noFill/>
          <a:ln/>
        </p:spPr>
        <p:txBody>
          <a:bodyPr wrap="square" lIns="0" tIns="0" rIns="0" bIns="0" rtlCol="0" anchor="t"/>
          <a:lstStyle/>
          <a:p>
            <a:pPr indent="0" marL="0">
              <a:buNone/>
            </a:pPr>
            <a:r>
              <a:rPr lang="en-US" sz="1500" dirty="0">
                <a:solidFill>
                  <a:schemeClr val="accent5"/>
                </a:solidFill>
              </a:rPr>
              <a:t>E3, E6, E8 y E9 se usan si las primeras no bastan.</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kicker"/>
          <p:cNvSpPr txBox="1"/>
          <p:nvPr/>
        </p:nvSpPr>
        <p:spPr>
          <a:xfrm>
            <a:off x="548640" y="365760"/>
            <a:ext cx="7315200" cy="274320"/>
          </a:xfrm>
          <a:prstGeom prst="rect">
            <a:avLst/>
          </a:prstGeom>
          <a:noFill/>
          <a:ln/>
        </p:spPr>
        <p:txBody>
          <a:bodyPr wrap="square" lIns="0" tIns="0" rIns="0" bIns="0" rtlCol="0" anchor="ctr"/>
          <a:lstStyle/>
          <a:p>
            <a:pPr indent="0" marL="0">
              <a:buNone/>
            </a:pPr>
            <a:r>
              <a:rPr lang="en-US" sz="1100" b="1" spc="200" kern="0" dirty="0">
                <a:solidFill>
                  <a:schemeClr val="accent2"/>
                </a:solidFill>
              </a:rPr>
              <a:t>07 / MATRIZ CUANTITATIVA MCPE</a:t>
            </a:r>
            <a:endParaRPr lang="en-US" sz="1100" dirty="0"/>
          </a:p>
        </p:txBody>
      </p:sp>
      <p:sp>
        <p:nvSpPr>
          <p:cNvPr id="3" name="Text 1"/>
          <p:cNvSpPr/>
          <p:nvPr>
            <p:ph idx="101" type="title" hasCustomPrompt="1"/>
          </p:nvPr>
        </p:nvSpPr>
        <p:spPr>
          <a:xfrm>
            <a:off x="548640" y="658368"/>
            <a:ext cx="11064240" cy="685800"/>
          </a:xfrm>
          <a:prstGeom prst="rect">
            <a:avLst/>
          </a:prstGeom>
          <a:noFill/>
          <a:ln/>
        </p:spPr>
        <p:txBody>
          <a:bodyPr wrap="square" lIns="0" tIns="0" rIns="0" bIns="0" rtlCol="0" anchor="t"/>
          <a:lstStyle/>
          <a:p>
            <a:pPr algn="l" indent="0" marL="0">
              <a:buNone/>
            </a:pPr>
            <a:r>
              <a:rPr lang="en-US" sz="3000" b="1" dirty="0">
                <a:solidFill>
                  <a:schemeClr val="tx1"/>
                </a:solidFill>
              </a:rPr>
              <a:t>La MCPE elige cuatro estrategias</a:t>
            </a:r>
            <a:endParaRPr lang="en-US" sz="3000" dirty="0"/>
          </a:p>
        </p:txBody>
      </p:sp>
      <p:sp>
        <p:nvSpPr>
          <p:cNvPr id="4" name="marco-mcpe"/>
          <p:cNvSpPr/>
          <p:nvPr/>
        </p:nvSpPr>
        <p:spPr>
          <a:xfrm>
            <a:off x="548640" y="1600200"/>
            <a:ext cx="7406640" cy="4526280"/>
          </a:xfrm>
          <a:prstGeom prst="roundRect">
            <a:avLst>
              <a:gd name="adj" fmla="val 1616"/>
            </a:avLst>
          </a:prstGeom>
          <a:solidFill>
            <a:schemeClr val="bg1"/>
          </a:solidFill>
          <a:ln w="12700">
            <a:solidFill>
              <a:schemeClr val="bg1"/>
            </a:solidFill>
            <a:prstDash val="solid"/>
          </a:ln>
        </p:spPr>
      </p:sp>
      <p:graphicFrame>
        <p:nvGraphicFramePr>
          <p:cNvPr id="5" name="grafico-mcpe" descr=""/>
          <p:cNvGraphicFramePr/>
          <p:nvPr/>
        </p:nvGraphicFramePr>
        <p:xfrm>
          <a:off x="731520" y="1737360"/>
          <a:ext cx="7040880" cy="4251960"/>
        </p:xfrm>
        <a:graphic xmlns:a="http://schemas.openxmlformats.org/drawingml/2006/main">
          <a:graphicData uri="http://schemas.openxmlformats.org/drawingml/2006/chart">
            <c:chart xmlns:c="http://schemas.openxmlformats.org/drawingml/2006/chart" r:id="rId1"/>
          </a:graphicData>
        </a:graphic>
      </p:graphicFrame>
      <p:sp>
        <p:nvSpPr>
          <p:cNvPr id="6" name="regla"/>
          <p:cNvSpPr/>
          <p:nvPr/>
        </p:nvSpPr>
        <p:spPr>
          <a:xfrm>
            <a:off x="8321040" y="1600200"/>
            <a:ext cx="3291840" cy="2148840"/>
          </a:xfrm>
          <a:prstGeom prst="roundRect">
            <a:avLst>
              <a:gd name="adj" fmla="val 3404"/>
            </a:avLst>
          </a:prstGeom>
          <a:solidFill>
            <a:schemeClr val="tx2"/>
          </a:solidFill>
          <a:ln w="12700">
            <a:solidFill>
              <a:schemeClr val="tx2"/>
            </a:solidFill>
            <a:prstDash val="solid"/>
          </a:ln>
        </p:spPr>
      </p:sp>
      <p:sp>
        <p:nvSpPr>
          <p:cNvPr id="7" name="Text 4"/>
          <p:cNvSpPr txBox="1"/>
          <p:nvPr/>
        </p:nvSpPr>
        <p:spPr>
          <a:xfrm>
            <a:off x="8549640" y="1783080"/>
            <a:ext cx="2834640" cy="365760"/>
          </a:xfrm>
          <a:prstGeom prst="rect">
            <a:avLst/>
          </a:prstGeom>
          <a:noFill/>
          <a:ln/>
        </p:spPr>
        <p:txBody>
          <a:bodyPr wrap="square" lIns="0" tIns="0" rIns="0" bIns="0" rtlCol="0" anchor="t"/>
          <a:lstStyle/>
          <a:p>
            <a:pPr indent="0" marL="0">
              <a:buNone/>
            </a:pPr>
            <a:r>
              <a:rPr lang="en-US" sz="1800" b="1" dirty="0">
                <a:solidFill>
                  <a:schemeClr val="accent1"/>
                </a:solidFill>
              </a:rPr>
              <a:t>Cómo se lee</a:t>
            </a:r>
            <a:endParaRPr lang="en-US" sz="1800" dirty="0"/>
          </a:p>
        </p:txBody>
      </p:sp>
      <p:sp>
        <p:nvSpPr>
          <p:cNvPr id="8" name="Text 5"/>
          <p:cNvSpPr txBox="1"/>
          <p:nvPr/>
        </p:nvSpPr>
        <p:spPr>
          <a:xfrm>
            <a:off x="8549640" y="2194560"/>
            <a:ext cx="2880360" cy="1417320"/>
          </a:xfrm>
          <a:prstGeom prst="rect">
            <a:avLst/>
          </a:prstGeom>
          <a:noFill/>
          <a:ln/>
        </p:spPr>
        <p:txBody>
          <a:bodyPr wrap="square" lIns="0" tIns="0" rIns="0" bIns="0" rtlCol="0" anchor="t"/>
          <a:lstStyle/>
          <a:p>
            <a:pPr indent="0" marL="0">
              <a:buNone/>
            </a:pPr>
            <a:r>
              <a:rPr lang="en-US" sz="1400" dirty="0">
                <a:solidFill>
                  <a:schemeClr val="bg1"/>
                </a:solidFill>
              </a:rPr>
              <a:t>23 factores de la MEFE y la MEFI, con sus mismos pesos. El total va de 2 a 8 y desde 5 es aceptable.</a:t>
            </a:r>
            <a:endParaRPr lang="en-US" sz="1400" dirty="0"/>
          </a:p>
        </p:txBody>
      </p:sp>
      <p:sp>
        <p:nvSpPr>
          <p:cNvPr id="9" name="nota-e2"/>
          <p:cNvSpPr/>
          <p:nvPr/>
        </p:nvSpPr>
        <p:spPr>
          <a:xfrm>
            <a:off x="8321040" y="3931920"/>
            <a:ext cx="3291840" cy="2194560"/>
          </a:xfrm>
          <a:prstGeom prst="roundRect">
            <a:avLst>
              <a:gd name="adj" fmla="val 3333"/>
            </a:avLst>
          </a:prstGeom>
          <a:solidFill>
            <a:schemeClr val="accent3"/>
          </a:solidFill>
          <a:ln w="12700">
            <a:solidFill>
              <a:schemeClr val="accent3"/>
            </a:solidFill>
            <a:prstDash val="solid"/>
          </a:ln>
        </p:spPr>
      </p:sp>
      <p:sp>
        <p:nvSpPr>
          <p:cNvPr id="10" name="Text 7"/>
          <p:cNvSpPr txBox="1"/>
          <p:nvPr/>
        </p:nvSpPr>
        <p:spPr>
          <a:xfrm>
            <a:off x="8549640" y="4114800"/>
            <a:ext cx="2834640" cy="365760"/>
          </a:xfrm>
          <a:prstGeom prst="rect">
            <a:avLst/>
          </a:prstGeom>
          <a:noFill/>
          <a:ln/>
        </p:spPr>
        <p:txBody>
          <a:bodyPr wrap="square" lIns="0" tIns="0" rIns="0" bIns="0" rtlCol="0" anchor="t"/>
          <a:lstStyle/>
          <a:p>
            <a:pPr indent="0" marL="0">
              <a:buNone/>
            </a:pPr>
            <a:r>
              <a:rPr lang="en-US" sz="1800" b="1" dirty="0">
                <a:solidFill>
                  <a:schemeClr val="tx1"/>
                </a:solidFill>
              </a:rPr>
              <a:t>E2 con 4.94</a:t>
            </a:r>
            <a:endParaRPr lang="en-US" sz="1800" dirty="0"/>
          </a:p>
        </p:txBody>
      </p:sp>
      <p:sp>
        <p:nvSpPr>
          <p:cNvPr id="11" name="Text 8"/>
          <p:cNvSpPr txBox="1"/>
          <p:nvPr/>
        </p:nvSpPr>
        <p:spPr>
          <a:xfrm>
            <a:off x="8549640" y="4526280"/>
            <a:ext cx="2880360" cy="1463040"/>
          </a:xfrm>
          <a:prstGeom prst="rect">
            <a:avLst/>
          </a:prstGeom>
          <a:noFill/>
          <a:ln/>
        </p:spPr>
        <p:txBody>
          <a:bodyPr wrap="square" lIns="0" tIns="0" rIns="0" bIns="0" rtlCol="0" anchor="t"/>
          <a:lstStyle/>
          <a:p>
            <a:pPr indent="0" marL="0">
              <a:buNone/>
            </a:pPr>
            <a:r>
              <a:rPr lang="en-US" sz="1400" dirty="0">
                <a:solidFill>
                  <a:schemeClr val="tx1"/>
                </a:solidFill>
              </a:rPr>
              <a:t>Queda apenas debajo de 5. La mantengo porque es la que más ayuda a conseguir inscripciones.</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kicker"/>
          <p:cNvSpPr txBox="1"/>
          <p:nvPr/>
        </p:nvSpPr>
        <p:spPr>
          <a:xfrm>
            <a:off x="548640" y="365760"/>
            <a:ext cx="7315200" cy="274320"/>
          </a:xfrm>
          <a:prstGeom prst="rect">
            <a:avLst/>
          </a:prstGeom>
          <a:noFill/>
          <a:ln/>
        </p:spPr>
        <p:txBody>
          <a:bodyPr wrap="square" lIns="0" tIns="0" rIns="0" bIns="0" rtlCol="0" anchor="ctr"/>
          <a:lstStyle/>
          <a:p>
            <a:pPr indent="0" marL="0">
              <a:buNone/>
            </a:pPr>
            <a:r>
              <a:rPr lang="en-US" sz="1100" b="1" spc="200" kern="0" dirty="0">
                <a:solidFill>
                  <a:schemeClr val="accent2"/>
                </a:solidFill>
              </a:rPr>
              <a:t>08 / MATRIZ DE ÉTICA</a:t>
            </a:r>
            <a:endParaRPr lang="en-US" sz="1100" dirty="0"/>
          </a:p>
        </p:txBody>
      </p:sp>
      <p:sp>
        <p:nvSpPr>
          <p:cNvPr id="3" name="Text 1"/>
          <p:cNvSpPr/>
          <p:nvPr>
            <p:ph idx="101" type="title" hasCustomPrompt="1"/>
          </p:nvPr>
        </p:nvSpPr>
        <p:spPr>
          <a:xfrm>
            <a:off x="548640" y="658368"/>
            <a:ext cx="11064240" cy="685800"/>
          </a:xfrm>
          <a:prstGeom prst="rect">
            <a:avLst/>
          </a:prstGeom>
          <a:noFill/>
          <a:ln/>
        </p:spPr>
        <p:txBody>
          <a:bodyPr wrap="square" lIns="0" tIns="0" rIns="0" bIns="0" rtlCol="0" anchor="t"/>
          <a:lstStyle/>
          <a:p>
            <a:pPr algn="l" indent="0" marL="0">
              <a:buNone/>
            </a:pPr>
            <a:r>
              <a:rPr lang="en-US" sz="3000" b="1" dirty="0">
                <a:solidFill>
                  <a:schemeClr val="tx1"/>
                </a:solidFill>
              </a:rPr>
              <a:t>Las cuatro estrategias pasan la Matriz de Ética</a:t>
            </a:r>
            <a:endParaRPr lang="en-US" sz="3000" dirty="0"/>
          </a:p>
        </p:txBody>
      </p:sp>
      <p:sp>
        <p:nvSpPr>
          <p:cNvPr id="4" name="etica-E5"/>
          <p:cNvSpPr/>
          <p:nvPr/>
        </p:nvSpPr>
        <p:spPr>
          <a:xfrm>
            <a:off x="548640" y="1600200"/>
            <a:ext cx="2651760" cy="4526280"/>
          </a:xfrm>
          <a:prstGeom prst="roundRect">
            <a:avLst>
              <a:gd name="adj" fmla="val 2759"/>
            </a:avLst>
          </a:prstGeom>
          <a:solidFill>
            <a:schemeClr val="bg1"/>
          </a:solidFill>
          <a:ln w="12700">
            <a:solidFill>
              <a:schemeClr val="bg1"/>
            </a:solidFill>
            <a:prstDash val="solid"/>
          </a:ln>
        </p:spPr>
      </p:sp>
      <p:sp>
        <p:nvSpPr>
          <p:cNvPr id="5" name="codigo-E5"/>
          <p:cNvSpPr/>
          <p:nvPr/>
        </p:nvSpPr>
        <p:spPr>
          <a:xfrm>
            <a:off x="777240" y="1828800"/>
            <a:ext cx="777240" cy="777240"/>
          </a:xfrm>
          <a:prstGeom prst="ellipse">
            <a:avLst/>
          </a:prstGeom>
          <a:solidFill>
            <a:schemeClr val="tx2"/>
          </a:solidFill>
          <a:ln w="12700">
            <a:solidFill>
              <a:schemeClr val="tx2"/>
            </a:solidFill>
            <a:prstDash val="solid"/>
          </a:ln>
        </p:spPr>
      </p:sp>
      <p:sp>
        <p:nvSpPr>
          <p:cNvPr id="6" name="Text 4"/>
          <p:cNvSpPr txBox="1"/>
          <p:nvPr/>
        </p:nvSpPr>
        <p:spPr>
          <a:xfrm>
            <a:off x="777240" y="1828800"/>
            <a:ext cx="777240" cy="777240"/>
          </a:xfrm>
          <a:prstGeom prst="rect">
            <a:avLst/>
          </a:prstGeom>
          <a:noFill/>
          <a:ln/>
        </p:spPr>
        <p:txBody>
          <a:bodyPr wrap="square" lIns="0" tIns="0" rIns="0" bIns="0" rtlCol="0" anchor="ctr"/>
          <a:lstStyle/>
          <a:p>
            <a:pPr algn="ctr" indent="0" marL="0">
              <a:buNone/>
            </a:pPr>
            <a:r>
              <a:rPr lang="en-US" sz="1600" b="1" dirty="0">
                <a:solidFill>
                  <a:schemeClr val="accent1"/>
                </a:solidFill>
              </a:rPr>
              <a:t>E5</a:t>
            </a:r>
            <a:endParaRPr lang="en-US" sz="1600" dirty="0"/>
          </a:p>
        </p:txBody>
      </p:sp>
      <p:sp>
        <p:nvSpPr>
          <p:cNvPr id="7" name="Text 5"/>
          <p:cNvSpPr txBox="1"/>
          <p:nvPr/>
        </p:nvSpPr>
        <p:spPr>
          <a:xfrm>
            <a:off x="1737360" y="1965960"/>
            <a:ext cx="1280160" cy="502920"/>
          </a:xfrm>
          <a:prstGeom prst="rect">
            <a:avLst/>
          </a:prstGeom>
          <a:noFill/>
          <a:ln/>
        </p:spPr>
        <p:txBody>
          <a:bodyPr wrap="square" lIns="0" tIns="0" rIns="0" bIns="0" rtlCol="0" anchor="t"/>
          <a:lstStyle/>
          <a:p>
            <a:pPr indent="0" marL="0">
              <a:buNone/>
            </a:pPr>
            <a:r>
              <a:rPr lang="en-US" sz="2200" b="1" dirty="0">
                <a:solidFill>
                  <a:schemeClr val="accent2"/>
                </a:solidFill>
              </a:rPr>
              <a:t>5.48</a:t>
            </a:r>
            <a:endParaRPr lang="en-US" sz="2200" dirty="0"/>
          </a:p>
        </p:txBody>
      </p:sp>
      <p:sp>
        <p:nvSpPr>
          <p:cNvPr id="8" name="Text 6"/>
          <p:cNvSpPr txBox="1"/>
          <p:nvPr/>
        </p:nvSpPr>
        <p:spPr>
          <a:xfrm>
            <a:off x="777240" y="2834640"/>
            <a:ext cx="2240280" cy="868680"/>
          </a:xfrm>
          <a:prstGeom prst="rect">
            <a:avLst/>
          </a:prstGeom>
          <a:noFill/>
          <a:ln/>
        </p:spPr>
        <p:txBody>
          <a:bodyPr wrap="square" lIns="0" tIns="0" rIns="0" bIns="0" rtlCol="0" anchor="t"/>
          <a:lstStyle/>
          <a:p>
            <a:pPr indent="0" marL="0">
              <a:buNone/>
            </a:pPr>
            <a:r>
              <a:rPr lang="en-US" sz="1500" b="1" dirty="0">
                <a:solidFill>
                  <a:schemeClr val="tx1"/>
                </a:solidFill>
              </a:rPr>
              <a:t>Medir y premiar el cumplimiento docente</a:t>
            </a:r>
            <a:endParaRPr lang="en-US" sz="1500" dirty="0"/>
          </a:p>
        </p:txBody>
      </p:sp>
      <p:sp>
        <p:nvSpPr>
          <p:cNvPr id="9" name="Text 7"/>
          <p:cNvSpPr txBox="1"/>
          <p:nvPr/>
        </p:nvSpPr>
        <p:spPr>
          <a:xfrm>
            <a:off x="777240" y="3749040"/>
            <a:ext cx="2240280" cy="1600200"/>
          </a:xfrm>
          <a:prstGeom prst="rect">
            <a:avLst/>
          </a:prstGeom>
          <a:noFill/>
          <a:ln/>
        </p:spPr>
        <p:txBody>
          <a:bodyPr wrap="square" lIns="0" tIns="0" rIns="0" bIns="0" rtlCol="0" anchor="t"/>
          <a:lstStyle/>
          <a:p>
            <a:pPr indent="0" marL="0">
              <a:buNone/>
            </a:pPr>
            <a:r>
              <a:rPr lang="en-US" sz="1300" dirty="0">
                <a:solidFill>
                  <a:schemeClr val="accent4"/>
                </a:solidFill>
              </a:rPr>
              <a:t>Promueve el debido proceso: reglas claras y cada profesor ve sus datos. Es justa porque el bono sigue la misma regla para todos.</a:t>
            </a:r>
            <a:endParaRPr lang="en-US" sz="1300" dirty="0"/>
          </a:p>
        </p:txBody>
      </p:sp>
      <p:sp>
        <p:nvSpPr>
          <p:cNvPr id="10" name="Text 8"/>
          <p:cNvSpPr txBox="1"/>
          <p:nvPr/>
        </p:nvSpPr>
        <p:spPr>
          <a:xfrm>
            <a:off x="777240" y="5577840"/>
            <a:ext cx="2240280" cy="320040"/>
          </a:xfrm>
          <a:prstGeom prst="rect">
            <a:avLst/>
          </a:prstGeom>
          <a:noFill/>
          <a:ln/>
        </p:spPr>
        <p:txBody>
          <a:bodyPr wrap="square" lIns="0" tIns="0" rIns="0" bIns="0" rtlCol="0" anchor="t"/>
          <a:lstStyle/>
          <a:p>
            <a:pPr indent="0" marL="0">
              <a:buNone/>
            </a:pPr>
            <a:r>
              <a:rPr lang="en-US" sz="1200" b="1" spc="200" kern="0" dirty="0">
                <a:solidFill>
                  <a:schemeClr val="accent2"/>
                </a:solidFill>
              </a:rPr>
              <a:t>SE ACEPTA</a:t>
            </a:r>
            <a:endParaRPr lang="en-US" sz="1200" dirty="0"/>
          </a:p>
        </p:txBody>
      </p:sp>
      <p:sp>
        <p:nvSpPr>
          <p:cNvPr id="11" name="etica-E10"/>
          <p:cNvSpPr/>
          <p:nvPr/>
        </p:nvSpPr>
        <p:spPr>
          <a:xfrm>
            <a:off x="3360420" y="1600200"/>
            <a:ext cx="2651760" cy="4526280"/>
          </a:xfrm>
          <a:prstGeom prst="roundRect">
            <a:avLst>
              <a:gd name="adj" fmla="val 2759"/>
            </a:avLst>
          </a:prstGeom>
          <a:solidFill>
            <a:schemeClr val="bg1"/>
          </a:solidFill>
          <a:ln w="12700">
            <a:solidFill>
              <a:schemeClr val="bg1"/>
            </a:solidFill>
            <a:prstDash val="solid"/>
          </a:ln>
        </p:spPr>
      </p:sp>
      <p:sp>
        <p:nvSpPr>
          <p:cNvPr id="12" name="codigo-E10"/>
          <p:cNvSpPr/>
          <p:nvPr/>
        </p:nvSpPr>
        <p:spPr>
          <a:xfrm>
            <a:off x="3589020" y="1828800"/>
            <a:ext cx="777240" cy="777240"/>
          </a:xfrm>
          <a:prstGeom prst="ellipse">
            <a:avLst/>
          </a:prstGeom>
          <a:solidFill>
            <a:schemeClr val="tx2"/>
          </a:solidFill>
          <a:ln w="12700">
            <a:solidFill>
              <a:schemeClr val="tx2"/>
            </a:solidFill>
            <a:prstDash val="solid"/>
          </a:ln>
        </p:spPr>
      </p:sp>
      <p:sp>
        <p:nvSpPr>
          <p:cNvPr id="13" name="Text 11"/>
          <p:cNvSpPr txBox="1"/>
          <p:nvPr/>
        </p:nvSpPr>
        <p:spPr>
          <a:xfrm>
            <a:off x="3589020" y="1828800"/>
            <a:ext cx="777240" cy="777240"/>
          </a:xfrm>
          <a:prstGeom prst="rect">
            <a:avLst/>
          </a:prstGeom>
          <a:noFill/>
          <a:ln/>
        </p:spPr>
        <p:txBody>
          <a:bodyPr wrap="square" lIns="0" tIns="0" rIns="0" bIns="0" rtlCol="0" anchor="ctr"/>
          <a:lstStyle/>
          <a:p>
            <a:pPr algn="ctr" indent="0" marL="0">
              <a:buNone/>
            </a:pPr>
            <a:r>
              <a:rPr lang="en-US" sz="1600" b="1" dirty="0">
                <a:solidFill>
                  <a:schemeClr val="accent1"/>
                </a:solidFill>
              </a:rPr>
              <a:t>E10</a:t>
            </a:r>
            <a:endParaRPr lang="en-US" sz="1600" dirty="0"/>
          </a:p>
        </p:txBody>
      </p:sp>
      <p:sp>
        <p:nvSpPr>
          <p:cNvPr id="14" name="Text 12"/>
          <p:cNvSpPr txBox="1"/>
          <p:nvPr/>
        </p:nvSpPr>
        <p:spPr>
          <a:xfrm>
            <a:off x="4549140" y="1965960"/>
            <a:ext cx="1280160" cy="502920"/>
          </a:xfrm>
          <a:prstGeom prst="rect">
            <a:avLst/>
          </a:prstGeom>
          <a:noFill/>
          <a:ln/>
        </p:spPr>
        <p:txBody>
          <a:bodyPr wrap="square" lIns="0" tIns="0" rIns="0" bIns="0" rtlCol="0" anchor="t"/>
          <a:lstStyle/>
          <a:p>
            <a:pPr indent="0" marL="0">
              <a:buNone/>
            </a:pPr>
            <a:r>
              <a:rPr lang="en-US" sz="2200" b="1" dirty="0">
                <a:solidFill>
                  <a:schemeClr val="accent2"/>
                </a:solidFill>
              </a:rPr>
              <a:t>5.40</a:t>
            </a:r>
            <a:endParaRPr lang="en-US" sz="2200" dirty="0"/>
          </a:p>
        </p:txBody>
      </p:sp>
      <p:sp>
        <p:nvSpPr>
          <p:cNvPr id="15" name="Text 13"/>
          <p:cNvSpPr txBox="1"/>
          <p:nvPr/>
        </p:nvSpPr>
        <p:spPr>
          <a:xfrm>
            <a:off x="3589020" y="2834640"/>
            <a:ext cx="2240280" cy="868680"/>
          </a:xfrm>
          <a:prstGeom prst="rect">
            <a:avLst/>
          </a:prstGeom>
          <a:noFill/>
          <a:ln/>
        </p:spPr>
        <p:txBody>
          <a:bodyPr wrap="square" lIns="0" tIns="0" rIns="0" bIns="0" rtlCol="0" anchor="t"/>
          <a:lstStyle/>
          <a:p>
            <a:pPr indent="0" marL="0">
              <a:buNone/>
            </a:pPr>
            <a:r>
              <a:rPr lang="en-US" sz="1500" b="1" dirty="0">
                <a:solidFill>
                  <a:schemeClr val="tx1"/>
                </a:solidFill>
              </a:rPr>
              <a:t>Grupos de tres o cuatro alumnos</a:t>
            </a:r>
            <a:endParaRPr lang="en-US" sz="1500" dirty="0"/>
          </a:p>
        </p:txBody>
      </p:sp>
      <p:sp>
        <p:nvSpPr>
          <p:cNvPr id="16" name="Text 14"/>
          <p:cNvSpPr txBox="1"/>
          <p:nvPr/>
        </p:nvSpPr>
        <p:spPr>
          <a:xfrm>
            <a:off x="3589020" y="3749040"/>
            <a:ext cx="2240280" cy="1600200"/>
          </a:xfrm>
          <a:prstGeom prst="rect">
            <a:avLst/>
          </a:prstGeom>
          <a:noFill/>
          <a:ln/>
        </p:spPr>
        <p:txBody>
          <a:bodyPr wrap="square" lIns="0" tIns="0" rIns="0" bIns="0" rtlCol="0" anchor="t"/>
          <a:lstStyle/>
          <a:p>
            <a:pPr indent="0" marL="0">
              <a:buNone/>
            </a:pPr>
            <a:r>
              <a:rPr lang="en-US" sz="1300" dirty="0">
                <a:solidFill>
                  <a:schemeClr val="accent4"/>
                </a:solidFill>
              </a:rPr>
              <a:t>Es justa en la distribución: baja el precio y llega a familias que no pagan una clase individual.</a:t>
            </a:r>
            <a:endParaRPr lang="en-US" sz="1300" dirty="0"/>
          </a:p>
        </p:txBody>
      </p:sp>
      <p:sp>
        <p:nvSpPr>
          <p:cNvPr id="17" name="Text 15"/>
          <p:cNvSpPr txBox="1"/>
          <p:nvPr/>
        </p:nvSpPr>
        <p:spPr>
          <a:xfrm>
            <a:off x="3589020" y="5577840"/>
            <a:ext cx="2240280" cy="320040"/>
          </a:xfrm>
          <a:prstGeom prst="rect">
            <a:avLst/>
          </a:prstGeom>
          <a:noFill/>
          <a:ln/>
        </p:spPr>
        <p:txBody>
          <a:bodyPr wrap="square" lIns="0" tIns="0" rIns="0" bIns="0" rtlCol="0" anchor="t"/>
          <a:lstStyle/>
          <a:p>
            <a:pPr indent="0" marL="0">
              <a:buNone/>
            </a:pPr>
            <a:r>
              <a:rPr lang="en-US" sz="1200" b="1" spc="200" kern="0" dirty="0">
                <a:solidFill>
                  <a:schemeClr val="accent2"/>
                </a:solidFill>
              </a:rPr>
              <a:t>SE ACEPTA</a:t>
            </a:r>
            <a:endParaRPr lang="en-US" sz="1200" dirty="0"/>
          </a:p>
        </p:txBody>
      </p:sp>
      <p:sp>
        <p:nvSpPr>
          <p:cNvPr id="18" name="etica-E1"/>
          <p:cNvSpPr/>
          <p:nvPr/>
        </p:nvSpPr>
        <p:spPr>
          <a:xfrm>
            <a:off x="6172200" y="1600200"/>
            <a:ext cx="2651760" cy="4526280"/>
          </a:xfrm>
          <a:prstGeom prst="roundRect">
            <a:avLst>
              <a:gd name="adj" fmla="val 2759"/>
            </a:avLst>
          </a:prstGeom>
          <a:solidFill>
            <a:schemeClr val="bg1"/>
          </a:solidFill>
          <a:ln w="12700">
            <a:solidFill>
              <a:schemeClr val="bg1"/>
            </a:solidFill>
            <a:prstDash val="solid"/>
          </a:ln>
        </p:spPr>
      </p:sp>
      <p:sp>
        <p:nvSpPr>
          <p:cNvPr id="19" name="codigo-E1"/>
          <p:cNvSpPr/>
          <p:nvPr/>
        </p:nvSpPr>
        <p:spPr>
          <a:xfrm>
            <a:off x="6400800" y="1828800"/>
            <a:ext cx="777240" cy="777240"/>
          </a:xfrm>
          <a:prstGeom prst="ellipse">
            <a:avLst/>
          </a:prstGeom>
          <a:solidFill>
            <a:schemeClr val="tx2"/>
          </a:solidFill>
          <a:ln w="12700">
            <a:solidFill>
              <a:schemeClr val="tx2"/>
            </a:solidFill>
            <a:prstDash val="solid"/>
          </a:ln>
        </p:spPr>
      </p:sp>
      <p:sp>
        <p:nvSpPr>
          <p:cNvPr id="20" name="Text 18"/>
          <p:cNvSpPr txBox="1"/>
          <p:nvPr/>
        </p:nvSpPr>
        <p:spPr>
          <a:xfrm>
            <a:off x="6400800" y="1828800"/>
            <a:ext cx="777240" cy="777240"/>
          </a:xfrm>
          <a:prstGeom prst="rect">
            <a:avLst/>
          </a:prstGeom>
          <a:noFill/>
          <a:ln/>
        </p:spPr>
        <p:txBody>
          <a:bodyPr wrap="square" lIns="0" tIns="0" rIns="0" bIns="0" rtlCol="0" anchor="ctr"/>
          <a:lstStyle/>
          <a:p>
            <a:pPr algn="ctr" indent="0" marL="0">
              <a:buNone/>
            </a:pPr>
            <a:r>
              <a:rPr lang="en-US" sz="1600" b="1" dirty="0">
                <a:solidFill>
                  <a:schemeClr val="accent1"/>
                </a:solidFill>
              </a:rPr>
              <a:t>E1</a:t>
            </a:r>
            <a:endParaRPr lang="en-US" sz="1600" dirty="0"/>
          </a:p>
        </p:txBody>
      </p:sp>
      <p:sp>
        <p:nvSpPr>
          <p:cNvPr id="21" name="Text 19"/>
          <p:cNvSpPr txBox="1"/>
          <p:nvPr/>
        </p:nvSpPr>
        <p:spPr>
          <a:xfrm>
            <a:off x="7360920" y="1965960"/>
            <a:ext cx="1280160" cy="502920"/>
          </a:xfrm>
          <a:prstGeom prst="rect">
            <a:avLst/>
          </a:prstGeom>
          <a:noFill/>
          <a:ln/>
        </p:spPr>
        <p:txBody>
          <a:bodyPr wrap="square" lIns="0" tIns="0" rIns="0" bIns="0" rtlCol="0" anchor="t"/>
          <a:lstStyle/>
          <a:p>
            <a:pPr indent="0" marL="0">
              <a:buNone/>
            </a:pPr>
            <a:r>
              <a:rPr lang="en-US" sz="2200" b="1" dirty="0">
                <a:solidFill>
                  <a:schemeClr val="accent2"/>
                </a:solidFill>
              </a:rPr>
              <a:t>5.29</a:t>
            </a:r>
            <a:endParaRPr lang="en-US" sz="2200" dirty="0"/>
          </a:p>
        </p:txBody>
      </p:sp>
      <p:sp>
        <p:nvSpPr>
          <p:cNvPr id="22" name="Text 20"/>
          <p:cNvSpPr txBox="1"/>
          <p:nvPr/>
        </p:nvSpPr>
        <p:spPr>
          <a:xfrm>
            <a:off x="6400800" y="2834640"/>
            <a:ext cx="2240280" cy="868680"/>
          </a:xfrm>
          <a:prstGeom prst="rect">
            <a:avLst/>
          </a:prstGeom>
          <a:noFill/>
          <a:ln/>
        </p:spPr>
        <p:txBody>
          <a:bodyPr wrap="square" lIns="0" tIns="0" rIns="0" bIns="0" rtlCol="0" anchor="t"/>
          <a:lstStyle/>
          <a:p>
            <a:pPr indent="0" marL="0">
              <a:buNone/>
            </a:pPr>
            <a:r>
              <a:rPr lang="en-US" sz="1500" b="1" dirty="0">
                <a:solidFill>
                  <a:schemeClr val="tx1"/>
                </a:solidFill>
              </a:rPr>
              <a:t>Nivelación por grado escolar</a:t>
            </a:r>
            <a:endParaRPr lang="en-US" sz="1500" dirty="0"/>
          </a:p>
        </p:txBody>
      </p:sp>
      <p:sp>
        <p:nvSpPr>
          <p:cNvPr id="23" name="Text 21"/>
          <p:cNvSpPr txBox="1"/>
          <p:nvPr/>
        </p:nvSpPr>
        <p:spPr>
          <a:xfrm>
            <a:off x="6400800" y="3749040"/>
            <a:ext cx="2240280" cy="1600200"/>
          </a:xfrm>
          <a:prstGeom prst="rect">
            <a:avLst/>
          </a:prstGeom>
          <a:noFill/>
          <a:ln/>
        </p:spPr>
        <p:txBody>
          <a:bodyPr wrap="square" lIns="0" tIns="0" rIns="0" bIns="0" rtlCol="0" anchor="t"/>
          <a:lstStyle/>
          <a:p>
            <a:pPr indent="0" marL="0">
              <a:buNone/>
            </a:pPr>
            <a:r>
              <a:rPr lang="en-US" sz="1300" dirty="0">
                <a:solidFill>
                  <a:schemeClr val="accent4"/>
                </a:solidFill>
              </a:rPr>
              <a:t>Es justa en la distribución: acerca el refuerzo en matemática a más familias.</a:t>
            </a:r>
            <a:endParaRPr lang="en-US" sz="1300" dirty="0"/>
          </a:p>
        </p:txBody>
      </p:sp>
      <p:sp>
        <p:nvSpPr>
          <p:cNvPr id="24" name="Text 22"/>
          <p:cNvSpPr txBox="1"/>
          <p:nvPr/>
        </p:nvSpPr>
        <p:spPr>
          <a:xfrm>
            <a:off x="6400800" y="5577840"/>
            <a:ext cx="2240280" cy="320040"/>
          </a:xfrm>
          <a:prstGeom prst="rect">
            <a:avLst/>
          </a:prstGeom>
          <a:noFill/>
          <a:ln/>
        </p:spPr>
        <p:txBody>
          <a:bodyPr wrap="square" lIns="0" tIns="0" rIns="0" bIns="0" rtlCol="0" anchor="t"/>
          <a:lstStyle/>
          <a:p>
            <a:pPr indent="0" marL="0">
              <a:buNone/>
            </a:pPr>
            <a:r>
              <a:rPr lang="en-US" sz="1200" b="1" spc="200" kern="0" dirty="0">
                <a:solidFill>
                  <a:schemeClr val="accent2"/>
                </a:solidFill>
              </a:rPr>
              <a:t>SE ACEPTA</a:t>
            </a:r>
            <a:endParaRPr lang="en-US" sz="1200" dirty="0"/>
          </a:p>
        </p:txBody>
      </p:sp>
      <p:sp>
        <p:nvSpPr>
          <p:cNvPr id="25" name="etica-E2"/>
          <p:cNvSpPr/>
          <p:nvPr/>
        </p:nvSpPr>
        <p:spPr>
          <a:xfrm>
            <a:off x="8983980" y="1600200"/>
            <a:ext cx="2651760" cy="4526280"/>
          </a:xfrm>
          <a:prstGeom prst="roundRect">
            <a:avLst>
              <a:gd name="adj" fmla="val 2759"/>
            </a:avLst>
          </a:prstGeom>
          <a:solidFill>
            <a:schemeClr val="accent3"/>
          </a:solidFill>
          <a:ln w="12700">
            <a:solidFill>
              <a:schemeClr val="accent3"/>
            </a:solidFill>
            <a:prstDash val="solid"/>
          </a:ln>
        </p:spPr>
      </p:sp>
      <p:sp>
        <p:nvSpPr>
          <p:cNvPr id="26" name="codigo-E2"/>
          <p:cNvSpPr/>
          <p:nvPr/>
        </p:nvSpPr>
        <p:spPr>
          <a:xfrm>
            <a:off x="9212580" y="1828800"/>
            <a:ext cx="777240" cy="777240"/>
          </a:xfrm>
          <a:prstGeom prst="ellipse">
            <a:avLst/>
          </a:prstGeom>
          <a:solidFill>
            <a:schemeClr val="tx2"/>
          </a:solidFill>
          <a:ln w="12700">
            <a:solidFill>
              <a:schemeClr val="tx2"/>
            </a:solidFill>
            <a:prstDash val="solid"/>
          </a:ln>
        </p:spPr>
      </p:sp>
      <p:sp>
        <p:nvSpPr>
          <p:cNvPr id="27" name="Text 25"/>
          <p:cNvSpPr txBox="1"/>
          <p:nvPr/>
        </p:nvSpPr>
        <p:spPr>
          <a:xfrm>
            <a:off x="9212580" y="1828800"/>
            <a:ext cx="777240" cy="777240"/>
          </a:xfrm>
          <a:prstGeom prst="rect">
            <a:avLst/>
          </a:prstGeom>
          <a:noFill/>
          <a:ln/>
        </p:spPr>
        <p:txBody>
          <a:bodyPr wrap="square" lIns="0" tIns="0" rIns="0" bIns="0" rtlCol="0" anchor="ctr"/>
          <a:lstStyle/>
          <a:p>
            <a:pPr algn="ctr" indent="0" marL="0">
              <a:buNone/>
            </a:pPr>
            <a:r>
              <a:rPr lang="en-US" sz="1600" b="1" dirty="0">
                <a:solidFill>
                  <a:schemeClr val="accent1"/>
                </a:solidFill>
              </a:rPr>
              <a:t>E2</a:t>
            </a:r>
            <a:endParaRPr lang="en-US" sz="1600" dirty="0"/>
          </a:p>
        </p:txBody>
      </p:sp>
      <p:sp>
        <p:nvSpPr>
          <p:cNvPr id="28" name="Text 26"/>
          <p:cNvSpPr txBox="1"/>
          <p:nvPr/>
        </p:nvSpPr>
        <p:spPr>
          <a:xfrm>
            <a:off x="10172700" y="1965960"/>
            <a:ext cx="1280160" cy="502920"/>
          </a:xfrm>
          <a:prstGeom prst="rect">
            <a:avLst/>
          </a:prstGeom>
          <a:noFill/>
          <a:ln/>
        </p:spPr>
        <p:txBody>
          <a:bodyPr wrap="square" lIns="0" tIns="0" rIns="0" bIns="0" rtlCol="0" anchor="t"/>
          <a:lstStyle/>
          <a:p>
            <a:pPr indent="0" marL="0">
              <a:buNone/>
            </a:pPr>
            <a:r>
              <a:rPr lang="en-US" sz="2200" b="1" dirty="0">
                <a:solidFill>
                  <a:schemeClr val="accent2"/>
                </a:solidFill>
              </a:rPr>
              <a:t>4.94</a:t>
            </a:r>
            <a:endParaRPr lang="en-US" sz="2200" dirty="0"/>
          </a:p>
        </p:txBody>
      </p:sp>
      <p:sp>
        <p:nvSpPr>
          <p:cNvPr id="29" name="Text 27"/>
          <p:cNvSpPr txBox="1"/>
          <p:nvPr/>
        </p:nvSpPr>
        <p:spPr>
          <a:xfrm>
            <a:off x="9212580" y="2834640"/>
            <a:ext cx="2240280" cy="868680"/>
          </a:xfrm>
          <a:prstGeom prst="rect">
            <a:avLst/>
          </a:prstGeom>
          <a:noFill/>
          <a:ln/>
        </p:spPr>
        <p:txBody>
          <a:bodyPr wrap="square" lIns="0" tIns="0" rIns="0" bIns="0" rtlCol="0" anchor="t"/>
          <a:lstStyle/>
          <a:p>
            <a:pPr indent="0" marL="0">
              <a:buNone/>
            </a:pPr>
            <a:r>
              <a:rPr lang="en-US" sz="1500" b="1" dirty="0">
                <a:solidFill>
                  <a:schemeClr val="tx1"/>
                </a:solidFill>
              </a:rPr>
              <a:t>Campañas y diagnóstico gratuito</a:t>
            </a:r>
            <a:endParaRPr lang="en-US" sz="1500" dirty="0"/>
          </a:p>
        </p:txBody>
      </p:sp>
      <p:sp>
        <p:nvSpPr>
          <p:cNvPr id="30" name="Text 28"/>
          <p:cNvSpPr txBox="1"/>
          <p:nvPr/>
        </p:nvSpPr>
        <p:spPr>
          <a:xfrm>
            <a:off x="9212580" y="3749040"/>
            <a:ext cx="2240280" cy="1600200"/>
          </a:xfrm>
          <a:prstGeom prst="rect">
            <a:avLst/>
          </a:prstGeom>
          <a:noFill/>
          <a:ln/>
        </p:spPr>
        <p:txBody>
          <a:bodyPr wrap="square" lIns="0" tIns="0" rIns="0" bIns="0" rtlCol="0" anchor="t"/>
          <a:lstStyle/>
          <a:p>
            <a:pPr indent="0" marL="0">
              <a:buNone/>
            </a:pPr>
            <a:r>
              <a:rPr lang="en-US" sz="1300" dirty="0">
                <a:solidFill>
                  <a:schemeClr val="accent4"/>
                </a:solidFill>
              </a:rPr>
              <a:t>Neutral en privacidad solo con autorización de los padres y cumpliendo la ley de datos.</a:t>
            </a:r>
            <a:endParaRPr lang="en-US" sz="1300" dirty="0"/>
          </a:p>
        </p:txBody>
      </p:sp>
      <p:sp>
        <p:nvSpPr>
          <p:cNvPr id="31" name="Text 29"/>
          <p:cNvSpPr txBox="1"/>
          <p:nvPr/>
        </p:nvSpPr>
        <p:spPr>
          <a:xfrm>
            <a:off x="9212580" y="5577840"/>
            <a:ext cx="2240280" cy="320040"/>
          </a:xfrm>
          <a:prstGeom prst="rect">
            <a:avLst/>
          </a:prstGeom>
          <a:noFill/>
          <a:ln/>
        </p:spPr>
        <p:txBody>
          <a:bodyPr wrap="square" lIns="0" tIns="0" rIns="0" bIns="0" rtlCol="0" anchor="t"/>
          <a:lstStyle/>
          <a:p>
            <a:pPr indent="0" marL="0">
              <a:buNone/>
            </a:pPr>
            <a:r>
              <a:rPr lang="en-US" sz="1200" b="1" spc="200" kern="0" dirty="0">
                <a:solidFill>
                  <a:schemeClr val="accent2"/>
                </a:solidFill>
              </a:rPr>
              <a:t>SE ACEPTA</a:t>
            </a:r>
            <a:endParaRPr lang="en-US" sz="12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kicker"/>
          <p:cNvSpPr txBox="1"/>
          <p:nvPr/>
        </p:nvSpPr>
        <p:spPr>
          <a:xfrm>
            <a:off x="548640" y="365760"/>
            <a:ext cx="73152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09 / CONCLUSIONES</a:t>
            </a:r>
            <a:endParaRPr lang="en-US" sz="1100" dirty="0"/>
          </a:p>
        </p:txBody>
      </p:sp>
      <p:sp>
        <p:nvSpPr>
          <p:cNvPr id="3" name="Text 1"/>
          <p:cNvSpPr/>
          <p:nvPr>
            <p:ph idx="101" type="title" hasCustomPrompt="1"/>
          </p:nvPr>
        </p:nvSpPr>
        <p:spPr>
          <a:xfrm>
            <a:off x="548640" y="658368"/>
            <a:ext cx="11064240" cy="685800"/>
          </a:xfrm>
          <a:prstGeom prst="rect">
            <a:avLst/>
          </a:prstGeom>
          <a:noFill/>
          <a:ln/>
        </p:spPr>
        <p:txBody>
          <a:bodyPr wrap="square" lIns="0" tIns="0" rIns="0" bIns="0" rtlCol="0" anchor="t"/>
          <a:lstStyle/>
          <a:p>
            <a:pPr algn="l" indent="0" marL="0">
              <a:buNone/>
            </a:pPr>
            <a:r>
              <a:rPr lang="en-US" sz="3000" b="1" dirty="0">
                <a:solidFill>
                  <a:schemeClr val="bg1"/>
                </a:solidFill>
              </a:rPr>
              <a:t>El primer paso es que los profesores cumplan</a:t>
            </a:r>
            <a:endParaRPr lang="en-US" sz="3000" dirty="0"/>
          </a:p>
        </p:txBody>
      </p:sp>
      <p:sp>
        <p:nvSpPr>
          <p:cNvPr id="4" name="paso-1"/>
          <p:cNvSpPr/>
          <p:nvPr/>
        </p:nvSpPr>
        <p:spPr>
          <a:xfrm>
            <a:off x="548640" y="1600200"/>
            <a:ext cx="594360" cy="594360"/>
          </a:xfrm>
          <a:prstGeom prst="ellipse">
            <a:avLst/>
          </a:prstGeom>
          <a:solidFill>
            <a:schemeClr val="accent1"/>
          </a:solidFill>
          <a:ln w="12700">
            <a:solidFill>
              <a:schemeClr val="accent1"/>
            </a:solidFill>
            <a:prstDash val="solid"/>
          </a:ln>
        </p:spPr>
      </p:sp>
      <p:sp>
        <p:nvSpPr>
          <p:cNvPr id="5" name="Text 3"/>
          <p:cNvSpPr txBox="1"/>
          <p:nvPr/>
        </p:nvSpPr>
        <p:spPr>
          <a:xfrm>
            <a:off x="548640" y="1600200"/>
            <a:ext cx="594360" cy="594360"/>
          </a:xfrm>
          <a:prstGeom prst="rect">
            <a:avLst/>
          </a:prstGeom>
          <a:noFill/>
          <a:ln/>
        </p:spPr>
        <p:txBody>
          <a:bodyPr wrap="square" lIns="0" tIns="0" rIns="0" bIns="0" rtlCol="0" anchor="ctr"/>
          <a:lstStyle/>
          <a:p>
            <a:pPr algn="ctr" indent="0" marL="0">
              <a:buNone/>
            </a:pPr>
            <a:r>
              <a:rPr lang="en-US" sz="1800" b="1" dirty="0">
                <a:solidFill>
                  <a:schemeClr val="tx2"/>
                </a:solidFill>
              </a:rPr>
              <a:t>1</a:t>
            </a:r>
            <a:endParaRPr lang="en-US" sz="1800" dirty="0"/>
          </a:p>
        </p:txBody>
      </p:sp>
      <p:sp>
        <p:nvSpPr>
          <p:cNvPr id="6" name="Text 4"/>
          <p:cNvSpPr txBox="1"/>
          <p:nvPr/>
        </p:nvSpPr>
        <p:spPr>
          <a:xfrm>
            <a:off x="1325880" y="1709928"/>
            <a:ext cx="5669280" cy="411480"/>
          </a:xfrm>
          <a:prstGeom prst="rect">
            <a:avLst/>
          </a:prstGeom>
          <a:noFill/>
          <a:ln/>
        </p:spPr>
        <p:txBody>
          <a:bodyPr wrap="square" lIns="0" tIns="0" rIns="0" bIns="0" rtlCol="0" anchor="t"/>
          <a:lstStyle/>
          <a:p>
            <a:pPr indent="0" marL="0">
              <a:buNone/>
            </a:pPr>
            <a:r>
              <a:rPr lang="en-US" sz="1800" b="1" dirty="0">
                <a:solidFill>
                  <a:schemeClr val="accent1"/>
                </a:solidFill>
              </a:rPr>
              <a:t>E5  </a:t>
            </a:r>
            <a:pPr indent="0" marL="0">
              <a:buNone/>
            </a:pPr>
            <a:r>
              <a:rPr lang="en-US" sz="1800" dirty="0">
                <a:solidFill>
                  <a:schemeClr val="bg1"/>
                </a:solidFill>
              </a:rPr>
              <a:t>Medir y premiar el cumplimiento docente</a:t>
            </a:r>
            <a:endParaRPr lang="en-US" sz="1800" dirty="0"/>
          </a:p>
        </p:txBody>
      </p:sp>
      <p:sp>
        <p:nvSpPr>
          <p:cNvPr id="7" name="paso-2"/>
          <p:cNvSpPr/>
          <p:nvPr/>
        </p:nvSpPr>
        <p:spPr>
          <a:xfrm>
            <a:off x="548640" y="2377440"/>
            <a:ext cx="594360" cy="594360"/>
          </a:xfrm>
          <a:prstGeom prst="ellipse">
            <a:avLst/>
          </a:prstGeom>
          <a:solidFill>
            <a:schemeClr val="accent1"/>
          </a:solidFill>
          <a:ln w="12700">
            <a:solidFill>
              <a:schemeClr val="accent1"/>
            </a:solidFill>
            <a:prstDash val="solid"/>
          </a:ln>
        </p:spPr>
      </p:sp>
      <p:sp>
        <p:nvSpPr>
          <p:cNvPr id="8" name="Text 6"/>
          <p:cNvSpPr txBox="1"/>
          <p:nvPr/>
        </p:nvSpPr>
        <p:spPr>
          <a:xfrm>
            <a:off x="548640" y="2377440"/>
            <a:ext cx="594360" cy="594360"/>
          </a:xfrm>
          <a:prstGeom prst="rect">
            <a:avLst/>
          </a:prstGeom>
          <a:noFill/>
          <a:ln/>
        </p:spPr>
        <p:txBody>
          <a:bodyPr wrap="square" lIns="0" tIns="0" rIns="0" bIns="0" rtlCol="0" anchor="ctr"/>
          <a:lstStyle/>
          <a:p>
            <a:pPr algn="ctr" indent="0" marL="0">
              <a:buNone/>
            </a:pPr>
            <a:r>
              <a:rPr lang="en-US" sz="1800" b="1" dirty="0">
                <a:solidFill>
                  <a:schemeClr val="tx2"/>
                </a:solidFill>
              </a:rPr>
              <a:t>2</a:t>
            </a:r>
            <a:endParaRPr lang="en-US" sz="1800" dirty="0"/>
          </a:p>
        </p:txBody>
      </p:sp>
      <p:sp>
        <p:nvSpPr>
          <p:cNvPr id="9" name="Text 7"/>
          <p:cNvSpPr txBox="1"/>
          <p:nvPr/>
        </p:nvSpPr>
        <p:spPr>
          <a:xfrm>
            <a:off x="1325880" y="2487168"/>
            <a:ext cx="5669280" cy="411480"/>
          </a:xfrm>
          <a:prstGeom prst="rect">
            <a:avLst/>
          </a:prstGeom>
          <a:noFill/>
          <a:ln/>
        </p:spPr>
        <p:txBody>
          <a:bodyPr wrap="square" lIns="0" tIns="0" rIns="0" bIns="0" rtlCol="0" anchor="t"/>
          <a:lstStyle/>
          <a:p>
            <a:pPr indent="0" marL="0">
              <a:buNone/>
            </a:pPr>
            <a:r>
              <a:rPr lang="en-US" sz="1800" b="1" dirty="0">
                <a:solidFill>
                  <a:schemeClr val="accent1"/>
                </a:solidFill>
              </a:rPr>
              <a:t>E10  </a:t>
            </a:r>
            <a:pPr indent="0" marL="0">
              <a:buNone/>
            </a:pPr>
            <a:r>
              <a:rPr lang="en-US" sz="1800" dirty="0">
                <a:solidFill>
                  <a:schemeClr val="bg1"/>
                </a:solidFill>
              </a:rPr>
              <a:t>Grupos de tres o cuatro alumnos</a:t>
            </a:r>
            <a:endParaRPr lang="en-US" sz="1800" dirty="0"/>
          </a:p>
        </p:txBody>
      </p:sp>
      <p:sp>
        <p:nvSpPr>
          <p:cNvPr id="10" name="paso-3"/>
          <p:cNvSpPr/>
          <p:nvPr/>
        </p:nvSpPr>
        <p:spPr>
          <a:xfrm>
            <a:off x="548640" y="3154680"/>
            <a:ext cx="594360" cy="594360"/>
          </a:xfrm>
          <a:prstGeom prst="ellipse">
            <a:avLst/>
          </a:prstGeom>
          <a:solidFill>
            <a:schemeClr val="accent1"/>
          </a:solidFill>
          <a:ln w="12700">
            <a:solidFill>
              <a:schemeClr val="accent1"/>
            </a:solidFill>
            <a:prstDash val="solid"/>
          </a:ln>
        </p:spPr>
      </p:sp>
      <p:sp>
        <p:nvSpPr>
          <p:cNvPr id="11" name="Text 9"/>
          <p:cNvSpPr txBox="1"/>
          <p:nvPr/>
        </p:nvSpPr>
        <p:spPr>
          <a:xfrm>
            <a:off x="548640" y="3154680"/>
            <a:ext cx="594360" cy="594360"/>
          </a:xfrm>
          <a:prstGeom prst="rect">
            <a:avLst/>
          </a:prstGeom>
          <a:noFill/>
          <a:ln/>
        </p:spPr>
        <p:txBody>
          <a:bodyPr wrap="square" lIns="0" tIns="0" rIns="0" bIns="0" rtlCol="0" anchor="ctr"/>
          <a:lstStyle/>
          <a:p>
            <a:pPr algn="ctr" indent="0" marL="0">
              <a:buNone/>
            </a:pPr>
            <a:r>
              <a:rPr lang="en-US" sz="1800" b="1" dirty="0">
                <a:solidFill>
                  <a:schemeClr val="tx2"/>
                </a:solidFill>
              </a:rPr>
              <a:t>3</a:t>
            </a:r>
            <a:endParaRPr lang="en-US" sz="1800" dirty="0"/>
          </a:p>
        </p:txBody>
      </p:sp>
      <p:sp>
        <p:nvSpPr>
          <p:cNvPr id="12" name="Text 10"/>
          <p:cNvSpPr txBox="1"/>
          <p:nvPr/>
        </p:nvSpPr>
        <p:spPr>
          <a:xfrm>
            <a:off x="1325880" y="3264408"/>
            <a:ext cx="5669280" cy="411480"/>
          </a:xfrm>
          <a:prstGeom prst="rect">
            <a:avLst/>
          </a:prstGeom>
          <a:noFill/>
          <a:ln/>
        </p:spPr>
        <p:txBody>
          <a:bodyPr wrap="square" lIns="0" tIns="0" rIns="0" bIns="0" rtlCol="0" anchor="t"/>
          <a:lstStyle/>
          <a:p>
            <a:pPr indent="0" marL="0">
              <a:buNone/>
            </a:pPr>
            <a:r>
              <a:rPr lang="en-US" sz="1800" b="1" dirty="0">
                <a:solidFill>
                  <a:schemeClr val="accent1"/>
                </a:solidFill>
              </a:rPr>
              <a:t>E1  </a:t>
            </a:r>
            <a:pPr indent="0" marL="0">
              <a:buNone/>
            </a:pPr>
            <a:r>
              <a:rPr lang="en-US" sz="1800" dirty="0">
                <a:solidFill>
                  <a:schemeClr val="bg1"/>
                </a:solidFill>
              </a:rPr>
              <a:t>Nivelación por grado escolar</a:t>
            </a:r>
            <a:endParaRPr lang="en-US" sz="1800" dirty="0"/>
          </a:p>
        </p:txBody>
      </p:sp>
      <p:sp>
        <p:nvSpPr>
          <p:cNvPr id="13" name="paso-4"/>
          <p:cNvSpPr/>
          <p:nvPr/>
        </p:nvSpPr>
        <p:spPr>
          <a:xfrm>
            <a:off x="548640" y="3931920"/>
            <a:ext cx="594360" cy="594360"/>
          </a:xfrm>
          <a:prstGeom prst="ellipse">
            <a:avLst/>
          </a:prstGeom>
          <a:solidFill>
            <a:schemeClr val="accent1"/>
          </a:solidFill>
          <a:ln w="12700">
            <a:solidFill>
              <a:schemeClr val="accent1"/>
            </a:solidFill>
            <a:prstDash val="solid"/>
          </a:ln>
        </p:spPr>
      </p:sp>
      <p:sp>
        <p:nvSpPr>
          <p:cNvPr id="14" name="Text 12"/>
          <p:cNvSpPr txBox="1"/>
          <p:nvPr/>
        </p:nvSpPr>
        <p:spPr>
          <a:xfrm>
            <a:off x="548640" y="3931920"/>
            <a:ext cx="594360" cy="594360"/>
          </a:xfrm>
          <a:prstGeom prst="rect">
            <a:avLst/>
          </a:prstGeom>
          <a:noFill/>
          <a:ln/>
        </p:spPr>
        <p:txBody>
          <a:bodyPr wrap="square" lIns="0" tIns="0" rIns="0" bIns="0" rtlCol="0" anchor="ctr"/>
          <a:lstStyle/>
          <a:p>
            <a:pPr algn="ctr" indent="0" marL="0">
              <a:buNone/>
            </a:pPr>
            <a:r>
              <a:rPr lang="en-US" sz="1800" b="1" dirty="0">
                <a:solidFill>
                  <a:schemeClr val="tx2"/>
                </a:solidFill>
              </a:rPr>
              <a:t>4</a:t>
            </a:r>
            <a:endParaRPr lang="en-US" sz="1800" dirty="0"/>
          </a:p>
        </p:txBody>
      </p:sp>
      <p:sp>
        <p:nvSpPr>
          <p:cNvPr id="15" name="Text 13"/>
          <p:cNvSpPr txBox="1"/>
          <p:nvPr/>
        </p:nvSpPr>
        <p:spPr>
          <a:xfrm>
            <a:off x="1325880" y="4041648"/>
            <a:ext cx="5669280" cy="411480"/>
          </a:xfrm>
          <a:prstGeom prst="rect">
            <a:avLst/>
          </a:prstGeom>
          <a:noFill/>
          <a:ln/>
        </p:spPr>
        <p:txBody>
          <a:bodyPr wrap="square" lIns="0" tIns="0" rIns="0" bIns="0" rtlCol="0" anchor="t"/>
          <a:lstStyle/>
          <a:p>
            <a:pPr indent="0" marL="0">
              <a:buNone/>
            </a:pPr>
            <a:r>
              <a:rPr lang="en-US" sz="1800" b="1" dirty="0">
                <a:solidFill>
                  <a:schemeClr val="accent1"/>
                </a:solidFill>
              </a:rPr>
              <a:t>E2  </a:t>
            </a:r>
            <a:pPr indent="0" marL="0">
              <a:buNone/>
            </a:pPr>
            <a:r>
              <a:rPr lang="en-US" sz="1800" dirty="0">
                <a:solidFill>
                  <a:schemeClr val="bg1"/>
                </a:solidFill>
              </a:rPr>
              <a:t>Campañas y diagnóstico gratuito</a:t>
            </a:r>
            <a:endParaRPr lang="en-US" sz="1800" dirty="0"/>
          </a:p>
        </p:txBody>
      </p:sp>
      <p:sp>
        <p:nvSpPr>
          <p:cNvPr id="16" name="cierre"/>
          <p:cNvSpPr/>
          <p:nvPr/>
        </p:nvSpPr>
        <p:spPr>
          <a:xfrm>
            <a:off x="7315200" y="1600200"/>
            <a:ext cx="4297680" cy="2971800"/>
          </a:xfrm>
          <a:prstGeom prst="roundRect">
            <a:avLst>
              <a:gd name="adj" fmla="val 2462"/>
            </a:avLst>
          </a:prstGeom>
          <a:solidFill>
            <a:srgbClr val="0F3256"/>
          </a:solidFill>
          <a:ln w="12700">
            <a:solidFill>
              <a:srgbClr val="0F3256"/>
            </a:solidFill>
            <a:prstDash val="solid"/>
          </a:ln>
        </p:spPr>
      </p:sp>
      <p:sp>
        <p:nvSpPr>
          <p:cNvPr id="17" name="Text 15"/>
          <p:cNvSpPr txBox="1"/>
          <p:nvPr/>
        </p:nvSpPr>
        <p:spPr>
          <a:xfrm>
            <a:off x="7589520" y="1783080"/>
            <a:ext cx="3749040" cy="365760"/>
          </a:xfrm>
          <a:prstGeom prst="rect">
            <a:avLst/>
          </a:prstGeom>
          <a:noFill/>
          <a:ln/>
        </p:spPr>
        <p:txBody>
          <a:bodyPr wrap="square" lIns="0" tIns="0" rIns="0" bIns="0" rtlCol="0" anchor="t"/>
          <a:lstStyle/>
          <a:p>
            <a:pPr indent="0" marL="0">
              <a:buNone/>
            </a:pPr>
            <a:r>
              <a:rPr lang="en-US" sz="1800" b="1" dirty="0">
                <a:solidFill>
                  <a:schemeClr val="accent1"/>
                </a:solidFill>
              </a:rPr>
              <a:t>Por qué E5 primero</a:t>
            </a:r>
            <a:endParaRPr lang="en-US" sz="1800" dirty="0"/>
          </a:p>
        </p:txBody>
      </p:sp>
      <p:sp>
        <p:nvSpPr>
          <p:cNvPr id="18" name="Text 16"/>
          <p:cNvSpPr txBox="1"/>
          <p:nvPr/>
        </p:nvSpPr>
        <p:spPr>
          <a:xfrm>
            <a:off x="7589520" y="2240280"/>
            <a:ext cx="3794760" cy="2194560"/>
          </a:xfrm>
          <a:prstGeom prst="rect">
            <a:avLst/>
          </a:prstGeom>
          <a:noFill/>
          <a:ln/>
        </p:spPr>
        <p:txBody>
          <a:bodyPr wrap="square" lIns="0" tIns="0" rIns="0" bIns="0" rtlCol="0" anchor="t"/>
          <a:lstStyle/>
          <a:p>
            <a:pPr indent="0" marL="0">
              <a:buNone/>
            </a:pPr>
            <a:r>
              <a:rPr lang="en-US" sz="1500" dirty="0">
                <a:solidFill>
                  <a:schemeClr val="bg1"/>
                </a:solidFill>
              </a:rPr>
              <a:t>Las demás estrategias solo funcionan si el profesor cumple. Juntas apuntan a volver a unos 500 alumnos en octubre y noviembre de 2028.</a:t>
            </a:r>
            <a:endParaRPr lang="en-US" sz="1500" dirty="0"/>
          </a:p>
        </p:txBody>
      </p:sp>
      <p:sp>
        <p:nvSpPr>
          <p:cNvPr id="19" name="Text 17"/>
          <p:cNvSpPr txBox="1"/>
          <p:nvPr/>
        </p:nvSpPr>
        <p:spPr>
          <a:xfrm>
            <a:off x="548640" y="4846320"/>
            <a:ext cx="3657600" cy="228600"/>
          </a:xfrm>
          <a:prstGeom prst="rect">
            <a:avLst/>
          </a:prstGeom>
          <a:noFill/>
          <a:ln/>
        </p:spPr>
        <p:txBody>
          <a:bodyPr wrap="square" lIns="0" tIns="0" rIns="0" bIns="0" rtlCol="0" anchor="t"/>
          <a:lstStyle/>
          <a:p>
            <a:pPr indent="0" marL="0">
              <a:buNone/>
            </a:pPr>
            <a:r>
              <a:rPr lang="en-US" sz="1000" b="1" spc="200" kern="0" dirty="0">
                <a:solidFill>
                  <a:schemeClr val="accent1"/>
                </a:solidFill>
              </a:rPr>
              <a:t>REFERENCIAS</a:t>
            </a:r>
            <a:endParaRPr lang="en-US" sz="1000" dirty="0"/>
          </a:p>
        </p:txBody>
      </p:sp>
      <p:sp>
        <p:nvSpPr>
          <p:cNvPr id="20" name="Text 18"/>
          <p:cNvSpPr txBox="1"/>
          <p:nvPr/>
        </p:nvSpPr>
        <p:spPr>
          <a:xfrm>
            <a:off x="548640" y="5120640"/>
            <a:ext cx="11064240" cy="1097280"/>
          </a:xfrm>
          <a:prstGeom prst="rect">
            <a:avLst/>
          </a:prstGeom>
          <a:noFill/>
          <a:ln/>
        </p:spPr>
        <p:txBody>
          <a:bodyPr wrap="square" lIns="0" tIns="0" rIns="0" bIns="0" rtlCol="0" anchor="t"/>
          <a:lstStyle/>
          <a:p>
            <a:pPr indent="0" marL="0">
              <a:spcAft>
                <a:spcPts val="200"/>
              </a:spcAft>
              <a:buNone/>
            </a:pPr>
            <a:r>
              <a:rPr lang="en-US" sz="1000" dirty="0">
                <a:solidFill>
                  <a:schemeClr val="accent5"/>
                </a:solidFill>
              </a:rPr>
              <a:t>David, F. R. (2017). Conceptos de administración estratégica (15.ª ed.). Pearson Educación.</a:t>
            </a:r>
            <a:endParaRPr lang="en-US" sz="1000" dirty="0"/>
          </a:p>
          <a:p>
            <a:pPr indent="0" marL="0">
              <a:spcAft>
                <a:spcPts val="200"/>
              </a:spcAft>
              <a:buNone/>
            </a:pPr>
            <a:r>
              <a:rPr lang="en-US" sz="1000" dirty="0">
                <a:solidFill>
                  <a:schemeClr val="accent5"/>
                </a:solidFill>
              </a:rPr>
              <a:t>Forbes Perú. (2026, 20 de mayo). Hogares peruanos con acceso a internet fijo o móvil se elevó a 96 % en el 2025, según Erestel. https://forbes.pe/actualidad/2026-05-20/hogares-peruanos-con-acceso-a-internet-fijo-o-movil-se-elevo-a-96-en-el-2025-segun-erestel/</a:t>
            </a:r>
            <a:endParaRPr lang="en-US" sz="1000" dirty="0"/>
          </a:p>
          <a:p>
            <a:pPr indent="0" marL="0">
              <a:spcAft>
                <a:spcPts val="200"/>
              </a:spcAft>
              <a:buNone/>
            </a:pPr>
            <a:r>
              <a:rPr lang="en-US" sz="1000" dirty="0">
                <a:solidFill>
                  <a:schemeClr val="accent5"/>
                </a:solidFill>
              </a:rPr>
              <a:t>MatLab Perú. (s. f.). Inicio [Sitio web]. https://matlab.com.pe/</a:t>
            </a:r>
            <a:endParaRPr lang="en-US" sz="1000" dirty="0"/>
          </a:p>
          <a:p>
            <a:pPr indent="0" marL="0">
              <a:spcAft>
                <a:spcPts val="200"/>
              </a:spcAft>
              <a:buNone/>
            </a:pPr>
            <a:r>
              <a:rPr lang="en-US" sz="1000" dirty="0">
                <a:solidFill>
                  <a:schemeClr val="accent5"/>
                </a:solidFill>
              </a:rPr>
              <a:t>Ministerio de Educación. (2026). ENLA 2025: resumen ejecutivo. https://repositorio.minedu.gob.pe/handle/20.500.12799/12773</a:t>
            </a:r>
            <a:endParaRPr lang="en-US" sz="10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1"/>
                </a:solidFill>
              </a:defRPr>
            </a:lvl1pPr>
          </a:lstStyle>
          <a:p>
            <a:pPr algn="r"/>
            <a:fld id="{F7021451-1387-4CA6-816F-3879F97B5CBC}" type="slidenum">
              <a:rPr b="0" lang="en-US"/>
              <a:t>10</a:t>
            </a:fld>
            <a:endParaRPr lang="en-US"/>
          </a:p>
        </p:txBody>
      </p:sp>
    </p:spTree>
  </p:cSld>
  <p:clrMapOvr>
    <a:masterClrMapping/>
  </p:clrMapOvr>
</p:sld>
</file>

<file path=ppt/theme/theme1.xml><?xml version="1.0" encoding="utf-8"?>
<a:theme xmlns:a="http://schemas.openxmlformats.org/drawingml/2006/main" name="MatLab APF2">
  <a:themeElements>
    <a:clrScheme name="MatLab APF2">
      <a:dk1>
        <a:srgbClr val="102A43"/>
      </a:dk1>
      <a:lt1>
        <a:srgbClr val="FFFFFF"/>
      </a:lt1>
      <a:dk2>
        <a:srgbClr val="071D36"/>
      </a:dk2>
      <a:lt2>
        <a:srgbClr val="F4F9FC"/>
      </a:lt2>
      <a:accent1>
        <a:srgbClr val="65C7E8"/>
      </a:accent1>
      <a:accent2>
        <a:srgbClr val="2E86C1"/>
      </a:accent2>
      <a:accent3>
        <a:srgbClr val="DFF3FA"/>
      </a:accent3>
      <a:accent4>
        <a:srgbClr val="5B7083"/>
      </a:accent4>
      <a:accent5>
        <a:srgbClr val="C9D6DF"/>
      </a:accent5>
      <a:accent6>
        <a:srgbClr val="E8F1F6"/>
      </a:accent6>
      <a:hlink>
        <a:srgbClr val="2E86C1"/>
      </a:hlink>
      <a:folHlink>
        <a:srgbClr val="5B7083"/>
      </a:folHlink>
    </a:clrScheme>
    <a:fontScheme name="MatLab APF2">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Diseño del plan estratégico de MatLab Perú</dc:title>
  <dc:subject>PptxGenJS Presentation</dc:subject>
  <dc:creator>Pierre Gallegos Mallqui</dc:creator>
  <cp:lastModifiedBy>Pierre Gallegos Mallqui</cp:lastModifiedBy>
  <cp:revision>1</cp:revision>
  <dcterms:created xsi:type="dcterms:W3CDTF">2026-10-17T00:49:39Z</dcterms:created>
  <dcterms:modified xsi:type="dcterms:W3CDTF">2026-10-17T00:49:39Z</dcterms:modified>
</cp:coreProperties>
</file>