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510417d2-acfb-c260-5fbc-590a28f8d078}">
          <p14:sldIdLst>
            <p14:sldId id="256"/>
          </p14:sldIdLst>
        </p14:section>
        <p14:section name="Diagnóstico" id="{1d78d12f-37a8-09dc-8239-e7f2d39fb820}">
          <p14:sldIdLst>
            <p14:sldId id="257"/>
            <p14:sldId id="258"/>
            <p14:sldId id="259"/>
          </p14:sldIdLst>
        </p14:section>
        <p14:section name="Plan estratégico" id="{a9127ba5-1f67-1883-acab-13dcaf8820f7}">
          <p14:sldIdLst>
            <p14:sldId id="260"/>
            <p14:sldId id="261"/>
            <p14:sldId id="262"/>
          </p14:sldIdLst>
        </p14:section>
        <p14:section name="Decisión" id="{721f3788-633d-9f09-59f7-ab8b869024c0}">
          <p14:sldIdLst>
            <p14:sldId id="263"/>
            <p14:sldId id="264"/>
          </p14:sldIdLst>
        </p14:section>
        <p14:section name="Cierre" id="{94a77dce-a84f-79f8-09d7-48ebca5037e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C9D6DF"/>
            </a:solidFill>
            <a:effectLst/>
          </c:spPr>
          <c:invertIfNegative val="0"/>
          <c:dLbls>
            <c:numFmt formatCode="0.00" sourceLinked="0"/>
            <c:txPr>
              <a:bodyPr/>
              <a:lstStyle/>
              <a:p>
                <a:pPr>
                  <a:defRPr b="0" i="0" strike="noStrike" sz="1200" u="none">
                    <a:solidFill>
                      <a:srgbClr val="102A43"/>
                    </a:solidFill>
                    <a:latin typeface="+mn-lt"/>
                  </a:defRPr>
                </a:pPr>
              </a:p>
            </c:txPr>
            <c:showLegendKey val="0"/>
            <c:showVal val="1"/>
            <c:showCatName val="0"/>
            <c:showSerName val="0"/>
            <c:showPercent val="0"/>
            <c:showBubbleSize val="0"/>
            <c:showLeaderLines val="0"/>
          </c:dLbls>
          <c:dPt>
            <c:idx val="0"/>
            <c:invertIfNegative val="0"/>
            <c:bubble3D val="0"/>
            <c:spPr>
              <a:solidFill>
                <a:srgbClr val="C9D6DF"/>
              </a:solidFill>
              <a:effectLst/>
            </c:spPr>
          </c:dPt>
          <c:dPt>
            <c:idx val="1"/>
            <c:invertIfNegative val="0"/>
            <c:bubble3D val="0"/>
            <c:spPr>
              <a:solidFill>
                <a:srgbClr val="C9D6DF"/>
              </a:solidFill>
              <a:effectLst/>
            </c:spPr>
          </c:dPt>
          <c:dPt>
            <c:idx val="2"/>
            <c:invertIfNegative val="0"/>
            <c:bubble3D val="0"/>
            <c:spPr>
              <a:solidFill>
                <a:srgbClr val="2E86C1"/>
              </a:solidFill>
              <a:effectLst/>
            </c:spPr>
          </c:dPt>
          <c:dPt>
            <c:idx val="3"/>
            <c:invertIfNegative val="0"/>
            <c:bubble3D val="0"/>
            <c:spPr>
              <a:solidFill>
                <a:srgbClr val="2E86C1"/>
              </a:solidFill>
              <a:effectLst/>
            </c:spPr>
          </c:dPt>
          <c:dPt>
            <c:idx val="4"/>
            <c:invertIfNegative val="0"/>
            <c:bubble3D val="0"/>
            <c:spPr>
              <a:solidFill>
                <a:srgbClr val="2E86C1"/>
              </a:solidFill>
              <a:effectLst/>
            </c:spPr>
          </c:dPt>
          <c:dPt>
            <c:idx val="5"/>
            <c:invertIfNegative val="0"/>
            <c:bubble3D val="0"/>
            <c:spPr>
              <a:solidFill>
                <a:srgbClr val="2E86C1"/>
              </a:solidFill>
              <a:effectLst/>
            </c:spPr>
          </c:dPt>
          <c:cat>
            <c:multiLvlStrRef>
              <c:f>Sheet1!$A$2:$A$7</c:f>
              <c:multiLvlStrCache>
                <c:ptCount val="6"/>
                <c:lvl>
                  <c:pt idx="0">
                    <c:v>E4 Orden comercial</c:v>
                  </c:pt>
                  <c:pt idx="1">
                    <c:v>E7 Profesor fijo y asesor</c:v>
                  </c:pt>
                  <c:pt idx="2">
                    <c:v>E2 Campañas y diagnóstico</c:v>
                  </c:pt>
                  <c:pt idx="3">
                    <c:v>E1 Nivelación por grado</c:v>
                  </c:pt>
                  <c:pt idx="4">
                    <c:v>E10 Grupos de 3 o 4</c:v>
                  </c:pt>
                  <c:pt idx="5">
                    <c:v>E5 Cumplimiento docente</c:v>
                  </c:pt>
                </c:lvl>
              </c:multiLvlStrCache>
            </c:multiLvlStrRef>
          </c:cat>
          <c:val>
            <c:numRef>
              <c:f>Sheet1!$B$2:$B$7</c:f>
              <c:numCache>
                <c:formatCode>General</c:formatCode>
                <c:ptCount val="6"/>
                <c:pt idx="0">
                  <c:v>4.21</c:v>
                </c:pt>
                <c:pt idx="1">
                  <c:v>4.73</c:v>
                </c:pt>
                <c:pt idx="2">
                  <c:v>4.94</c:v>
                </c:pt>
                <c:pt idx="3">
                  <c:v>5.29</c:v>
                </c:pt>
                <c:pt idx="4">
                  <c:v>5.4</c:v>
                </c:pt>
                <c:pt idx="5">
                  <c:v>5.48</c:v>
                </c:pt>
              </c:numCache>
            </c:numRef>
          </c:val>
        </c:ser>
        <c:dLbls>
          <c:numFmt formatCode="0.00" sourceLinked="0"/>
          <c:txPr>
            <a:bodyPr/>
            <a:lstStyle/>
            <a:p>
              <a:pPr>
                <a:defRPr b="0" i="0" strike="noStrike" sz="1200" u="none">
                  <a:solidFill>
                    <a:srgbClr val="102A4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A43"/>
                </a:solidFill>
                <a:latin typeface="+mn-lt"/>
              </a:defRPr>
            </a:pPr>
            <a:endParaRPr lang="en-US"/>
          </a:p>
        </c:txPr>
        <c:crossAx val="2094734552"/>
        <c:crosses val="autoZero"/>
        <c:auto val="1"/>
        <c:lblAlgn val="ctr"/>
        <c:noMultiLvlLbl val="1"/>
      </c:catAx>
      <c:valAx>
        <c:axId val="2094734552"/>
        <c:scaling>
          <c:orientation val="minMax"/>
          <c:max val="6"/>
          <c:min val="2"/>
        </c:scaling>
        <c:delete val="0"/>
        <c:axPos val="b"/>
        <c:majorGridlines>
          <c:spPr>
            <a:ln w="6350" cap="flat">
              <a:solidFill>
                <a:srgbClr val="E1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7083"/>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presento el segundo avance de mi proyecto. En el primero hice el diagnóstico de MatLab Perú. En este uso ese diagnóstico para elegir las estrategias con más impacto para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Perú es una academia fundada en 2012 por Marco Loret de Mola. Desde 2020 todas las clases son virtuales. Somos 40 personas con 27 profesores. Como la empresa no tenía misión, visión ni valores escritos, los propuse yo en el primer 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entorno hay oportunidades claras: casi todos los hogares tienen internet y pocos alumnos logran el nivel esperado en matemática. Pero las cinco fuerzas de Porter son altas. La MEFE dio 2.34 y en la MPC quedamos segundos, detrás de las plataformas de tutorías.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dentro, la MEFI dio 2.40. La empresa crea valor en sus clases y en el seguimiento a los padres, pero depende mucho de los profesores y algunos no cumplen. El área comercial también está desordenada. Con todo esto armé el FODA, que es la base de las estrategias.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el diagnóstico planteé el objetivo: volver a unos 500 alumnos en octubre y noviembre de 2028, que son los meses de más demanda, y que los profesores cumplan. Luego crucé los factores del FODA y salieron diez estrategias, cada una con los factores que la sostienen.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MIE nos ubica en la celda V, de retener y mantener: conviene penetración de mercado y desarrollo de productos. La PEYEA da cuadrante agresivo, porque la empresa no tiene deudas y tiene ahorro, pero el vector está muy cerca del eje porque la puntualidad de los profesores debilita la ventaja competitiva.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clases individuales y los programas de verano son vacas: tienen buena participación, pero ya no crecen. Hay que cuidarlas, porque financian al resto. Talleres y empresas es un interrogante: hay demanda, pero hoy casi no participamos. La participación y el crecimiento son estimaciones mías, porque no hay datos públicos del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Junté las estrategias de las cuatro matrices y conté cuántas veces aparece cada una. Me quedé con las que aparecen tres veces o más. Son seis, y cubren las dos partes del objetivo: más alumnos y profesores que cumplen. Las otras cuatro quedan como contingencia.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MCPE califiqué cada estrategia frente a los 23 factores de la MEFE y la MEFI. Gana E5, el cumplimiento de los profesores. Las cuatro primeras pasan a la Matriz de Ética y ninguna viola derechos ni es injusta. E2 tiene una condición: el examen recoge datos de menores, así que solo va con autorización de los padres.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estrategias finales son E5, E10, E1 y E2. Recomiendo empezar por E5, porque si el profesor no cumple, ninguna otra estrategia funciona. Las demás quedan como contingencia, sobre todo el orden del área comercial y el grupo de profesores suplentes.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900" spc="100" kern="0" dirty="0">
                <a:solidFill>
                  <a:schemeClr val="accent4"/>
                </a:solidFill>
              </a:rPr>
              <a:t>PLANEAMIENTO ESTRATÉGICO  ·  MATLAB PERÚ</a:t>
            </a:r>
            <a:endParaRPr lang="en-US" sz="900" dirty="0"/>
          </a:p>
        </p:txBody>
      </p:sp>
      <p:sp>
        <p:nvSpPr>
          <p:cNvPr id="3" name="Text 1"/>
          <p:cNvSpPr/>
          <p:nvPr>
            <p:ph idx="101" type="title" hasCustomPrompt="1"/>
          </p:nvPr>
        </p:nvSpPr>
        <p:spPr>
          <a:xfrm>
            <a:off x="548640" y="658368"/>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900" spc="100" kern="0" dirty="0">
                <a:solidFill>
                  <a:schemeClr val="accent1"/>
                </a:solidFill>
              </a:rPr>
              <a:t>PLANEAMIENTO ESTRATÉGICO  ·  MATLAB PERÚ</a:t>
            </a:r>
            <a:endParaRPr lang="en-US" sz="900" dirty="0"/>
          </a:p>
        </p:txBody>
      </p:sp>
      <p:sp>
        <p:nvSpPr>
          <p:cNvPr id="3" name="Text 1"/>
          <p:cNvSpPr/>
          <p:nvPr>
            <p:ph idx="101" type="title" hasCustomPrompt="1"/>
          </p:nvPr>
        </p:nvSpPr>
        <p:spPr>
          <a:xfrm>
            <a:off x="548640" y="658368"/>
            <a:ext cx="1106424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oto" descr="/home/user/Planeamiento-estrategico/APF2/figuras/portada.jpg">    </p:cNvPr>
          <p:cNvPicPr>
            <a:picLocks noChangeAspect="1"/>
          </p:cNvPicPr>
          <p:nvPr/>
        </p:nvPicPr>
        <p:blipFill>
          <a:blip r:embed="rId1"/>
          <a:srcRect l="0" r="0" t="0" b="0"/>
          <a:stretch/>
        </p:blipFill>
        <p:spPr>
          <a:xfrm>
            <a:off x="6949440" y="0"/>
            <a:ext cx="5242255" cy="6858000"/>
          </a:xfrm>
          <a:prstGeom prst="rect">
            <a:avLst/>
          </a:prstGeom>
        </p:spPr>
      </p:pic>
      <p:sp>
        <p:nvSpPr>
          <p:cNvPr id="3" name="Text 0"/>
          <p:cNvSpPr txBox="1"/>
          <p:nvPr/>
        </p:nvSpPr>
        <p:spPr>
          <a:xfrm>
            <a:off x="640080" y="914400"/>
            <a:ext cx="603504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PLANEAMIENTO ESTRATÉGICO  ·  SECCIÓN 20726</a:t>
            </a:r>
            <a:endParaRPr lang="en-US" sz="1100" dirty="0"/>
          </a:p>
        </p:txBody>
      </p:sp>
      <p:sp>
        <p:nvSpPr>
          <p:cNvPr id="4" name="Text 1"/>
          <p:cNvSpPr txBox="1"/>
          <p:nvPr/>
        </p:nvSpPr>
        <p:spPr>
          <a:xfrm>
            <a:off x="640080" y="1417320"/>
            <a:ext cx="6035040" cy="411480"/>
          </a:xfrm>
          <a:prstGeom prst="rect">
            <a:avLst/>
          </a:prstGeom>
          <a:noFill/>
          <a:ln/>
        </p:spPr>
        <p:txBody>
          <a:bodyPr wrap="square" lIns="0" tIns="0" rIns="0" bIns="0" rtlCol="0" anchor="t"/>
          <a:lstStyle/>
          <a:p>
            <a:pPr indent="0" marL="0">
              <a:buNone/>
            </a:pPr>
            <a:r>
              <a:rPr lang="en-US" sz="1800" dirty="0">
                <a:solidFill>
                  <a:schemeClr val="bg1"/>
                </a:solidFill>
              </a:rPr>
              <a:t>Avance de Proyecto Final 2</a:t>
            </a:r>
            <a:endParaRPr lang="en-US" sz="1800" dirty="0"/>
          </a:p>
        </p:txBody>
      </p:sp>
      <p:sp>
        <p:nvSpPr>
          <p:cNvPr id="5" name="Text 2"/>
          <p:cNvSpPr txBox="1"/>
          <p:nvPr/>
        </p:nvSpPr>
        <p:spPr>
          <a:xfrm>
            <a:off x="640080" y="1874520"/>
            <a:ext cx="6035040" cy="1828800"/>
          </a:xfrm>
          <a:prstGeom prst="rect">
            <a:avLst/>
          </a:prstGeom>
          <a:noFill/>
          <a:ln/>
        </p:spPr>
        <p:txBody>
          <a:bodyPr wrap="square" lIns="0" tIns="0" rIns="0" bIns="0" rtlCol="0" anchor="t"/>
          <a:lstStyle/>
          <a:p>
            <a:pPr indent="0" marL="0">
              <a:buNone/>
            </a:pPr>
            <a:r>
              <a:rPr lang="en-US" sz="3600" b="1" dirty="0">
                <a:solidFill>
                  <a:schemeClr val="bg1"/>
                </a:solidFill>
              </a:rPr>
              <a:t>Diseño del plan estratégico de MatLab Perú</a:t>
            </a:r>
            <a:endParaRPr lang="en-US" sz="3600" dirty="0"/>
          </a:p>
        </p:txBody>
      </p:sp>
      <p:pic>
        <p:nvPicPr>
          <p:cNvPr id="6" name="logo" descr="/home/user/Planeamiento-estrategico/APF2/figuras/logo_utp_banda.png">    </p:cNvPr>
          <p:cNvPicPr>
            <a:picLocks noChangeAspect="1"/>
          </p:cNvPicPr>
          <p:nvPr/>
        </p:nvPicPr>
        <p:blipFill>
          <a:blip r:embed="rId2"/>
          <a:stretch>
            <a:fillRect/>
          </a:stretch>
        </p:blipFill>
        <p:spPr>
          <a:xfrm>
            <a:off x="640080" y="3977640"/>
            <a:ext cx="1828800" cy="630335"/>
          </a:xfrm>
          <a:prstGeom prst="rect">
            <a:avLst/>
          </a:prstGeom>
        </p:spPr>
      </p:pic>
      <p:sp>
        <p:nvSpPr>
          <p:cNvPr id="7" name="Text 3"/>
          <p:cNvSpPr txBox="1"/>
          <p:nvPr/>
        </p:nvSpPr>
        <p:spPr>
          <a:xfrm>
            <a:off x="640080" y="4983480"/>
            <a:ext cx="6035040" cy="320040"/>
          </a:xfrm>
          <a:prstGeom prst="rect">
            <a:avLst/>
          </a:prstGeom>
          <a:noFill/>
          <a:ln/>
        </p:spPr>
        <p:txBody>
          <a:bodyPr wrap="square" lIns="0" tIns="0" rIns="0" bIns="0" rtlCol="0" anchor="t"/>
          <a:lstStyle/>
          <a:p>
            <a:pPr indent="0" marL="0">
              <a:buNone/>
            </a:pPr>
            <a:r>
              <a:rPr lang="en-US" sz="1400" dirty="0">
                <a:solidFill>
                  <a:schemeClr val="bg1"/>
                </a:solidFill>
              </a:rPr>
              <a:t>Pierre Gallegos Mallqui  ·  Código U23211135</a:t>
            </a:r>
            <a:endParaRPr lang="en-US" sz="1400" dirty="0"/>
          </a:p>
        </p:txBody>
      </p:sp>
      <p:sp>
        <p:nvSpPr>
          <p:cNvPr id="8" name="Text 4"/>
          <p:cNvSpPr txBox="1"/>
          <p:nvPr/>
        </p:nvSpPr>
        <p:spPr>
          <a:xfrm>
            <a:off x="640080" y="5349240"/>
            <a:ext cx="6035040" cy="320040"/>
          </a:xfrm>
          <a:prstGeom prst="rect">
            <a:avLst/>
          </a:prstGeom>
          <a:noFill/>
          <a:ln/>
        </p:spPr>
        <p:txBody>
          <a:bodyPr wrap="square" lIns="0" tIns="0" rIns="0" bIns="0" rtlCol="0" anchor="t"/>
          <a:lstStyle/>
          <a:p>
            <a:pPr indent="0" marL="0">
              <a:buNone/>
            </a:pPr>
            <a:r>
              <a:rPr lang="en-US" sz="1400" dirty="0">
                <a:solidFill>
                  <a:schemeClr val="accent5"/>
                </a:solidFill>
              </a:rPr>
              <a:t>Docente: Zeyla Casaverde Warthon</a:t>
            </a:r>
            <a:endParaRPr lang="en-US" sz="1400" dirty="0"/>
          </a:p>
        </p:txBody>
      </p:sp>
      <p:sp>
        <p:nvSpPr>
          <p:cNvPr id="10"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01 / LA EMPRESA</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MatLab Perú enseña matemáticas 1 a 1 y de forma virtual</a:t>
            </a:r>
            <a:endParaRPr lang="en-US" sz="3000" dirty="0"/>
          </a:p>
        </p:txBody>
      </p:sp>
      <p:sp>
        <p:nvSpPr>
          <p:cNvPr id="4" name="dato-0"/>
          <p:cNvSpPr/>
          <p:nvPr/>
        </p:nvSpPr>
        <p:spPr>
          <a:xfrm>
            <a:off x="548640" y="1600200"/>
            <a:ext cx="2651760" cy="1600200"/>
          </a:xfrm>
          <a:prstGeom prst="roundRect">
            <a:avLst>
              <a:gd name="adj" fmla="val 4571"/>
            </a:avLst>
          </a:prstGeom>
          <a:solidFill>
            <a:schemeClr val="bg1"/>
          </a:solidFill>
          <a:ln w="12700">
            <a:solidFill>
              <a:schemeClr val="bg1"/>
            </a:solidFill>
            <a:prstDash val="solid"/>
          </a:ln>
        </p:spPr>
      </p:sp>
      <p:sp>
        <p:nvSpPr>
          <p:cNvPr id="5" name="Text 3"/>
          <p:cNvSpPr txBox="1"/>
          <p:nvPr/>
        </p:nvSpPr>
        <p:spPr>
          <a:xfrm>
            <a:off x="777240" y="1783080"/>
            <a:ext cx="2286000" cy="594360"/>
          </a:xfrm>
          <a:prstGeom prst="rect">
            <a:avLst/>
          </a:prstGeom>
          <a:noFill/>
          <a:ln/>
        </p:spPr>
        <p:txBody>
          <a:bodyPr wrap="square" lIns="0" tIns="0" rIns="0" bIns="0" rtlCol="0" anchor="t"/>
          <a:lstStyle/>
          <a:p>
            <a:pPr indent="0" marL="0">
              <a:buNone/>
            </a:pPr>
            <a:r>
              <a:rPr lang="en-US" sz="3400" b="1" dirty="0">
                <a:solidFill>
                  <a:schemeClr val="tx1"/>
                </a:solidFill>
              </a:rPr>
              <a:t>2012</a:t>
            </a:r>
            <a:endParaRPr lang="en-US" sz="3400" dirty="0"/>
          </a:p>
        </p:txBody>
      </p:sp>
      <p:sp>
        <p:nvSpPr>
          <p:cNvPr id="6" name="Text 4"/>
          <p:cNvSpPr txBox="1"/>
          <p:nvPr/>
        </p:nvSpPr>
        <p:spPr>
          <a:xfrm>
            <a:off x="777240" y="2468880"/>
            <a:ext cx="2286000" cy="548640"/>
          </a:xfrm>
          <a:prstGeom prst="rect">
            <a:avLst/>
          </a:prstGeom>
          <a:noFill/>
          <a:ln/>
        </p:spPr>
        <p:txBody>
          <a:bodyPr wrap="square" lIns="0" tIns="0" rIns="0" bIns="0" rtlCol="0" anchor="t"/>
          <a:lstStyle/>
          <a:p>
            <a:pPr indent="0" marL="0">
              <a:buNone/>
            </a:pPr>
            <a:r>
              <a:rPr lang="en-US" sz="1300" dirty="0">
                <a:solidFill>
                  <a:schemeClr val="accent4"/>
                </a:solidFill>
              </a:rPr>
              <a:t>Año de fundación</a:t>
            </a:r>
            <a:endParaRPr lang="en-US" sz="1300" dirty="0"/>
          </a:p>
        </p:txBody>
      </p:sp>
      <p:sp>
        <p:nvSpPr>
          <p:cNvPr id="7" name="dato-1"/>
          <p:cNvSpPr/>
          <p:nvPr/>
        </p:nvSpPr>
        <p:spPr>
          <a:xfrm>
            <a:off x="3360420" y="1600200"/>
            <a:ext cx="2651760" cy="1600200"/>
          </a:xfrm>
          <a:prstGeom prst="roundRect">
            <a:avLst>
              <a:gd name="adj" fmla="val 4571"/>
            </a:avLst>
          </a:prstGeom>
          <a:solidFill>
            <a:schemeClr val="bg1"/>
          </a:solidFill>
          <a:ln w="12700">
            <a:solidFill>
              <a:schemeClr val="bg1"/>
            </a:solidFill>
            <a:prstDash val="solid"/>
          </a:ln>
        </p:spPr>
      </p:sp>
      <p:sp>
        <p:nvSpPr>
          <p:cNvPr id="8" name="Text 6"/>
          <p:cNvSpPr txBox="1"/>
          <p:nvPr/>
        </p:nvSpPr>
        <p:spPr>
          <a:xfrm>
            <a:off x="3589020" y="1783080"/>
            <a:ext cx="2286000" cy="594360"/>
          </a:xfrm>
          <a:prstGeom prst="rect">
            <a:avLst/>
          </a:prstGeom>
          <a:noFill/>
          <a:ln/>
        </p:spPr>
        <p:txBody>
          <a:bodyPr wrap="square" lIns="0" tIns="0" rIns="0" bIns="0" rtlCol="0" anchor="t"/>
          <a:lstStyle/>
          <a:p>
            <a:pPr indent="0" marL="0">
              <a:buNone/>
            </a:pPr>
            <a:r>
              <a:rPr lang="en-US" sz="3400" b="1" dirty="0">
                <a:solidFill>
                  <a:schemeClr val="tx1"/>
                </a:solidFill>
              </a:rPr>
              <a:t>2020</a:t>
            </a:r>
            <a:endParaRPr lang="en-US" sz="3400" dirty="0"/>
          </a:p>
        </p:txBody>
      </p:sp>
      <p:sp>
        <p:nvSpPr>
          <p:cNvPr id="9" name="Text 7"/>
          <p:cNvSpPr txBox="1"/>
          <p:nvPr/>
        </p:nvSpPr>
        <p:spPr>
          <a:xfrm>
            <a:off x="3589020" y="2468880"/>
            <a:ext cx="2286000" cy="548640"/>
          </a:xfrm>
          <a:prstGeom prst="rect">
            <a:avLst/>
          </a:prstGeom>
          <a:noFill/>
          <a:ln/>
        </p:spPr>
        <p:txBody>
          <a:bodyPr wrap="square" lIns="0" tIns="0" rIns="0" bIns="0" rtlCol="0" anchor="t"/>
          <a:lstStyle/>
          <a:p>
            <a:pPr indent="0" marL="0">
              <a:buNone/>
            </a:pPr>
            <a:r>
              <a:rPr lang="en-US" sz="1300" dirty="0">
                <a:solidFill>
                  <a:schemeClr val="accent4"/>
                </a:solidFill>
              </a:rPr>
              <a:t>Todas las clases pasan a ser virtuales</a:t>
            </a:r>
            <a:endParaRPr lang="en-US" sz="1300" dirty="0"/>
          </a:p>
        </p:txBody>
      </p:sp>
      <p:sp>
        <p:nvSpPr>
          <p:cNvPr id="10" name="dato-2"/>
          <p:cNvSpPr/>
          <p:nvPr/>
        </p:nvSpPr>
        <p:spPr>
          <a:xfrm>
            <a:off x="6172200" y="1600200"/>
            <a:ext cx="2651760" cy="1600200"/>
          </a:xfrm>
          <a:prstGeom prst="roundRect">
            <a:avLst>
              <a:gd name="adj" fmla="val 4571"/>
            </a:avLst>
          </a:prstGeom>
          <a:solidFill>
            <a:schemeClr val="bg1"/>
          </a:solidFill>
          <a:ln w="12700">
            <a:solidFill>
              <a:schemeClr val="bg1"/>
            </a:solidFill>
            <a:prstDash val="solid"/>
          </a:ln>
        </p:spPr>
      </p:sp>
      <p:sp>
        <p:nvSpPr>
          <p:cNvPr id="11" name="Text 9"/>
          <p:cNvSpPr txBox="1"/>
          <p:nvPr/>
        </p:nvSpPr>
        <p:spPr>
          <a:xfrm>
            <a:off x="6400800" y="1783080"/>
            <a:ext cx="2286000" cy="594360"/>
          </a:xfrm>
          <a:prstGeom prst="rect">
            <a:avLst/>
          </a:prstGeom>
          <a:noFill/>
          <a:ln/>
        </p:spPr>
        <p:txBody>
          <a:bodyPr wrap="square" lIns="0" tIns="0" rIns="0" bIns="0" rtlCol="0" anchor="t"/>
          <a:lstStyle/>
          <a:p>
            <a:pPr indent="0" marL="0">
              <a:buNone/>
            </a:pPr>
            <a:r>
              <a:rPr lang="en-US" sz="3400" b="1" dirty="0">
                <a:solidFill>
                  <a:schemeClr val="tx1"/>
                </a:solidFill>
              </a:rPr>
              <a:t>40</a:t>
            </a:r>
            <a:endParaRPr lang="en-US" sz="3400" dirty="0"/>
          </a:p>
        </p:txBody>
      </p:sp>
      <p:sp>
        <p:nvSpPr>
          <p:cNvPr id="12" name="Text 10"/>
          <p:cNvSpPr txBox="1"/>
          <p:nvPr/>
        </p:nvSpPr>
        <p:spPr>
          <a:xfrm>
            <a:off x="6400800" y="2468880"/>
            <a:ext cx="2286000" cy="548640"/>
          </a:xfrm>
          <a:prstGeom prst="rect">
            <a:avLst/>
          </a:prstGeom>
          <a:noFill/>
          <a:ln/>
        </p:spPr>
        <p:txBody>
          <a:bodyPr wrap="square" lIns="0" tIns="0" rIns="0" bIns="0" rtlCol="0" anchor="t"/>
          <a:lstStyle/>
          <a:p>
            <a:pPr indent="0" marL="0">
              <a:buNone/>
            </a:pPr>
            <a:r>
              <a:rPr lang="en-US" sz="1300" dirty="0">
                <a:solidFill>
                  <a:schemeClr val="accent4"/>
                </a:solidFill>
              </a:rPr>
              <a:t>Personas, con 27 profesores</a:t>
            </a:r>
            <a:endParaRPr lang="en-US" sz="1300" dirty="0"/>
          </a:p>
        </p:txBody>
      </p:sp>
      <p:sp>
        <p:nvSpPr>
          <p:cNvPr id="13" name="dato-3"/>
          <p:cNvSpPr/>
          <p:nvPr/>
        </p:nvSpPr>
        <p:spPr>
          <a:xfrm>
            <a:off x="8983980" y="1600200"/>
            <a:ext cx="2651760" cy="1600200"/>
          </a:xfrm>
          <a:prstGeom prst="roundRect">
            <a:avLst>
              <a:gd name="adj" fmla="val 4571"/>
            </a:avLst>
          </a:prstGeom>
          <a:solidFill>
            <a:schemeClr val="bg1"/>
          </a:solidFill>
          <a:ln w="12700">
            <a:solidFill>
              <a:schemeClr val="bg1"/>
            </a:solidFill>
            <a:prstDash val="solid"/>
          </a:ln>
        </p:spPr>
      </p:sp>
      <p:sp>
        <p:nvSpPr>
          <p:cNvPr id="14" name="Text 12"/>
          <p:cNvSpPr txBox="1"/>
          <p:nvPr/>
        </p:nvSpPr>
        <p:spPr>
          <a:xfrm>
            <a:off x="9212580" y="1783080"/>
            <a:ext cx="2286000" cy="594360"/>
          </a:xfrm>
          <a:prstGeom prst="rect">
            <a:avLst/>
          </a:prstGeom>
          <a:noFill/>
          <a:ln/>
        </p:spPr>
        <p:txBody>
          <a:bodyPr wrap="square" lIns="0" tIns="0" rIns="0" bIns="0" rtlCol="0" anchor="t"/>
          <a:lstStyle/>
          <a:p>
            <a:pPr indent="0" marL="0">
              <a:buNone/>
            </a:pPr>
            <a:r>
              <a:rPr lang="en-US" sz="2600" b="1" dirty="0">
                <a:solidFill>
                  <a:schemeClr val="tx1"/>
                </a:solidFill>
              </a:rPr>
              <a:t>S/55 a S/65</a:t>
            </a:r>
            <a:endParaRPr lang="en-US" sz="2600" dirty="0"/>
          </a:p>
        </p:txBody>
      </p:sp>
      <p:sp>
        <p:nvSpPr>
          <p:cNvPr id="15" name="Text 13"/>
          <p:cNvSpPr txBox="1"/>
          <p:nvPr/>
        </p:nvSpPr>
        <p:spPr>
          <a:xfrm>
            <a:off x="9212580" y="2468880"/>
            <a:ext cx="2286000" cy="548640"/>
          </a:xfrm>
          <a:prstGeom prst="rect">
            <a:avLst/>
          </a:prstGeom>
          <a:noFill/>
          <a:ln/>
        </p:spPr>
        <p:txBody>
          <a:bodyPr wrap="square" lIns="0" tIns="0" rIns="0" bIns="0" rtlCol="0" anchor="t"/>
          <a:lstStyle/>
          <a:p>
            <a:pPr indent="0" marL="0">
              <a:buNone/>
            </a:pPr>
            <a:r>
              <a:rPr lang="en-US" sz="1300" dirty="0">
                <a:solidFill>
                  <a:schemeClr val="accent4"/>
                </a:solidFill>
              </a:rPr>
              <a:t>Por clase individual de 50 minutos</a:t>
            </a:r>
            <a:endParaRPr lang="en-US" sz="1300" dirty="0"/>
          </a:p>
        </p:txBody>
      </p:sp>
      <p:sp>
        <p:nvSpPr>
          <p:cNvPr id="16" name="identidad-0"/>
          <p:cNvSpPr/>
          <p:nvPr/>
        </p:nvSpPr>
        <p:spPr>
          <a:xfrm>
            <a:off x="548640" y="3429000"/>
            <a:ext cx="3566160" cy="2697480"/>
          </a:xfrm>
          <a:prstGeom prst="roundRect">
            <a:avLst>
              <a:gd name="adj" fmla="val 2712"/>
            </a:avLst>
          </a:prstGeom>
          <a:solidFill>
            <a:schemeClr val="bg1"/>
          </a:solidFill>
          <a:ln w="12700">
            <a:solidFill>
              <a:schemeClr val="bg1"/>
            </a:solidFill>
            <a:prstDash val="solid"/>
          </a:ln>
        </p:spPr>
      </p:sp>
      <p:sp>
        <p:nvSpPr>
          <p:cNvPr id="17" name="Text 15"/>
          <p:cNvSpPr txBox="1"/>
          <p:nvPr/>
        </p:nvSpPr>
        <p:spPr>
          <a:xfrm>
            <a:off x="822960" y="3639312"/>
            <a:ext cx="3017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MISIÓN</a:t>
            </a:r>
            <a:endParaRPr lang="en-US" sz="1200" dirty="0"/>
          </a:p>
        </p:txBody>
      </p:sp>
      <p:sp>
        <p:nvSpPr>
          <p:cNvPr id="18" name="Text 16"/>
          <p:cNvSpPr txBox="1"/>
          <p:nvPr/>
        </p:nvSpPr>
        <p:spPr>
          <a:xfrm>
            <a:off x="822960" y="4023360"/>
            <a:ext cx="3063240" cy="1920240"/>
          </a:xfrm>
          <a:prstGeom prst="rect">
            <a:avLst/>
          </a:prstGeom>
          <a:noFill/>
          <a:ln/>
        </p:spPr>
        <p:txBody>
          <a:bodyPr wrap="square" lIns="0" tIns="0" rIns="0" bIns="0" rtlCol="0" anchor="t"/>
          <a:lstStyle/>
          <a:p>
            <a:pPr indent="0" marL="0">
              <a:buNone/>
            </a:pPr>
            <a:r>
              <a:rPr lang="en-US" sz="1500" dirty="0">
                <a:solidFill>
                  <a:schemeClr val="tx1"/>
                </a:solidFill>
              </a:rPr>
              <a:t>Enseñamos matemáticas y educación financiera de forma personalizada y virtual, al ritmo de cada persona, para que entienda los números y los use en su vida.</a:t>
            </a:r>
            <a:endParaRPr lang="en-US" sz="1500" dirty="0"/>
          </a:p>
        </p:txBody>
      </p:sp>
      <p:sp>
        <p:nvSpPr>
          <p:cNvPr id="19" name="identidad-1"/>
          <p:cNvSpPr/>
          <p:nvPr/>
        </p:nvSpPr>
        <p:spPr>
          <a:xfrm>
            <a:off x="4297680" y="3429000"/>
            <a:ext cx="3566160" cy="2697480"/>
          </a:xfrm>
          <a:prstGeom prst="roundRect">
            <a:avLst>
              <a:gd name="adj" fmla="val 2712"/>
            </a:avLst>
          </a:prstGeom>
          <a:solidFill>
            <a:schemeClr val="accent3"/>
          </a:solidFill>
          <a:ln w="12700">
            <a:solidFill>
              <a:schemeClr val="accent3"/>
            </a:solidFill>
            <a:prstDash val="solid"/>
          </a:ln>
        </p:spPr>
      </p:sp>
      <p:sp>
        <p:nvSpPr>
          <p:cNvPr id="20" name="Text 18"/>
          <p:cNvSpPr txBox="1"/>
          <p:nvPr/>
        </p:nvSpPr>
        <p:spPr>
          <a:xfrm>
            <a:off x="4572000" y="3639312"/>
            <a:ext cx="3017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VISIÓN</a:t>
            </a:r>
            <a:endParaRPr lang="en-US" sz="1200" dirty="0"/>
          </a:p>
        </p:txBody>
      </p:sp>
      <p:sp>
        <p:nvSpPr>
          <p:cNvPr id="21" name="Text 19"/>
          <p:cNvSpPr txBox="1"/>
          <p:nvPr/>
        </p:nvSpPr>
        <p:spPr>
          <a:xfrm>
            <a:off x="4572000" y="4023360"/>
            <a:ext cx="3063240" cy="1920240"/>
          </a:xfrm>
          <a:prstGeom prst="rect">
            <a:avLst/>
          </a:prstGeom>
          <a:noFill/>
          <a:ln/>
        </p:spPr>
        <p:txBody>
          <a:bodyPr wrap="square" lIns="0" tIns="0" rIns="0" bIns="0" rtlCol="0" anchor="t"/>
          <a:lstStyle/>
          <a:p>
            <a:pPr indent="0" marL="0">
              <a:buNone/>
            </a:pPr>
            <a:r>
              <a:rPr lang="en-US" sz="1500" dirty="0">
                <a:solidFill>
                  <a:schemeClr val="tx1"/>
                </a:solidFill>
              </a:rPr>
              <a:t>Ser la academia virtual más reconocida del Perú en matemáticas y educación financiera, y que cada alumno pierda el miedo a los números.</a:t>
            </a:r>
            <a:endParaRPr lang="en-US" sz="1500" dirty="0"/>
          </a:p>
        </p:txBody>
      </p:sp>
      <p:sp>
        <p:nvSpPr>
          <p:cNvPr id="22" name="identidad-2"/>
          <p:cNvSpPr/>
          <p:nvPr/>
        </p:nvSpPr>
        <p:spPr>
          <a:xfrm>
            <a:off x="8046720" y="3429000"/>
            <a:ext cx="3566160" cy="2697480"/>
          </a:xfrm>
          <a:prstGeom prst="roundRect">
            <a:avLst>
              <a:gd name="adj" fmla="val 2712"/>
            </a:avLst>
          </a:prstGeom>
          <a:solidFill>
            <a:schemeClr val="bg1"/>
          </a:solidFill>
          <a:ln w="12700">
            <a:solidFill>
              <a:schemeClr val="bg1"/>
            </a:solidFill>
            <a:prstDash val="solid"/>
          </a:ln>
        </p:spPr>
      </p:sp>
      <p:sp>
        <p:nvSpPr>
          <p:cNvPr id="23" name="Text 21"/>
          <p:cNvSpPr txBox="1"/>
          <p:nvPr/>
        </p:nvSpPr>
        <p:spPr>
          <a:xfrm>
            <a:off x="8321040" y="3639312"/>
            <a:ext cx="3017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VALORES</a:t>
            </a:r>
            <a:endParaRPr lang="en-US" sz="1200" dirty="0"/>
          </a:p>
        </p:txBody>
      </p:sp>
      <p:sp>
        <p:nvSpPr>
          <p:cNvPr id="24" name="Text 22"/>
          <p:cNvSpPr txBox="1"/>
          <p:nvPr/>
        </p:nvSpPr>
        <p:spPr>
          <a:xfrm>
            <a:off x="8321040" y="4023360"/>
            <a:ext cx="3063240" cy="1920240"/>
          </a:xfrm>
          <a:prstGeom prst="rect">
            <a:avLst/>
          </a:prstGeom>
          <a:noFill/>
          <a:ln/>
        </p:spPr>
        <p:txBody>
          <a:bodyPr wrap="square" lIns="0" tIns="0" rIns="0" bIns="0" rtlCol="0" anchor="t"/>
          <a:lstStyle/>
          <a:p>
            <a:pPr indent="0" marL="0">
              <a:buNone/>
            </a:pPr>
            <a:r>
              <a:rPr lang="en-US" sz="1500" dirty="0">
                <a:solidFill>
                  <a:schemeClr val="tx1"/>
                </a:solidFill>
              </a:rPr>
              <a:t>Personalización, cercanía y confianza, comprensión, compromiso y puntualidad, innovación e integridad.</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02 / DIAGNÓSTICO EXTERNO</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bg1"/>
                </a:solidFill>
              </a:rPr>
              <a:t>El entorno tiene demanda, pero mucha competencia</a:t>
            </a:r>
            <a:endParaRPr lang="en-US" sz="3000" dirty="0"/>
          </a:p>
        </p:txBody>
      </p:sp>
      <p:sp>
        <p:nvSpPr>
          <p:cNvPr id="4" name="pestel-0"/>
          <p:cNvSpPr/>
          <p:nvPr/>
        </p:nvSpPr>
        <p:spPr>
          <a:xfrm>
            <a:off x="548640" y="1600200"/>
            <a:ext cx="2258568" cy="1737360"/>
          </a:xfrm>
          <a:prstGeom prst="roundRect">
            <a:avLst>
              <a:gd name="adj" fmla="val 4211"/>
            </a:avLst>
          </a:prstGeom>
          <a:solidFill>
            <a:srgbClr val="0F3256"/>
          </a:solidFill>
          <a:ln w="12700">
            <a:solidFill>
              <a:srgbClr val="0F3256"/>
            </a:solidFill>
            <a:prstDash val="solid"/>
          </a:ln>
        </p:spPr>
      </p:sp>
      <p:sp>
        <p:nvSpPr>
          <p:cNvPr id="5" name="Text 3"/>
          <p:cNvSpPr txBox="1"/>
          <p:nvPr/>
        </p:nvSpPr>
        <p:spPr>
          <a:xfrm>
            <a:off x="731520" y="1764792"/>
            <a:ext cx="1920240" cy="274320"/>
          </a:xfrm>
          <a:prstGeom prst="rect">
            <a:avLst/>
          </a:prstGeom>
          <a:noFill/>
          <a:ln/>
        </p:spPr>
        <p:txBody>
          <a:bodyPr wrap="square" lIns="0" tIns="0" rIns="0" bIns="0" rtlCol="0" anchor="t"/>
          <a:lstStyle/>
          <a:p>
            <a:pPr indent="0" marL="0">
              <a:buNone/>
            </a:pPr>
            <a:r>
              <a:rPr lang="en-US" sz="1000" b="1" spc="100" kern="0" dirty="0">
                <a:solidFill>
                  <a:schemeClr val="accent1"/>
                </a:solidFill>
              </a:rPr>
              <a:t>POLÍTICO</a:t>
            </a:r>
            <a:endParaRPr lang="en-US" sz="1000" dirty="0"/>
          </a:p>
        </p:txBody>
      </p:sp>
      <p:sp>
        <p:nvSpPr>
          <p:cNvPr id="6" name="Text 4"/>
          <p:cNvSpPr txBox="1"/>
          <p:nvPr/>
        </p:nvSpPr>
        <p:spPr>
          <a:xfrm>
            <a:off x="731520" y="2075688"/>
            <a:ext cx="1920240" cy="822960"/>
          </a:xfrm>
          <a:prstGeom prst="rect">
            <a:avLst/>
          </a:prstGeom>
          <a:noFill/>
          <a:ln/>
        </p:spPr>
        <p:txBody>
          <a:bodyPr wrap="square" lIns="0" tIns="0" rIns="0" bIns="0" rtlCol="0" anchor="t"/>
          <a:lstStyle/>
          <a:p>
            <a:pPr indent="0" marL="0">
              <a:buNone/>
            </a:pPr>
            <a:r>
              <a:rPr lang="en-US" sz="1400" dirty="0">
                <a:solidFill>
                  <a:schemeClr val="bg1"/>
                </a:solidFill>
              </a:rPr>
              <a:t>Cambios de gobierno y nuevas normas</a:t>
            </a:r>
            <a:endParaRPr lang="en-US" sz="1400" dirty="0"/>
          </a:p>
        </p:txBody>
      </p:sp>
      <p:sp>
        <p:nvSpPr>
          <p:cNvPr id="7" name="Text 5"/>
          <p:cNvSpPr txBox="1"/>
          <p:nvPr/>
        </p:nvSpPr>
        <p:spPr>
          <a:xfrm>
            <a:off x="731520" y="2971800"/>
            <a:ext cx="1920240" cy="228600"/>
          </a:xfrm>
          <a:prstGeom prst="rect">
            <a:avLst/>
          </a:prstGeom>
          <a:noFill/>
          <a:ln/>
        </p:spPr>
        <p:txBody>
          <a:bodyPr wrap="square" lIns="0" tIns="0" rIns="0" bIns="0" rtlCol="0" anchor="t"/>
          <a:lstStyle/>
          <a:p>
            <a:pPr indent="0" marL="0">
              <a:buNone/>
            </a:pPr>
            <a:r>
              <a:rPr lang="en-US" sz="1100" b="1" dirty="0">
                <a:solidFill>
                  <a:schemeClr val="accent5"/>
                </a:solidFill>
              </a:rPr>
              <a:t>A3</a:t>
            </a:r>
            <a:endParaRPr lang="en-US" sz="1100" dirty="0"/>
          </a:p>
        </p:txBody>
      </p:sp>
      <p:sp>
        <p:nvSpPr>
          <p:cNvPr id="8" name="pestel-1"/>
          <p:cNvSpPr/>
          <p:nvPr/>
        </p:nvSpPr>
        <p:spPr>
          <a:xfrm>
            <a:off x="2944368" y="1600200"/>
            <a:ext cx="2258568" cy="1737360"/>
          </a:xfrm>
          <a:prstGeom prst="roundRect">
            <a:avLst>
              <a:gd name="adj" fmla="val 4211"/>
            </a:avLst>
          </a:prstGeom>
          <a:solidFill>
            <a:srgbClr val="0F3256"/>
          </a:solidFill>
          <a:ln w="12700">
            <a:solidFill>
              <a:srgbClr val="0F3256"/>
            </a:solidFill>
            <a:prstDash val="solid"/>
          </a:ln>
        </p:spPr>
      </p:sp>
      <p:sp>
        <p:nvSpPr>
          <p:cNvPr id="9" name="Text 7"/>
          <p:cNvSpPr txBox="1"/>
          <p:nvPr/>
        </p:nvSpPr>
        <p:spPr>
          <a:xfrm>
            <a:off x="3127248" y="1764792"/>
            <a:ext cx="1920240" cy="274320"/>
          </a:xfrm>
          <a:prstGeom prst="rect">
            <a:avLst/>
          </a:prstGeom>
          <a:noFill/>
          <a:ln/>
        </p:spPr>
        <p:txBody>
          <a:bodyPr wrap="square" lIns="0" tIns="0" rIns="0" bIns="0" rtlCol="0" anchor="t"/>
          <a:lstStyle/>
          <a:p>
            <a:pPr indent="0" marL="0">
              <a:buNone/>
            </a:pPr>
            <a:r>
              <a:rPr lang="en-US" sz="1000" b="1" spc="100" kern="0" dirty="0">
                <a:solidFill>
                  <a:schemeClr val="accent1"/>
                </a:solidFill>
              </a:rPr>
              <a:t>ECONÓMICO</a:t>
            </a:r>
            <a:endParaRPr lang="en-US" sz="1000" dirty="0"/>
          </a:p>
        </p:txBody>
      </p:sp>
      <p:sp>
        <p:nvSpPr>
          <p:cNvPr id="10" name="Text 8"/>
          <p:cNvSpPr txBox="1"/>
          <p:nvPr/>
        </p:nvSpPr>
        <p:spPr>
          <a:xfrm>
            <a:off x="3127248" y="2075688"/>
            <a:ext cx="1920240" cy="822960"/>
          </a:xfrm>
          <a:prstGeom prst="rect">
            <a:avLst/>
          </a:prstGeom>
          <a:noFill/>
          <a:ln/>
        </p:spPr>
        <p:txBody>
          <a:bodyPr wrap="square" lIns="0" tIns="0" rIns="0" bIns="0" rtlCol="0" anchor="t"/>
          <a:lstStyle/>
          <a:p>
            <a:pPr indent="0" marL="0">
              <a:buNone/>
            </a:pPr>
            <a:r>
              <a:rPr lang="en-US" sz="1400" dirty="0">
                <a:solidFill>
                  <a:schemeClr val="bg1"/>
                </a:solidFill>
              </a:rPr>
              <a:t>Economía de las familias y alza de precios</a:t>
            </a:r>
            <a:endParaRPr lang="en-US" sz="1400" dirty="0"/>
          </a:p>
        </p:txBody>
      </p:sp>
      <p:sp>
        <p:nvSpPr>
          <p:cNvPr id="11" name="Text 9"/>
          <p:cNvSpPr txBox="1"/>
          <p:nvPr/>
        </p:nvSpPr>
        <p:spPr>
          <a:xfrm>
            <a:off x="3127248" y="2971800"/>
            <a:ext cx="1920240" cy="228600"/>
          </a:xfrm>
          <a:prstGeom prst="rect">
            <a:avLst/>
          </a:prstGeom>
          <a:noFill/>
          <a:ln/>
        </p:spPr>
        <p:txBody>
          <a:bodyPr wrap="square" lIns="0" tIns="0" rIns="0" bIns="0" rtlCol="0" anchor="t"/>
          <a:lstStyle/>
          <a:p>
            <a:pPr indent="0" marL="0">
              <a:buNone/>
            </a:pPr>
            <a:r>
              <a:rPr lang="en-US" sz="1100" b="1" dirty="0">
                <a:solidFill>
                  <a:schemeClr val="accent5"/>
                </a:solidFill>
              </a:rPr>
              <a:t>O3 · A1</a:t>
            </a:r>
            <a:endParaRPr lang="en-US" sz="1100" dirty="0"/>
          </a:p>
        </p:txBody>
      </p:sp>
      <p:sp>
        <p:nvSpPr>
          <p:cNvPr id="12" name="pestel-2"/>
          <p:cNvSpPr/>
          <p:nvPr/>
        </p:nvSpPr>
        <p:spPr>
          <a:xfrm>
            <a:off x="5340096" y="1600200"/>
            <a:ext cx="2258568" cy="1737360"/>
          </a:xfrm>
          <a:prstGeom prst="roundRect">
            <a:avLst>
              <a:gd name="adj" fmla="val 4211"/>
            </a:avLst>
          </a:prstGeom>
          <a:solidFill>
            <a:srgbClr val="0F3256"/>
          </a:solidFill>
          <a:ln w="12700">
            <a:solidFill>
              <a:srgbClr val="0F3256"/>
            </a:solidFill>
            <a:prstDash val="solid"/>
          </a:ln>
        </p:spPr>
      </p:sp>
      <p:sp>
        <p:nvSpPr>
          <p:cNvPr id="13" name="Text 11"/>
          <p:cNvSpPr txBox="1"/>
          <p:nvPr/>
        </p:nvSpPr>
        <p:spPr>
          <a:xfrm>
            <a:off x="5522976" y="1764792"/>
            <a:ext cx="1920240" cy="274320"/>
          </a:xfrm>
          <a:prstGeom prst="rect">
            <a:avLst/>
          </a:prstGeom>
          <a:noFill/>
          <a:ln/>
        </p:spPr>
        <p:txBody>
          <a:bodyPr wrap="square" lIns="0" tIns="0" rIns="0" bIns="0" rtlCol="0" anchor="t"/>
          <a:lstStyle/>
          <a:p>
            <a:pPr indent="0" marL="0">
              <a:buNone/>
            </a:pPr>
            <a:r>
              <a:rPr lang="en-US" sz="1000" b="1" spc="100" kern="0" dirty="0">
                <a:solidFill>
                  <a:schemeClr val="accent1"/>
                </a:solidFill>
              </a:rPr>
              <a:t>SOCIOCULTURAL</a:t>
            </a:r>
            <a:endParaRPr lang="en-US" sz="1000" dirty="0"/>
          </a:p>
        </p:txBody>
      </p:sp>
      <p:sp>
        <p:nvSpPr>
          <p:cNvPr id="14" name="Text 12"/>
          <p:cNvSpPr txBox="1"/>
          <p:nvPr/>
        </p:nvSpPr>
        <p:spPr>
          <a:xfrm>
            <a:off x="5522976" y="2075688"/>
            <a:ext cx="1920240" cy="822960"/>
          </a:xfrm>
          <a:prstGeom prst="rect">
            <a:avLst/>
          </a:prstGeom>
          <a:noFill/>
          <a:ln/>
        </p:spPr>
        <p:txBody>
          <a:bodyPr wrap="square" lIns="0" tIns="0" rIns="0" bIns="0" rtlCol="0" anchor="t"/>
          <a:lstStyle/>
          <a:p>
            <a:pPr indent="0" marL="0">
              <a:buNone/>
            </a:pPr>
            <a:r>
              <a:rPr lang="en-US" sz="1400" dirty="0">
                <a:solidFill>
                  <a:schemeClr val="bg1"/>
                </a:solidFill>
              </a:rPr>
              <a:t>Solo 12.8 % logra el nivel en matemática</a:t>
            </a:r>
            <a:endParaRPr lang="en-US" sz="1400" dirty="0"/>
          </a:p>
        </p:txBody>
      </p:sp>
      <p:sp>
        <p:nvSpPr>
          <p:cNvPr id="15" name="Text 13"/>
          <p:cNvSpPr txBox="1"/>
          <p:nvPr/>
        </p:nvSpPr>
        <p:spPr>
          <a:xfrm>
            <a:off x="5522976" y="2971800"/>
            <a:ext cx="1920240" cy="228600"/>
          </a:xfrm>
          <a:prstGeom prst="rect">
            <a:avLst/>
          </a:prstGeom>
          <a:noFill/>
          <a:ln/>
        </p:spPr>
        <p:txBody>
          <a:bodyPr wrap="square" lIns="0" tIns="0" rIns="0" bIns="0" rtlCol="0" anchor="t"/>
          <a:lstStyle/>
          <a:p>
            <a:pPr indent="0" marL="0">
              <a:buNone/>
            </a:pPr>
            <a:r>
              <a:rPr lang="en-US" sz="1100" b="1" dirty="0">
                <a:solidFill>
                  <a:schemeClr val="accent5"/>
                </a:solidFill>
              </a:rPr>
              <a:t>O2 · O4</a:t>
            </a:r>
            <a:endParaRPr lang="en-US" sz="1100" dirty="0"/>
          </a:p>
        </p:txBody>
      </p:sp>
      <p:sp>
        <p:nvSpPr>
          <p:cNvPr id="16" name="pestel-3"/>
          <p:cNvSpPr/>
          <p:nvPr/>
        </p:nvSpPr>
        <p:spPr>
          <a:xfrm>
            <a:off x="548640" y="3474720"/>
            <a:ext cx="2258568" cy="1737360"/>
          </a:xfrm>
          <a:prstGeom prst="roundRect">
            <a:avLst>
              <a:gd name="adj" fmla="val 4211"/>
            </a:avLst>
          </a:prstGeom>
          <a:solidFill>
            <a:srgbClr val="0F3256"/>
          </a:solidFill>
          <a:ln w="12700">
            <a:solidFill>
              <a:srgbClr val="0F3256"/>
            </a:solidFill>
            <a:prstDash val="solid"/>
          </a:ln>
        </p:spPr>
      </p:sp>
      <p:sp>
        <p:nvSpPr>
          <p:cNvPr id="17" name="Text 15"/>
          <p:cNvSpPr txBox="1"/>
          <p:nvPr/>
        </p:nvSpPr>
        <p:spPr>
          <a:xfrm>
            <a:off x="731520" y="3639312"/>
            <a:ext cx="1920240" cy="274320"/>
          </a:xfrm>
          <a:prstGeom prst="rect">
            <a:avLst/>
          </a:prstGeom>
          <a:noFill/>
          <a:ln/>
        </p:spPr>
        <p:txBody>
          <a:bodyPr wrap="square" lIns="0" tIns="0" rIns="0" bIns="0" rtlCol="0" anchor="t"/>
          <a:lstStyle/>
          <a:p>
            <a:pPr indent="0" marL="0">
              <a:buNone/>
            </a:pPr>
            <a:r>
              <a:rPr lang="en-US" sz="1000" b="1" spc="100" kern="0" dirty="0">
                <a:solidFill>
                  <a:schemeClr val="accent1"/>
                </a:solidFill>
              </a:rPr>
              <a:t>TECNOLÓGICO</a:t>
            </a:r>
            <a:endParaRPr lang="en-US" sz="1000" dirty="0"/>
          </a:p>
        </p:txBody>
      </p:sp>
      <p:sp>
        <p:nvSpPr>
          <p:cNvPr id="18" name="Text 16"/>
          <p:cNvSpPr txBox="1"/>
          <p:nvPr/>
        </p:nvSpPr>
        <p:spPr>
          <a:xfrm>
            <a:off x="731520" y="3950208"/>
            <a:ext cx="1920240" cy="822960"/>
          </a:xfrm>
          <a:prstGeom prst="rect">
            <a:avLst/>
          </a:prstGeom>
          <a:noFill/>
          <a:ln/>
        </p:spPr>
        <p:txBody>
          <a:bodyPr wrap="square" lIns="0" tIns="0" rIns="0" bIns="0" rtlCol="0" anchor="t"/>
          <a:lstStyle/>
          <a:p>
            <a:pPr indent="0" marL="0">
              <a:buNone/>
            </a:pPr>
            <a:r>
              <a:rPr lang="en-US" sz="1400" dirty="0">
                <a:solidFill>
                  <a:schemeClr val="bg1"/>
                </a:solidFill>
              </a:rPr>
              <a:t>96 % de hogares con internet, y la IA</a:t>
            </a:r>
            <a:endParaRPr lang="en-US" sz="1400" dirty="0"/>
          </a:p>
        </p:txBody>
      </p:sp>
      <p:sp>
        <p:nvSpPr>
          <p:cNvPr id="19" name="Text 17"/>
          <p:cNvSpPr txBox="1"/>
          <p:nvPr/>
        </p:nvSpPr>
        <p:spPr>
          <a:xfrm>
            <a:off x="731520" y="4846320"/>
            <a:ext cx="1920240" cy="228600"/>
          </a:xfrm>
          <a:prstGeom prst="rect">
            <a:avLst/>
          </a:prstGeom>
          <a:noFill/>
          <a:ln/>
        </p:spPr>
        <p:txBody>
          <a:bodyPr wrap="square" lIns="0" tIns="0" rIns="0" bIns="0" rtlCol="0" anchor="t"/>
          <a:lstStyle/>
          <a:p>
            <a:pPr indent="0" marL="0">
              <a:buNone/>
            </a:pPr>
            <a:r>
              <a:rPr lang="en-US" sz="1100" b="1" dirty="0">
                <a:solidFill>
                  <a:schemeClr val="accent5"/>
                </a:solidFill>
              </a:rPr>
              <a:t>O1 · O5 · A5</a:t>
            </a:r>
            <a:endParaRPr lang="en-US" sz="1100" dirty="0"/>
          </a:p>
        </p:txBody>
      </p:sp>
      <p:sp>
        <p:nvSpPr>
          <p:cNvPr id="20" name="pestel-4"/>
          <p:cNvSpPr/>
          <p:nvPr/>
        </p:nvSpPr>
        <p:spPr>
          <a:xfrm>
            <a:off x="2944368" y="3474720"/>
            <a:ext cx="2258568" cy="1737360"/>
          </a:xfrm>
          <a:prstGeom prst="roundRect">
            <a:avLst>
              <a:gd name="adj" fmla="val 4211"/>
            </a:avLst>
          </a:prstGeom>
          <a:solidFill>
            <a:srgbClr val="0F3256"/>
          </a:solidFill>
          <a:ln w="12700">
            <a:solidFill>
              <a:srgbClr val="0F3256"/>
            </a:solidFill>
            <a:prstDash val="solid"/>
          </a:ln>
        </p:spPr>
      </p:sp>
      <p:sp>
        <p:nvSpPr>
          <p:cNvPr id="21" name="Text 19"/>
          <p:cNvSpPr txBox="1"/>
          <p:nvPr/>
        </p:nvSpPr>
        <p:spPr>
          <a:xfrm>
            <a:off x="3127248" y="3639312"/>
            <a:ext cx="1920240" cy="274320"/>
          </a:xfrm>
          <a:prstGeom prst="rect">
            <a:avLst/>
          </a:prstGeom>
          <a:noFill/>
          <a:ln/>
        </p:spPr>
        <p:txBody>
          <a:bodyPr wrap="square" lIns="0" tIns="0" rIns="0" bIns="0" rtlCol="0" anchor="t"/>
          <a:lstStyle/>
          <a:p>
            <a:pPr indent="0" marL="0">
              <a:buNone/>
            </a:pPr>
            <a:r>
              <a:rPr lang="en-US" sz="1000" b="1" spc="100" kern="0" dirty="0">
                <a:solidFill>
                  <a:schemeClr val="accent1"/>
                </a:solidFill>
              </a:rPr>
              <a:t>ECOLÓGICO</a:t>
            </a:r>
            <a:endParaRPr lang="en-US" sz="1000" dirty="0"/>
          </a:p>
        </p:txBody>
      </p:sp>
      <p:sp>
        <p:nvSpPr>
          <p:cNvPr id="22" name="Text 20"/>
          <p:cNvSpPr txBox="1"/>
          <p:nvPr/>
        </p:nvSpPr>
        <p:spPr>
          <a:xfrm>
            <a:off x="3127248" y="3950208"/>
            <a:ext cx="1920240" cy="822960"/>
          </a:xfrm>
          <a:prstGeom prst="rect">
            <a:avLst/>
          </a:prstGeom>
          <a:noFill/>
          <a:ln/>
        </p:spPr>
        <p:txBody>
          <a:bodyPr wrap="square" lIns="0" tIns="0" rIns="0" bIns="0" rtlCol="0" anchor="t"/>
          <a:lstStyle/>
          <a:p>
            <a:pPr indent="0" marL="0">
              <a:buNone/>
            </a:pPr>
            <a:r>
              <a:rPr lang="en-US" sz="1400" dirty="0">
                <a:solidFill>
                  <a:schemeClr val="bg1"/>
                </a:solidFill>
              </a:rPr>
              <a:t>El Niño puede cortar luz o internet</a:t>
            </a:r>
            <a:endParaRPr lang="en-US" sz="1400" dirty="0"/>
          </a:p>
        </p:txBody>
      </p:sp>
      <p:sp>
        <p:nvSpPr>
          <p:cNvPr id="23" name="Text 21"/>
          <p:cNvSpPr txBox="1"/>
          <p:nvPr/>
        </p:nvSpPr>
        <p:spPr>
          <a:xfrm>
            <a:off x="3127248" y="4846320"/>
            <a:ext cx="1920240" cy="228600"/>
          </a:xfrm>
          <a:prstGeom prst="rect">
            <a:avLst/>
          </a:prstGeom>
          <a:noFill/>
          <a:ln/>
        </p:spPr>
        <p:txBody>
          <a:bodyPr wrap="square" lIns="0" tIns="0" rIns="0" bIns="0" rtlCol="0" anchor="t"/>
          <a:lstStyle/>
          <a:p>
            <a:pPr indent="0" marL="0">
              <a:buNone/>
            </a:pPr>
            <a:r>
              <a:rPr lang="en-US" sz="1100" b="1" dirty="0">
                <a:solidFill>
                  <a:schemeClr val="accent5"/>
                </a:solidFill>
              </a:rPr>
              <a:t>A2</a:t>
            </a:r>
            <a:endParaRPr lang="en-US" sz="1100" dirty="0"/>
          </a:p>
        </p:txBody>
      </p:sp>
      <p:sp>
        <p:nvSpPr>
          <p:cNvPr id="24" name="pestel-5"/>
          <p:cNvSpPr/>
          <p:nvPr/>
        </p:nvSpPr>
        <p:spPr>
          <a:xfrm>
            <a:off x="5340096" y="3474720"/>
            <a:ext cx="2258568" cy="1737360"/>
          </a:xfrm>
          <a:prstGeom prst="roundRect">
            <a:avLst>
              <a:gd name="adj" fmla="val 4211"/>
            </a:avLst>
          </a:prstGeom>
          <a:solidFill>
            <a:srgbClr val="0F3256"/>
          </a:solidFill>
          <a:ln w="12700">
            <a:solidFill>
              <a:srgbClr val="0F3256"/>
            </a:solidFill>
            <a:prstDash val="solid"/>
          </a:ln>
        </p:spPr>
      </p:sp>
      <p:sp>
        <p:nvSpPr>
          <p:cNvPr id="25" name="Text 23"/>
          <p:cNvSpPr txBox="1"/>
          <p:nvPr/>
        </p:nvSpPr>
        <p:spPr>
          <a:xfrm>
            <a:off x="5522976" y="3639312"/>
            <a:ext cx="1920240" cy="274320"/>
          </a:xfrm>
          <a:prstGeom prst="rect">
            <a:avLst/>
          </a:prstGeom>
          <a:noFill/>
          <a:ln/>
        </p:spPr>
        <p:txBody>
          <a:bodyPr wrap="square" lIns="0" tIns="0" rIns="0" bIns="0" rtlCol="0" anchor="t"/>
          <a:lstStyle/>
          <a:p>
            <a:pPr indent="0" marL="0">
              <a:buNone/>
            </a:pPr>
            <a:r>
              <a:rPr lang="en-US" sz="1000" b="1" spc="100" kern="0" dirty="0">
                <a:solidFill>
                  <a:schemeClr val="accent1"/>
                </a:solidFill>
              </a:rPr>
              <a:t>LEGAL</a:t>
            </a:r>
            <a:endParaRPr lang="en-US" sz="1000" dirty="0"/>
          </a:p>
        </p:txBody>
      </p:sp>
      <p:sp>
        <p:nvSpPr>
          <p:cNvPr id="26" name="Text 24"/>
          <p:cNvSpPr txBox="1"/>
          <p:nvPr/>
        </p:nvSpPr>
        <p:spPr>
          <a:xfrm>
            <a:off x="5522976" y="3950208"/>
            <a:ext cx="1920240" cy="822960"/>
          </a:xfrm>
          <a:prstGeom prst="rect">
            <a:avLst/>
          </a:prstGeom>
          <a:noFill/>
          <a:ln/>
        </p:spPr>
        <p:txBody>
          <a:bodyPr wrap="square" lIns="0" tIns="0" rIns="0" bIns="0" rtlCol="0" anchor="t"/>
          <a:lstStyle/>
          <a:p>
            <a:pPr indent="0" marL="0">
              <a:buNone/>
            </a:pPr>
            <a:r>
              <a:rPr lang="en-US" sz="1400" dirty="0">
                <a:solidFill>
                  <a:schemeClr val="bg1"/>
                </a:solidFill>
              </a:rPr>
              <a:t>Protección de datos de menores</a:t>
            </a:r>
            <a:endParaRPr lang="en-US" sz="1400" dirty="0"/>
          </a:p>
        </p:txBody>
      </p:sp>
      <p:sp>
        <p:nvSpPr>
          <p:cNvPr id="27" name="Text 25"/>
          <p:cNvSpPr txBox="1"/>
          <p:nvPr/>
        </p:nvSpPr>
        <p:spPr>
          <a:xfrm>
            <a:off x="5522976" y="4846320"/>
            <a:ext cx="1920240" cy="228600"/>
          </a:xfrm>
          <a:prstGeom prst="rect">
            <a:avLst/>
          </a:prstGeom>
          <a:noFill/>
          <a:ln/>
        </p:spPr>
        <p:txBody>
          <a:bodyPr wrap="square" lIns="0" tIns="0" rIns="0" bIns="0" rtlCol="0" anchor="t"/>
          <a:lstStyle/>
          <a:p>
            <a:pPr indent="0" marL="0">
              <a:buNone/>
            </a:pPr>
            <a:r>
              <a:rPr lang="en-US" sz="1100" b="1" dirty="0">
                <a:solidFill>
                  <a:schemeClr val="accent5"/>
                </a:solidFill>
              </a:rPr>
              <a:t>A4</a:t>
            </a:r>
            <a:endParaRPr lang="en-US" sz="1100" dirty="0"/>
          </a:p>
        </p:txBody>
      </p:sp>
      <p:sp>
        <p:nvSpPr>
          <p:cNvPr id="28" name="Text 26"/>
          <p:cNvSpPr txBox="1"/>
          <p:nvPr/>
        </p:nvSpPr>
        <p:spPr>
          <a:xfrm>
            <a:off x="548640" y="5394960"/>
            <a:ext cx="274320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PESTEL</a:t>
            </a:r>
            <a:endParaRPr lang="en-US" sz="1100" dirty="0"/>
          </a:p>
        </p:txBody>
      </p:sp>
      <p:sp>
        <p:nvSpPr>
          <p:cNvPr id="29" name="mefe"/>
          <p:cNvSpPr/>
          <p:nvPr/>
        </p:nvSpPr>
        <p:spPr>
          <a:xfrm>
            <a:off x="7863840" y="1600200"/>
            <a:ext cx="3749040" cy="1325880"/>
          </a:xfrm>
          <a:prstGeom prst="roundRect">
            <a:avLst>
              <a:gd name="adj" fmla="val 5517"/>
            </a:avLst>
          </a:prstGeom>
          <a:solidFill>
            <a:schemeClr val="accent1"/>
          </a:solidFill>
          <a:ln w="12700">
            <a:solidFill>
              <a:schemeClr val="accent1"/>
            </a:solidFill>
            <a:prstDash val="solid"/>
          </a:ln>
        </p:spPr>
      </p:sp>
      <p:sp>
        <p:nvSpPr>
          <p:cNvPr id="30" name="Text 28"/>
          <p:cNvSpPr txBox="1"/>
          <p:nvPr/>
        </p:nvSpPr>
        <p:spPr>
          <a:xfrm>
            <a:off x="8092440" y="1737360"/>
            <a:ext cx="1463040" cy="685800"/>
          </a:xfrm>
          <a:prstGeom prst="rect">
            <a:avLst/>
          </a:prstGeom>
          <a:noFill/>
          <a:ln/>
        </p:spPr>
        <p:txBody>
          <a:bodyPr wrap="square" lIns="0" tIns="0" rIns="0" bIns="0" rtlCol="0" anchor="t"/>
          <a:lstStyle/>
          <a:p>
            <a:pPr indent="0" marL="0">
              <a:buNone/>
            </a:pPr>
            <a:r>
              <a:rPr lang="en-US" sz="3600" b="1" dirty="0">
                <a:solidFill>
                  <a:schemeClr val="tx2"/>
                </a:solidFill>
              </a:rPr>
              <a:t>2.34</a:t>
            </a:r>
            <a:endParaRPr lang="en-US" sz="3600" dirty="0"/>
          </a:p>
        </p:txBody>
      </p:sp>
      <p:sp>
        <p:nvSpPr>
          <p:cNvPr id="31" name="Text 29"/>
          <p:cNvSpPr txBox="1"/>
          <p:nvPr/>
        </p:nvSpPr>
        <p:spPr>
          <a:xfrm>
            <a:off x="9464040" y="1783080"/>
            <a:ext cx="2011680" cy="1005840"/>
          </a:xfrm>
          <a:prstGeom prst="rect">
            <a:avLst/>
          </a:prstGeom>
          <a:noFill/>
          <a:ln/>
        </p:spPr>
        <p:txBody>
          <a:bodyPr wrap="square" lIns="0" tIns="0" rIns="0" bIns="0" rtlCol="0" anchor="t"/>
          <a:lstStyle/>
          <a:p>
            <a:pPr indent="0" marL="0">
              <a:buNone/>
            </a:pPr>
            <a:r>
              <a:rPr lang="en-US" sz="1300" dirty="0">
                <a:solidFill>
                  <a:schemeClr val="tx2"/>
                </a:solidFill>
              </a:rPr>
              <a:t>MEFE, debajo de 2.5. No aprovecha del todo el entorno.</a:t>
            </a:r>
            <a:endParaRPr lang="en-US" sz="1300" dirty="0"/>
          </a:p>
        </p:txBody>
      </p:sp>
      <p:sp>
        <p:nvSpPr>
          <p:cNvPr id="32" name="porter"/>
          <p:cNvSpPr/>
          <p:nvPr/>
        </p:nvSpPr>
        <p:spPr>
          <a:xfrm>
            <a:off x="7863840" y="3063240"/>
            <a:ext cx="3749040" cy="868680"/>
          </a:xfrm>
          <a:prstGeom prst="roundRect">
            <a:avLst>
              <a:gd name="adj" fmla="val 8421"/>
            </a:avLst>
          </a:prstGeom>
          <a:solidFill>
            <a:srgbClr val="0F3256"/>
          </a:solidFill>
          <a:ln w="12700">
            <a:solidFill>
              <a:srgbClr val="0F3256"/>
            </a:solidFill>
            <a:prstDash val="solid"/>
          </a:ln>
        </p:spPr>
      </p:sp>
      <p:sp>
        <p:nvSpPr>
          <p:cNvPr id="33" name="Text 31"/>
          <p:cNvSpPr txBox="1"/>
          <p:nvPr/>
        </p:nvSpPr>
        <p:spPr>
          <a:xfrm>
            <a:off x="8092440" y="3291840"/>
            <a:ext cx="3383280" cy="411480"/>
          </a:xfrm>
          <a:prstGeom prst="rect">
            <a:avLst/>
          </a:prstGeom>
          <a:noFill/>
          <a:ln/>
        </p:spPr>
        <p:txBody>
          <a:bodyPr wrap="square" lIns="0" tIns="0" rIns="0" bIns="0" rtlCol="0" anchor="t"/>
          <a:lstStyle/>
          <a:p>
            <a:pPr indent="0" marL="0">
              <a:buNone/>
            </a:pPr>
            <a:r>
              <a:rPr lang="en-US" sz="1500" b="1" dirty="0">
                <a:solidFill>
                  <a:schemeClr val="accent1"/>
                </a:solidFill>
              </a:rPr>
              <a:t>Porter  </a:t>
            </a:r>
            <a:pPr indent="0" marL="0">
              <a:buNone/>
            </a:pPr>
            <a:r>
              <a:rPr lang="en-US" sz="1500" dirty="0">
                <a:solidFill>
                  <a:schemeClr val="bg1"/>
                </a:solidFill>
              </a:rPr>
              <a:t>las cinco fuerzas son altas</a:t>
            </a:r>
            <a:endParaRPr lang="en-US" sz="1500" dirty="0"/>
          </a:p>
        </p:txBody>
      </p:sp>
      <p:sp>
        <p:nvSpPr>
          <p:cNvPr id="34" name="mpc"/>
          <p:cNvSpPr/>
          <p:nvPr/>
        </p:nvSpPr>
        <p:spPr>
          <a:xfrm>
            <a:off x="7863840" y="4069080"/>
            <a:ext cx="3749040" cy="2057400"/>
          </a:xfrm>
          <a:prstGeom prst="roundRect">
            <a:avLst>
              <a:gd name="adj" fmla="val 3556"/>
            </a:avLst>
          </a:prstGeom>
          <a:solidFill>
            <a:srgbClr val="0F3256"/>
          </a:solidFill>
          <a:ln w="12700">
            <a:solidFill>
              <a:srgbClr val="0F3256"/>
            </a:solidFill>
            <a:prstDash val="solid"/>
          </a:ln>
        </p:spPr>
      </p:sp>
      <p:sp>
        <p:nvSpPr>
          <p:cNvPr id="35" name="Text 33"/>
          <p:cNvSpPr txBox="1"/>
          <p:nvPr/>
        </p:nvSpPr>
        <p:spPr>
          <a:xfrm>
            <a:off x="8092440" y="420624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MPC</a:t>
            </a:r>
            <a:endParaRPr lang="en-US" sz="1100" dirty="0"/>
          </a:p>
        </p:txBody>
      </p:sp>
      <p:sp>
        <p:nvSpPr>
          <p:cNvPr id="36" name="Text 34"/>
          <p:cNvSpPr txBox="1"/>
          <p:nvPr/>
        </p:nvSpPr>
        <p:spPr>
          <a:xfrm>
            <a:off x="8092440" y="4553712"/>
            <a:ext cx="2560320" cy="320040"/>
          </a:xfrm>
          <a:prstGeom prst="rect">
            <a:avLst/>
          </a:prstGeom>
          <a:noFill/>
          <a:ln/>
        </p:spPr>
        <p:txBody>
          <a:bodyPr wrap="square" lIns="0" tIns="0" rIns="0" bIns="0" rtlCol="0" anchor="t"/>
          <a:lstStyle/>
          <a:p>
            <a:pPr indent="0" marL="0">
              <a:buNone/>
            </a:pPr>
            <a:r>
              <a:rPr lang="en-US" sz="1400" dirty="0">
                <a:solidFill>
                  <a:schemeClr val="bg1"/>
                </a:solidFill>
              </a:rPr>
              <a:t>Plataformas de tutorías</a:t>
            </a:r>
            <a:endParaRPr lang="en-US" sz="1400" dirty="0"/>
          </a:p>
        </p:txBody>
      </p:sp>
      <p:sp>
        <p:nvSpPr>
          <p:cNvPr id="37" name="Text 35"/>
          <p:cNvSpPr txBox="1"/>
          <p:nvPr/>
        </p:nvSpPr>
        <p:spPr>
          <a:xfrm>
            <a:off x="10698480" y="4553712"/>
            <a:ext cx="731520" cy="320040"/>
          </a:xfrm>
          <a:prstGeom prst="rect">
            <a:avLst/>
          </a:prstGeom>
          <a:noFill/>
          <a:ln/>
        </p:spPr>
        <p:txBody>
          <a:bodyPr wrap="square" lIns="0" tIns="0" rIns="0" bIns="0" rtlCol="0" anchor="t"/>
          <a:lstStyle/>
          <a:p>
            <a:pPr algn="r" indent="0" marL="0">
              <a:buNone/>
            </a:pPr>
            <a:r>
              <a:rPr lang="en-US" sz="1400" dirty="0">
                <a:solidFill>
                  <a:schemeClr val="bg1"/>
                </a:solidFill>
              </a:rPr>
              <a:t>2.84</a:t>
            </a:r>
            <a:endParaRPr lang="en-US" sz="1400" dirty="0"/>
          </a:p>
        </p:txBody>
      </p:sp>
      <p:sp>
        <p:nvSpPr>
          <p:cNvPr id="38" name="Text 36"/>
          <p:cNvSpPr txBox="1"/>
          <p:nvPr/>
        </p:nvSpPr>
        <p:spPr>
          <a:xfrm>
            <a:off x="8092440" y="4919472"/>
            <a:ext cx="2560320" cy="320040"/>
          </a:xfrm>
          <a:prstGeom prst="rect">
            <a:avLst/>
          </a:prstGeom>
          <a:noFill/>
          <a:ln/>
        </p:spPr>
        <p:txBody>
          <a:bodyPr wrap="square" lIns="0" tIns="0" rIns="0" bIns="0" rtlCol="0" anchor="t"/>
          <a:lstStyle/>
          <a:p>
            <a:pPr indent="0" marL="0">
              <a:buNone/>
            </a:pPr>
            <a:r>
              <a:rPr lang="en-US" sz="1400" b="1" dirty="0">
                <a:solidFill>
                  <a:schemeClr val="accent1"/>
                </a:solidFill>
              </a:rPr>
              <a:t>MatLab Perú</a:t>
            </a:r>
            <a:endParaRPr lang="en-US" sz="1400" dirty="0"/>
          </a:p>
        </p:txBody>
      </p:sp>
      <p:sp>
        <p:nvSpPr>
          <p:cNvPr id="39" name="Text 37"/>
          <p:cNvSpPr txBox="1"/>
          <p:nvPr/>
        </p:nvSpPr>
        <p:spPr>
          <a:xfrm>
            <a:off x="10698480" y="4919472"/>
            <a:ext cx="731520" cy="320040"/>
          </a:xfrm>
          <a:prstGeom prst="rect">
            <a:avLst/>
          </a:prstGeom>
          <a:noFill/>
          <a:ln/>
        </p:spPr>
        <p:txBody>
          <a:bodyPr wrap="square" lIns="0" tIns="0" rIns="0" bIns="0" rtlCol="0" anchor="t"/>
          <a:lstStyle/>
          <a:p>
            <a:pPr algn="r" indent="0" marL="0">
              <a:buNone/>
            </a:pPr>
            <a:r>
              <a:rPr lang="en-US" sz="1400" b="1" dirty="0">
                <a:solidFill>
                  <a:schemeClr val="accent1"/>
                </a:solidFill>
              </a:rPr>
              <a:t>2.68</a:t>
            </a:r>
            <a:endParaRPr lang="en-US" sz="1400" dirty="0"/>
          </a:p>
        </p:txBody>
      </p:sp>
      <p:sp>
        <p:nvSpPr>
          <p:cNvPr id="40" name="Text 38"/>
          <p:cNvSpPr txBox="1"/>
          <p:nvPr/>
        </p:nvSpPr>
        <p:spPr>
          <a:xfrm>
            <a:off x="8092440" y="5285232"/>
            <a:ext cx="2560320" cy="320040"/>
          </a:xfrm>
          <a:prstGeom prst="rect">
            <a:avLst/>
          </a:prstGeom>
          <a:noFill/>
          <a:ln/>
        </p:spPr>
        <p:txBody>
          <a:bodyPr wrap="square" lIns="0" tIns="0" rIns="0" bIns="0" rtlCol="0" anchor="t"/>
          <a:lstStyle/>
          <a:p>
            <a:pPr indent="0" marL="0">
              <a:buNone/>
            </a:pPr>
            <a:r>
              <a:rPr lang="en-US" sz="1400" dirty="0">
                <a:solidFill>
                  <a:schemeClr val="bg1"/>
                </a:solidFill>
              </a:rPr>
              <a:t>Academias virtuales</a:t>
            </a:r>
            <a:endParaRPr lang="en-US" sz="1400" dirty="0"/>
          </a:p>
        </p:txBody>
      </p:sp>
      <p:sp>
        <p:nvSpPr>
          <p:cNvPr id="41" name="Text 39"/>
          <p:cNvSpPr txBox="1"/>
          <p:nvPr/>
        </p:nvSpPr>
        <p:spPr>
          <a:xfrm>
            <a:off x="10698480" y="5285232"/>
            <a:ext cx="731520" cy="320040"/>
          </a:xfrm>
          <a:prstGeom prst="rect">
            <a:avLst/>
          </a:prstGeom>
          <a:noFill/>
          <a:ln/>
        </p:spPr>
        <p:txBody>
          <a:bodyPr wrap="square" lIns="0" tIns="0" rIns="0" bIns="0" rtlCol="0" anchor="t"/>
          <a:lstStyle/>
          <a:p>
            <a:pPr algn="r" indent="0" marL="0">
              <a:buNone/>
            </a:pPr>
            <a:r>
              <a:rPr lang="en-US" sz="1400" dirty="0">
                <a:solidFill>
                  <a:schemeClr val="bg1"/>
                </a:solidFill>
              </a:rPr>
              <a:t>2.62</a:t>
            </a:r>
            <a:endParaRPr lang="en-US" sz="1400" dirty="0"/>
          </a:p>
        </p:txBody>
      </p:sp>
      <p:sp>
        <p:nvSpPr>
          <p:cNvPr id="42" name="Text 40"/>
          <p:cNvSpPr txBox="1"/>
          <p:nvPr/>
        </p:nvSpPr>
        <p:spPr>
          <a:xfrm>
            <a:off x="8092440" y="5650992"/>
            <a:ext cx="2560320" cy="320040"/>
          </a:xfrm>
          <a:prstGeom prst="rect">
            <a:avLst/>
          </a:prstGeom>
          <a:noFill/>
          <a:ln/>
        </p:spPr>
        <p:txBody>
          <a:bodyPr wrap="square" lIns="0" tIns="0" rIns="0" bIns="0" rtlCol="0" anchor="t"/>
          <a:lstStyle/>
          <a:p>
            <a:pPr indent="0" marL="0">
              <a:buNone/>
            </a:pPr>
            <a:r>
              <a:rPr lang="en-US" sz="1400" dirty="0">
                <a:solidFill>
                  <a:schemeClr val="bg1"/>
                </a:solidFill>
              </a:rPr>
              <a:t>Tutores independientes</a:t>
            </a:r>
            <a:endParaRPr lang="en-US" sz="1400" dirty="0"/>
          </a:p>
        </p:txBody>
      </p:sp>
      <p:sp>
        <p:nvSpPr>
          <p:cNvPr id="43" name="Text 41"/>
          <p:cNvSpPr txBox="1"/>
          <p:nvPr/>
        </p:nvSpPr>
        <p:spPr>
          <a:xfrm>
            <a:off x="10698480" y="5650992"/>
            <a:ext cx="731520" cy="320040"/>
          </a:xfrm>
          <a:prstGeom prst="rect">
            <a:avLst/>
          </a:prstGeom>
          <a:noFill/>
          <a:ln/>
        </p:spPr>
        <p:txBody>
          <a:bodyPr wrap="square" lIns="0" tIns="0" rIns="0" bIns="0" rtlCol="0" anchor="t"/>
          <a:lstStyle/>
          <a:p>
            <a:pPr algn="r" indent="0" marL="0">
              <a:buNone/>
            </a:pPr>
            <a:r>
              <a:rPr lang="en-US" sz="1400" dirty="0">
                <a:solidFill>
                  <a:schemeClr val="bg1"/>
                </a:solidFill>
              </a:rPr>
              <a:t>2.32</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03 / DIAGNÓSTICO INTERNO</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Adentro, el problema es el cumplimiento docente</a:t>
            </a:r>
            <a:endParaRPr lang="en-US" sz="3000" dirty="0"/>
          </a:p>
        </p:txBody>
      </p:sp>
      <p:sp>
        <p:nvSpPr>
          <p:cNvPr id="4" name="mefi"/>
          <p:cNvSpPr/>
          <p:nvPr/>
        </p:nvSpPr>
        <p:spPr>
          <a:xfrm>
            <a:off x="548640" y="1600200"/>
            <a:ext cx="3291840" cy="1463040"/>
          </a:xfrm>
          <a:prstGeom prst="roundRect">
            <a:avLst>
              <a:gd name="adj" fmla="val 5000"/>
            </a:avLst>
          </a:prstGeom>
          <a:solidFill>
            <a:schemeClr val="tx2"/>
          </a:solidFill>
          <a:ln w="12700">
            <a:solidFill>
              <a:schemeClr val="tx2"/>
            </a:solidFill>
            <a:prstDash val="solid"/>
          </a:ln>
        </p:spPr>
      </p:sp>
      <p:sp>
        <p:nvSpPr>
          <p:cNvPr id="5" name="Text 3"/>
          <p:cNvSpPr txBox="1"/>
          <p:nvPr/>
        </p:nvSpPr>
        <p:spPr>
          <a:xfrm>
            <a:off x="777240" y="1737360"/>
            <a:ext cx="1463040" cy="685800"/>
          </a:xfrm>
          <a:prstGeom prst="rect">
            <a:avLst/>
          </a:prstGeom>
          <a:noFill/>
          <a:ln/>
        </p:spPr>
        <p:txBody>
          <a:bodyPr wrap="square" lIns="0" tIns="0" rIns="0" bIns="0" rtlCol="0" anchor="t"/>
          <a:lstStyle/>
          <a:p>
            <a:pPr indent="0" marL="0">
              <a:buNone/>
            </a:pPr>
            <a:r>
              <a:rPr lang="en-US" sz="3600" b="1" dirty="0">
                <a:solidFill>
                  <a:schemeClr val="accent1"/>
                </a:solidFill>
              </a:rPr>
              <a:t>2.40</a:t>
            </a:r>
            <a:endParaRPr lang="en-US" sz="3600" dirty="0"/>
          </a:p>
        </p:txBody>
      </p:sp>
      <p:sp>
        <p:nvSpPr>
          <p:cNvPr id="6" name="Text 4"/>
          <p:cNvSpPr txBox="1"/>
          <p:nvPr/>
        </p:nvSpPr>
        <p:spPr>
          <a:xfrm>
            <a:off x="2148840" y="1783080"/>
            <a:ext cx="1554480" cy="1143000"/>
          </a:xfrm>
          <a:prstGeom prst="rect">
            <a:avLst/>
          </a:prstGeom>
          <a:noFill/>
          <a:ln/>
        </p:spPr>
        <p:txBody>
          <a:bodyPr wrap="square" lIns="0" tIns="0" rIns="0" bIns="0" rtlCol="0" anchor="t"/>
          <a:lstStyle/>
          <a:p>
            <a:pPr indent="0" marL="0">
              <a:buNone/>
            </a:pPr>
            <a:r>
              <a:rPr lang="en-US" sz="1300" dirty="0">
                <a:solidFill>
                  <a:schemeClr val="bg1"/>
                </a:solidFill>
              </a:rPr>
              <a:t>MEFI, debajo de 2.5. Pesan más las debilidades.</a:t>
            </a:r>
            <a:endParaRPr lang="en-US" sz="1300" dirty="0"/>
          </a:p>
        </p:txBody>
      </p:sp>
      <p:sp>
        <p:nvSpPr>
          <p:cNvPr id="7" name="amofhit"/>
          <p:cNvSpPr/>
          <p:nvPr/>
        </p:nvSpPr>
        <p:spPr>
          <a:xfrm>
            <a:off x="548640" y="3200400"/>
            <a:ext cx="3291840" cy="2926080"/>
          </a:xfrm>
          <a:prstGeom prst="roundRect">
            <a:avLst>
              <a:gd name="adj" fmla="val 2500"/>
            </a:avLst>
          </a:prstGeom>
          <a:solidFill>
            <a:schemeClr val="bg1"/>
          </a:solidFill>
          <a:ln w="12700">
            <a:solidFill>
              <a:schemeClr val="bg1"/>
            </a:solidFill>
            <a:prstDash val="solid"/>
          </a:ln>
        </p:spPr>
      </p:sp>
      <p:sp>
        <p:nvSpPr>
          <p:cNvPr id="8" name="Text 6"/>
          <p:cNvSpPr txBox="1"/>
          <p:nvPr/>
        </p:nvSpPr>
        <p:spPr>
          <a:xfrm>
            <a:off x="777240" y="3383280"/>
            <a:ext cx="292608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AMOFHIT Y CADENA DE VALOR</a:t>
            </a:r>
            <a:endParaRPr lang="en-US" sz="1100" dirty="0"/>
          </a:p>
        </p:txBody>
      </p:sp>
      <p:sp>
        <p:nvSpPr>
          <p:cNvPr id="9" name="Text 7"/>
          <p:cNvSpPr txBox="1"/>
          <p:nvPr/>
        </p:nvSpPr>
        <p:spPr>
          <a:xfrm>
            <a:off x="777240" y="3749040"/>
            <a:ext cx="2880360" cy="228600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Crea valor en las clases y en el seguimiento a las familias.</a:t>
            </a:r>
            <a:endParaRPr lang="en-US" sz="1400" dirty="0"/>
          </a:p>
          <a:p>
            <a:pPr indent="0" marL="0">
              <a:spcAft>
                <a:spcPts val="800"/>
              </a:spcAft>
              <a:buNone/>
            </a:pPr>
            <a:r>
              <a:rPr lang="en-US" sz="1400" dirty="0">
                <a:solidFill>
                  <a:schemeClr val="tx1"/>
                </a:solidFill>
              </a:rPr>
              <a:t>Fallan recursos humanos y marketing y ventas.</a:t>
            </a:r>
            <a:endParaRPr lang="en-US" sz="1400" dirty="0"/>
          </a:p>
          <a:p>
            <a:pPr indent="0" marL="0">
              <a:spcAft>
                <a:spcPts val="800"/>
              </a:spcAft>
              <a:buNone/>
            </a:pPr>
            <a:r>
              <a:rPr lang="en-US" sz="1400" dirty="0">
                <a:solidFill>
                  <a:schemeClr val="tx1"/>
                </a:solidFill>
              </a:rPr>
              <a:t>Algunos profesores faltan, llegan tarde o no prenden la cámara.</a:t>
            </a:r>
            <a:endParaRPr lang="en-US" sz="1400" dirty="0"/>
          </a:p>
        </p:txBody>
      </p:sp>
      <p:sp>
        <p:nvSpPr>
          <p:cNvPr id="10" name="foda-0"/>
          <p:cNvSpPr/>
          <p:nvPr/>
        </p:nvSpPr>
        <p:spPr>
          <a:xfrm>
            <a:off x="4023360" y="1600200"/>
            <a:ext cx="3703320" cy="2194560"/>
          </a:xfrm>
          <a:prstGeom prst="roundRect">
            <a:avLst>
              <a:gd name="adj" fmla="val 3333"/>
            </a:avLst>
          </a:prstGeom>
          <a:solidFill>
            <a:schemeClr val="bg1"/>
          </a:solidFill>
          <a:ln w="12700">
            <a:solidFill>
              <a:schemeClr val="bg1"/>
            </a:solidFill>
            <a:prstDash val="solid"/>
          </a:ln>
        </p:spPr>
      </p:sp>
      <p:sp>
        <p:nvSpPr>
          <p:cNvPr id="11" name="Text 9"/>
          <p:cNvSpPr txBox="1"/>
          <p:nvPr/>
        </p:nvSpPr>
        <p:spPr>
          <a:xfrm>
            <a:off x="4251960" y="1764792"/>
            <a:ext cx="3200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FORTALEZAS</a:t>
            </a:r>
            <a:endParaRPr lang="en-US" sz="1100" dirty="0"/>
          </a:p>
        </p:txBody>
      </p:sp>
      <p:sp>
        <p:nvSpPr>
          <p:cNvPr id="12" name="Text 10"/>
          <p:cNvSpPr txBox="1"/>
          <p:nvPr/>
        </p:nvSpPr>
        <p:spPr>
          <a:xfrm>
            <a:off x="4251960" y="214884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F1 Enseñanza 1 a 1</a:t>
            </a:r>
            <a:endParaRPr lang="en-US" sz="1200" dirty="0"/>
          </a:p>
          <a:p>
            <a:pPr indent="0" marL="0">
              <a:spcAft>
                <a:spcPts val="500"/>
              </a:spcAft>
              <a:buNone/>
            </a:pPr>
            <a:r>
              <a:rPr lang="en-US" sz="1200" dirty="0">
                <a:solidFill>
                  <a:schemeClr val="tx1"/>
                </a:solidFill>
              </a:rPr>
              <a:t>F2 Trayectoria y marca</a:t>
            </a:r>
            <a:endParaRPr lang="en-US" sz="1200" dirty="0"/>
          </a:p>
          <a:p>
            <a:pPr indent="0" marL="0">
              <a:spcAft>
                <a:spcPts val="500"/>
              </a:spcAft>
              <a:buNone/>
            </a:pPr>
            <a:r>
              <a:rPr lang="en-US" sz="1200" dirty="0">
                <a:solidFill>
                  <a:schemeClr val="tx1"/>
                </a:solidFill>
              </a:rPr>
              <a:t>F3 Experiencia virtual</a:t>
            </a:r>
            <a:endParaRPr lang="en-US" sz="1200" dirty="0"/>
          </a:p>
        </p:txBody>
      </p:sp>
      <p:sp>
        <p:nvSpPr>
          <p:cNvPr id="13" name="Text 11"/>
          <p:cNvSpPr txBox="1"/>
          <p:nvPr/>
        </p:nvSpPr>
        <p:spPr>
          <a:xfrm>
            <a:off x="6035040" y="214884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F4 Seguimiento a padres</a:t>
            </a:r>
            <a:endParaRPr lang="en-US" sz="1200" dirty="0"/>
          </a:p>
          <a:p>
            <a:pPr indent="0" marL="0">
              <a:spcAft>
                <a:spcPts val="500"/>
              </a:spcAft>
              <a:buNone/>
            </a:pPr>
            <a:r>
              <a:rPr lang="en-US" sz="1200" dirty="0">
                <a:solidFill>
                  <a:schemeClr val="tx1"/>
                </a:solidFill>
              </a:rPr>
              <a:t>F5 Oferta variada</a:t>
            </a:r>
            <a:endParaRPr lang="en-US" sz="1200" dirty="0"/>
          </a:p>
          <a:p>
            <a:pPr indent="0" marL="0">
              <a:spcAft>
                <a:spcPts val="500"/>
              </a:spcAft>
              <a:buNone/>
            </a:pPr>
            <a:r>
              <a:rPr lang="en-US" sz="1200" dirty="0">
                <a:solidFill>
                  <a:schemeClr val="tx1"/>
                </a:solidFill>
              </a:rPr>
              <a:t>F6 Innovación</a:t>
            </a:r>
            <a:endParaRPr lang="en-US" sz="1200" dirty="0"/>
          </a:p>
        </p:txBody>
      </p:sp>
      <p:sp>
        <p:nvSpPr>
          <p:cNvPr id="14" name="foda-1"/>
          <p:cNvSpPr/>
          <p:nvPr/>
        </p:nvSpPr>
        <p:spPr>
          <a:xfrm>
            <a:off x="7863840" y="1600200"/>
            <a:ext cx="3703320" cy="2194560"/>
          </a:xfrm>
          <a:prstGeom prst="roundRect">
            <a:avLst>
              <a:gd name="adj" fmla="val 3333"/>
            </a:avLst>
          </a:prstGeom>
          <a:solidFill>
            <a:schemeClr val="accent3"/>
          </a:solidFill>
          <a:ln w="12700">
            <a:solidFill>
              <a:schemeClr val="accent3"/>
            </a:solidFill>
            <a:prstDash val="solid"/>
          </a:ln>
        </p:spPr>
      </p:sp>
      <p:sp>
        <p:nvSpPr>
          <p:cNvPr id="15" name="Text 13"/>
          <p:cNvSpPr txBox="1"/>
          <p:nvPr/>
        </p:nvSpPr>
        <p:spPr>
          <a:xfrm>
            <a:off x="8092440" y="1764792"/>
            <a:ext cx="3200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DEBILIDADES</a:t>
            </a:r>
            <a:endParaRPr lang="en-US" sz="1100" dirty="0"/>
          </a:p>
        </p:txBody>
      </p:sp>
      <p:sp>
        <p:nvSpPr>
          <p:cNvPr id="16" name="Text 14"/>
          <p:cNvSpPr txBox="1"/>
          <p:nvPr/>
        </p:nvSpPr>
        <p:spPr>
          <a:xfrm>
            <a:off x="8092440" y="214884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D1 Dependencia docente</a:t>
            </a:r>
            <a:endParaRPr lang="en-US" sz="1200" dirty="0"/>
          </a:p>
          <a:p>
            <a:pPr indent="0" marL="0">
              <a:spcAft>
                <a:spcPts val="500"/>
              </a:spcAft>
              <a:buNone/>
            </a:pPr>
            <a:r>
              <a:rPr lang="en-US" sz="1200" dirty="0">
                <a:solidFill>
                  <a:schemeClr val="tx1"/>
                </a:solidFill>
              </a:rPr>
              <a:t>D2 Faltas y tardanzas</a:t>
            </a:r>
            <a:endParaRPr lang="en-US" sz="1200" dirty="0"/>
          </a:p>
          <a:p>
            <a:pPr indent="0" marL="0">
              <a:spcAft>
                <a:spcPts val="500"/>
              </a:spcAft>
              <a:buNone/>
            </a:pPr>
            <a:r>
              <a:rPr lang="en-US" sz="1200" dirty="0">
                <a:solidFill>
                  <a:schemeClr val="tx1"/>
                </a:solidFill>
              </a:rPr>
              <a:t>D3 Malas prácticas</a:t>
            </a:r>
            <a:endParaRPr lang="en-US" sz="1200" dirty="0"/>
          </a:p>
        </p:txBody>
      </p:sp>
      <p:sp>
        <p:nvSpPr>
          <p:cNvPr id="17" name="Text 15"/>
          <p:cNvSpPr txBox="1"/>
          <p:nvPr/>
        </p:nvSpPr>
        <p:spPr>
          <a:xfrm>
            <a:off x="9875520" y="214884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D4 Desorden comercial</a:t>
            </a:r>
            <a:endParaRPr lang="en-US" sz="1200" dirty="0"/>
          </a:p>
          <a:p>
            <a:pPr indent="0" marL="0">
              <a:spcAft>
                <a:spcPts val="500"/>
              </a:spcAft>
              <a:buNone/>
            </a:pPr>
            <a:r>
              <a:rPr lang="en-US" sz="1200" dirty="0">
                <a:solidFill>
                  <a:schemeClr val="tx1"/>
                </a:solidFill>
              </a:rPr>
              <a:t>D5 Pocas inscripciones</a:t>
            </a:r>
            <a:endParaRPr lang="en-US" sz="1200" dirty="0"/>
          </a:p>
          <a:p>
            <a:pPr indent="0" marL="0">
              <a:spcAft>
                <a:spcPts val="500"/>
              </a:spcAft>
              <a:buNone/>
            </a:pPr>
            <a:r>
              <a:rPr lang="en-US" sz="1200" dirty="0">
                <a:solidFill>
                  <a:schemeClr val="tx1"/>
                </a:solidFill>
              </a:rPr>
              <a:t>D6 Datos e IA en proceso</a:t>
            </a:r>
            <a:endParaRPr lang="en-US" sz="1200" dirty="0"/>
          </a:p>
        </p:txBody>
      </p:sp>
      <p:sp>
        <p:nvSpPr>
          <p:cNvPr id="18" name="foda-2"/>
          <p:cNvSpPr/>
          <p:nvPr/>
        </p:nvSpPr>
        <p:spPr>
          <a:xfrm>
            <a:off x="4023360" y="3931920"/>
            <a:ext cx="3703320" cy="2194560"/>
          </a:xfrm>
          <a:prstGeom prst="roundRect">
            <a:avLst>
              <a:gd name="adj" fmla="val 3333"/>
            </a:avLst>
          </a:prstGeom>
          <a:solidFill>
            <a:schemeClr val="accent3"/>
          </a:solidFill>
          <a:ln w="12700">
            <a:solidFill>
              <a:schemeClr val="accent3"/>
            </a:solidFill>
            <a:prstDash val="solid"/>
          </a:ln>
        </p:spPr>
      </p:sp>
      <p:sp>
        <p:nvSpPr>
          <p:cNvPr id="19" name="Text 17"/>
          <p:cNvSpPr txBox="1"/>
          <p:nvPr/>
        </p:nvSpPr>
        <p:spPr>
          <a:xfrm>
            <a:off x="4251960" y="4096512"/>
            <a:ext cx="3200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OPORTUNIDADES</a:t>
            </a:r>
            <a:endParaRPr lang="en-US" sz="1100" dirty="0"/>
          </a:p>
        </p:txBody>
      </p:sp>
      <p:sp>
        <p:nvSpPr>
          <p:cNvPr id="20" name="Text 18"/>
          <p:cNvSpPr txBox="1"/>
          <p:nvPr/>
        </p:nvSpPr>
        <p:spPr>
          <a:xfrm>
            <a:off x="4251960" y="448056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O1 Conectividad 96 %</a:t>
            </a:r>
            <a:endParaRPr lang="en-US" sz="1200" dirty="0"/>
          </a:p>
          <a:p>
            <a:pPr indent="0" marL="0">
              <a:spcAft>
                <a:spcPts val="500"/>
              </a:spcAft>
              <a:buNone/>
            </a:pPr>
            <a:r>
              <a:rPr lang="en-US" sz="1200" dirty="0">
                <a:solidFill>
                  <a:schemeClr val="tx1"/>
                </a:solidFill>
              </a:rPr>
              <a:t>O2 Bajo logro en matemática</a:t>
            </a:r>
            <a:endParaRPr lang="en-US" sz="1200" dirty="0"/>
          </a:p>
          <a:p>
            <a:pPr indent="0" marL="0">
              <a:spcAft>
                <a:spcPts val="500"/>
              </a:spcAft>
              <a:buNone/>
            </a:pPr>
            <a:r>
              <a:rPr lang="en-US" sz="1200" dirty="0">
                <a:solidFill>
                  <a:schemeClr val="tx1"/>
                </a:solidFill>
              </a:rPr>
              <a:t>O3 Mejora económica</a:t>
            </a:r>
            <a:endParaRPr lang="en-US" sz="1200" dirty="0"/>
          </a:p>
        </p:txBody>
      </p:sp>
      <p:sp>
        <p:nvSpPr>
          <p:cNvPr id="21" name="Text 19"/>
          <p:cNvSpPr txBox="1"/>
          <p:nvPr/>
        </p:nvSpPr>
        <p:spPr>
          <a:xfrm>
            <a:off x="6035040" y="448056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O4 Demanda de empresas</a:t>
            </a:r>
            <a:endParaRPr lang="en-US" sz="1200" dirty="0"/>
          </a:p>
          <a:p>
            <a:pPr indent="0" marL="0">
              <a:spcAft>
                <a:spcPts val="500"/>
              </a:spcAft>
              <a:buNone/>
            </a:pPr>
            <a:r>
              <a:rPr lang="en-US" sz="1200" dirty="0">
                <a:solidFill>
                  <a:schemeClr val="tx1"/>
                </a:solidFill>
              </a:rPr>
              <a:t>O5 Tecnología e IA</a:t>
            </a:r>
            <a:endParaRPr lang="en-US" sz="1200" dirty="0"/>
          </a:p>
        </p:txBody>
      </p:sp>
      <p:sp>
        <p:nvSpPr>
          <p:cNvPr id="22" name="foda-3"/>
          <p:cNvSpPr/>
          <p:nvPr/>
        </p:nvSpPr>
        <p:spPr>
          <a:xfrm>
            <a:off x="7863840" y="3931920"/>
            <a:ext cx="3703320" cy="2194560"/>
          </a:xfrm>
          <a:prstGeom prst="roundRect">
            <a:avLst>
              <a:gd name="adj" fmla="val 3333"/>
            </a:avLst>
          </a:prstGeom>
          <a:solidFill>
            <a:schemeClr val="bg1"/>
          </a:solidFill>
          <a:ln w="12700">
            <a:solidFill>
              <a:schemeClr val="bg1"/>
            </a:solidFill>
            <a:prstDash val="solid"/>
          </a:ln>
        </p:spPr>
      </p:sp>
      <p:sp>
        <p:nvSpPr>
          <p:cNvPr id="23" name="Text 21"/>
          <p:cNvSpPr txBox="1"/>
          <p:nvPr/>
        </p:nvSpPr>
        <p:spPr>
          <a:xfrm>
            <a:off x="8092440" y="4096512"/>
            <a:ext cx="3200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AMENAZAS</a:t>
            </a:r>
            <a:endParaRPr lang="en-US" sz="1100" dirty="0"/>
          </a:p>
        </p:txBody>
      </p:sp>
      <p:sp>
        <p:nvSpPr>
          <p:cNvPr id="24" name="Text 22"/>
          <p:cNvSpPr txBox="1"/>
          <p:nvPr/>
        </p:nvSpPr>
        <p:spPr>
          <a:xfrm>
            <a:off x="8092440" y="448056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A1 Alza de precios</a:t>
            </a:r>
            <a:endParaRPr lang="en-US" sz="1200" dirty="0"/>
          </a:p>
          <a:p>
            <a:pPr indent="0" marL="0">
              <a:spcAft>
                <a:spcPts val="500"/>
              </a:spcAft>
              <a:buNone/>
            </a:pPr>
            <a:r>
              <a:rPr lang="en-US" sz="1200" dirty="0">
                <a:solidFill>
                  <a:schemeClr val="tx1"/>
                </a:solidFill>
              </a:rPr>
              <a:t>A2 Clima</a:t>
            </a:r>
            <a:endParaRPr lang="en-US" sz="1200" dirty="0"/>
          </a:p>
          <a:p>
            <a:pPr indent="0" marL="0">
              <a:spcAft>
                <a:spcPts val="500"/>
              </a:spcAft>
              <a:buNone/>
            </a:pPr>
            <a:r>
              <a:rPr lang="en-US" sz="1200" dirty="0">
                <a:solidFill>
                  <a:schemeClr val="tx1"/>
                </a:solidFill>
              </a:rPr>
              <a:t>A3 Cambios de gobierno</a:t>
            </a:r>
            <a:endParaRPr lang="en-US" sz="1200" dirty="0"/>
          </a:p>
        </p:txBody>
      </p:sp>
      <p:sp>
        <p:nvSpPr>
          <p:cNvPr id="25" name="Text 23"/>
          <p:cNvSpPr txBox="1"/>
          <p:nvPr/>
        </p:nvSpPr>
        <p:spPr>
          <a:xfrm>
            <a:off x="9875520" y="4480560"/>
            <a:ext cx="1691640" cy="1508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A4 Datos de menores</a:t>
            </a:r>
            <a:endParaRPr lang="en-US" sz="1200" dirty="0"/>
          </a:p>
          <a:p>
            <a:pPr indent="0" marL="0">
              <a:spcAft>
                <a:spcPts val="500"/>
              </a:spcAft>
              <a:buNone/>
            </a:pPr>
            <a:r>
              <a:rPr lang="en-US" sz="1200" dirty="0">
                <a:solidFill>
                  <a:schemeClr val="tx1"/>
                </a:solidFill>
              </a:rPr>
              <a:t>A5 Bajo costo e IA gratis</a:t>
            </a:r>
            <a:endParaRPr lang="en-US" sz="1200" dirty="0"/>
          </a:p>
          <a:p>
            <a:pPr indent="0" marL="0">
              <a:spcAft>
                <a:spcPts val="500"/>
              </a:spcAft>
              <a:buNone/>
            </a:pPr>
            <a:r>
              <a:rPr lang="en-US" sz="1200" dirty="0">
                <a:solidFill>
                  <a:schemeClr val="tx1"/>
                </a:solidFill>
              </a:rPr>
              <a:t>A6 Disputa por docentes</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04 / OBJETIVO Y FODA CRUZADO</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Hacia 500 alumnos: el FODA cruzado dio diez estrategias</a:t>
            </a:r>
            <a:endParaRPr lang="en-US" sz="3000" dirty="0"/>
          </a:p>
        </p:txBody>
      </p:sp>
      <p:sp>
        <p:nvSpPr>
          <p:cNvPr id="4" name="objetivo"/>
          <p:cNvSpPr/>
          <p:nvPr/>
        </p:nvSpPr>
        <p:spPr>
          <a:xfrm>
            <a:off x="548640" y="1508760"/>
            <a:ext cx="11064240" cy="685800"/>
          </a:xfrm>
          <a:prstGeom prst="roundRect">
            <a:avLst>
              <a:gd name="adj" fmla="val 10667"/>
            </a:avLst>
          </a:prstGeom>
          <a:solidFill>
            <a:schemeClr val="tx2"/>
          </a:solidFill>
          <a:ln w="12700">
            <a:solidFill>
              <a:schemeClr val="tx2"/>
            </a:solidFill>
            <a:prstDash val="solid"/>
          </a:ln>
        </p:spPr>
      </p:sp>
      <p:sp>
        <p:nvSpPr>
          <p:cNvPr id="5" name="Text 3"/>
          <p:cNvSpPr txBox="1"/>
          <p:nvPr/>
        </p:nvSpPr>
        <p:spPr>
          <a:xfrm>
            <a:off x="822960" y="1508760"/>
            <a:ext cx="10607040" cy="685800"/>
          </a:xfrm>
          <a:prstGeom prst="rect">
            <a:avLst/>
          </a:prstGeom>
          <a:noFill/>
          <a:ln/>
        </p:spPr>
        <p:txBody>
          <a:bodyPr wrap="square" lIns="0" tIns="0" rIns="0" bIns="0" rtlCol="0" anchor="ctr"/>
          <a:lstStyle/>
          <a:p>
            <a:pPr indent="0" marL="0">
              <a:buNone/>
            </a:pPr>
            <a:r>
              <a:rPr lang="en-US" sz="1200" b="1" spc="200" kern="0" dirty="0">
                <a:solidFill>
                  <a:schemeClr val="accent1"/>
                </a:solidFill>
              </a:rPr>
              <a:t>OBJETIVO   </a:t>
            </a:r>
            <a:pPr indent="0" marL="0">
              <a:buNone/>
            </a:pPr>
            <a:r>
              <a:rPr lang="en-US" sz="1600" dirty="0">
                <a:solidFill>
                  <a:schemeClr val="bg1"/>
                </a:solidFill>
              </a:rPr>
              <a:t>Volver a unos 500 alumnos en octubre y noviembre de 2028, mejorando el cumplimiento de los profesores.</a:t>
            </a:r>
            <a:endParaRPr lang="en-US" sz="1600" dirty="0"/>
          </a:p>
        </p:txBody>
      </p:sp>
      <p:sp>
        <p:nvSpPr>
          <p:cNvPr id="6" name="cuadrante-0"/>
          <p:cNvSpPr/>
          <p:nvPr/>
        </p:nvSpPr>
        <p:spPr>
          <a:xfrm>
            <a:off x="548640" y="2377440"/>
            <a:ext cx="5440680" cy="1783080"/>
          </a:xfrm>
          <a:prstGeom prst="roundRect">
            <a:avLst>
              <a:gd name="adj" fmla="val 4103"/>
            </a:avLst>
          </a:prstGeom>
          <a:solidFill>
            <a:schemeClr val="accent3"/>
          </a:solidFill>
          <a:ln w="12700">
            <a:solidFill>
              <a:schemeClr val="accent3"/>
            </a:solidFill>
            <a:prstDash val="solid"/>
          </a:ln>
        </p:spPr>
      </p:sp>
      <p:sp>
        <p:nvSpPr>
          <p:cNvPr id="7" name="Text 5"/>
          <p:cNvSpPr txBox="1"/>
          <p:nvPr/>
        </p:nvSpPr>
        <p:spPr>
          <a:xfrm>
            <a:off x="822960" y="2532888"/>
            <a:ext cx="4937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FO · EXPLOTAR</a:t>
            </a:r>
            <a:endParaRPr lang="en-US" sz="1200" dirty="0"/>
          </a:p>
        </p:txBody>
      </p:sp>
      <p:sp>
        <p:nvSpPr>
          <p:cNvPr id="8" name="Text 6"/>
          <p:cNvSpPr txBox="1"/>
          <p:nvPr/>
        </p:nvSpPr>
        <p:spPr>
          <a:xfrm>
            <a:off x="822960" y="2880360"/>
            <a:ext cx="4983480"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E1  </a:t>
            </a:r>
            <a:pPr indent="0" marL="0">
              <a:spcAft>
                <a:spcPts val="400"/>
              </a:spcAft>
              <a:buNone/>
            </a:pPr>
            <a:r>
              <a:rPr lang="en-US" sz="1500" dirty="0">
                <a:solidFill>
                  <a:schemeClr val="tx1"/>
                </a:solidFill>
              </a:rPr>
              <a:t>Nivelación por grado escolar</a:t>
            </a:r>
            <a:pPr indent="0" marL="0">
              <a:spcAft>
                <a:spcPts val="400"/>
              </a:spcAft>
              <a:buNone/>
            </a:pPr>
            <a:r>
              <a:rPr lang="en-US" sz="1100" dirty="0">
                <a:solidFill>
                  <a:schemeClr val="accent4"/>
                </a:solidFill>
              </a:rPr>
              <a:t>   F1, F4, O2</a:t>
            </a:r>
            <a:endParaRPr lang="en-US" sz="1500" dirty="0"/>
          </a:p>
          <a:p>
            <a:pPr indent="0" marL="0">
              <a:spcAft>
                <a:spcPts val="400"/>
              </a:spcAft>
              <a:buNone/>
            </a:pPr>
            <a:r>
              <a:rPr lang="en-US" sz="1500" b="1" dirty="0">
                <a:solidFill>
                  <a:schemeClr val="tx1"/>
                </a:solidFill>
              </a:rPr>
              <a:t>E2  </a:t>
            </a:r>
            <a:pPr indent="0" marL="0">
              <a:spcAft>
                <a:spcPts val="400"/>
              </a:spcAft>
              <a:buNone/>
            </a:pPr>
            <a:r>
              <a:rPr lang="en-US" sz="1500" dirty="0">
                <a:solidFill>
                  <a:schemeClr val="tx1"/>
                </a:solidFill>
              </a:rPr>
              <a:t>Campañas y diagnóstico gratuito con IA</a:t>
            </a:r>
            <a:pPr indent="0" marL="0">
              <a:spcAft>
                <a:spcPts val="400"/>
              </a:spcAft>
              <a:buNone/>
            </a:pPr>
            <a:r>
              <a:rPr lang="en-US" sz="1100" dirty="0">
                <a:solidFill>
                  <a:schemeClr val="accent4"/>
                </a:solidFill>
              </a:rPr>
              <a:t>   F3, F6, O1, O5</a:t>
            </a:r>
            <a:endParaRPr lang="en-US" sz="1500" dirty="0"/>
          </a:p>
          <a:p>
            <a:pPr indent="0" marL="0">
              <a:spcAft>
                <a:spcPts val="400"/>
              </a:spcAft>
              <a:buNone/>
            </a:pPr>
            <a:r>
              <a:rPr lang="en-US" sz="1500" b="1" dirty="0">
                <a:solidFill>
                  <a:schemeClr val="tx1"/>
                </a:solidFill>
              </a:rPr>
              <a:t>E3  </a:t>
            </a:r>
            <a:pPr indent="0" marL="0">
              <a:spcAft>
                <a:spcPts val="400"/>
              </a:spcAft>
              <a:buNone/>
            </a:pPr>
            <a:r>
              <a:rPr lang="en-US" sz="1500" dirty="0">
                <a:solidFill>
                  <a:schemeClr val="tx1"/>
                </a:solidFill>
              </a:rPr>
              <a:t>Familias de otras ciudades</a:t>
            </a:r>
            <a:pPr indent="0" marL="0">
              <a:spcAft>
                <a:spcPts val="400"/>
              </a:spcAft>
              <a:buNone/>
            </a:pPr>
            <a:r>
              <a:rPr lang="en-US" sz="1100" dirty="0">
                <a:solidFill>
                  <a:schemeClr val="accent4"/>
                </a:solidFill>
              </a:rPr>
              <a:t>   F2, F3, O1, O2</a:t>
            </a:r>
            <a:endParaRPr lang="en-US" sz="1500" dirty="0"/>
          </a:p>
        </p:txBody>
      </p:sp>
      <p:sp>
        <p:nvSpPr>
          <p:cNvPr id="9" name="cuadrante-1"/>
          <p:cNvSpPr/>
          <p:nvPr/>
        </p:nvSpPr>
        <p:spPr>
          <a:xfrm>
            <a:off x="6172200" y="2377440"/>
            <a:ext cx="5440680" cy="1783080"/>
          </a:xfrm>
          <a:prstGeom prst="roundRect">
            <a:avLst>
              <a:gd name="adj" fmla="val 4103"/>
            </a:avLst>
          </a:prstGeom>
          <a:solidFill>
            <a:schemeClr val="bg1"/>
          </a:solidFill>
          <a:ln w="12700">
            <a:solidFill>
              <a:schemeClr val="bg1"/>
            </a:solidFill>
            <a:prstDash val="solid"/>
          </a:ln>
        </p:spPr>
      </p:sp>
      <p:sp>
        <p:nvSpPr>
          <p:cNvPr id="10" name="Text 8"/>
          <p:cNvSpPr txBox="1"/>
          <p:nvPr/>
        </p:nvSpPr>
        <p:spPr>
          <a:xfrm>
            <a:off x="6446520" y="2532888"/>
            <a:ext cx="4937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DO · BUSCAR</a:t>
            </a:r>
            <a:endParaRPr lang="en-US" sz="1200" dirty="0"/>
          </a:p>
        </p:txBody>
      </p:sp>
      <p:sp>
        <p:nvSpPr>
          <p:cNvPr id="11" name="Text 9"/>
          <p:cNvSpPr txBox="1"/>
          <p:nvPr/>
        </p:nvSpPr>
        <p:spPr>
          <a:xfrm>
            <a:off x="6446520" y="2880360"/>
            <a:ext cx="4983480"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E4  </a:t>
            </a:r>
            <a:pPr indent="0" marL="0">
              <a:spcAft>
                <a:spcPts val="400"/>
              </a:spcAft>
              <a:buNone/>
            </a:pPr>
            <a:r>
              <a:rPr lang="en-US" sz="1500" dirty="0">
                <a:solidFill>
                  <a:schemeClr val="tx1"/>
                </a:solidFill>
              </a:rPr>
              <a:t>Orden comercial en el CRM</a:t>
            </a:r>
            <a:pPr indent="0" marL="0">
              <a:spcAft>
                <a:spcPts val="400"/>
              </a:spcAft>
              <a:buNone/>
            </a:pPr>
            <a:r>
              <a:rPr lang="en-US" sz="1100" dirty="0">
                <a:solidFill>
                  <a:schemeClr val="accent4"/>
                </a:solidFill>
              </a:rPr>
              <a:t>   D4, D5, O5</a:t>
            </a:r>
            <a:endParaRPr lang="en-US" sz="1500" dirty="0"/>
          </a:p>
          <a:p>
            <a:pPr indent="0" marL="0">
              <a:spcAft>
                <a:spcPts val="400"/>
              </a:spcAft>
              <a:buNone/>
            </a:pPr>
            <a:r>
              <a:rPr lang="en-US" sz="1500" b="1" dirty="0">
                <a:solidFill>
                  <a:schemeClr val="tx1"/>
                </a:solidFill>
              </a:rPr>
              <a:t>E5  </a:t>
            </a:r>
            <a:pPr indent="0" marL="0">
              <a:spcAft>
                <a:spcPts val="400"/>
              </a:spcAft>
              <a:buNone/>
            </a:pPr>
            <a:r>
              <a:rPr lang="en-US" sz="1500" dirty="0">
                <a:solidFill>
                  <a:schemeClr val="tx1"/>
                </a:solidFill>
              </a:rPr>
              <a:t>Medir y premiar el cumplimiento docente</a:t>
            </a:r>
            <a:pPr indent="0" marL="0">
              <a:spcAft>
                <a:spcPts val="400"/>
              </a:spcAft>
              <a:buNone/>
            </a:pPr>
            <a:r>
              <a:rPr lang="en-US" sz="1100" dirty="0">
                <a:solidFill>
                  <a:schemeClr val="accent4"/>
                </a:solidFill>
              </a:rPr>
              <a:t>   D2, D3, D6, O5</a:t>
            </a:r>
            <a:endParaRPr lang="en-US" sz="1500" dirty="0"/>
          </a:p>
          <a:p>
            <a:pPr indent="0" marL="0">
              <a:spcAft>
                <a:spcPts val="400"/>
              </a:spcAft>
              <a:buNone/>
            </a:pPr>
            <a:r>
              <a:rPr lang="en-US" sz="1500" b="1" dirty="0">
                <a:solidFill>
                  <a:schemeClr val="tx1"/>
                </a:solidFill>
              </a:rPr>
              <a:t>E6  </a:t>
            </a:r>
            <a:pPr indent="0" marL="0">
              <a:spcAft>
                <a:spcPts val="400"/>
              </a:spcAft>
              <a:buNone/>
            </a:pPr>
            <a:r>
              <a:rPr lang="en-US" sz="1500" dirty="0">
                <a:solidFill>
                  <a:schemeClr val="tx1"/>
                </a:solidFill>
              </a:rPr>
              <a:t>Alianzas con colegios y empresas</a:t>
            </a:r>
            <a:pPr indent="0" marL="0">
              <a:spcAft>
                <a:spcPts val="400"/>
              </a:spcAft>
              <a:buNone/>
            </a:pPr>
            <a:r>
              <a:rPr lang="en-US" sz="1100" dirty="0">
                <a:solidFill>
                  <a:schemeClr val="accent4"/>
                </a:solidFill>
              </a:rPr>
              <a:t>   D5, O2, O4</a:t>
            </a:r>
            <a:endParaRPr lang="en-US" sz="1500" dirty="0"/>
          </a:p>
        </p:txBody>
      </p:sp>
      <p:sp>
        <p:nvSpPr>
          <p:cNvPr id="12" name="cuadrante-2"/>
          <p:cNvSpPr/>
          <p:nvPr/>
        </p:nvSpPr>
        <p:spPr>
          <a:xfrm>
            <a:off x="548640" y="4297680"/>
            <a:ext cx="5440680" cy="1783080"/>
          </a:xfrm>
          <a:prstGeom prst="roundRect">
            <a:avLst>
              <a:gd name="adj" fmla="val 4103"/>
            </a:avLst>
          </a:prstGeom>
          <a:solidFill>
            <a:schemeClr val="bg1"/>
          </a:solidFill>
          <a:ln w="12700">
            <a:solidFill>
              <a:schemeClr val="bg1"/>
            </a:solidFill>
            <a:prstDash val="solid"/>
          </a:ln>
        </p:spPr>
      </p:sp>
      <p:sp>
        <p:nvSpPr>
          <p:cNvPr id="13" name="Text 11"/>
          <p:cNvSpPr txBox="1"/>
          <p:nvPr/>
        </p:nvSpPr>
        <p:spPr>
          <a:xfrm>
            <a:off x="822960" y="4453128"/>
            <a:ext cx="4937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FA · CONFRONTAR</a:t>
            </a:r>
            <a:endParaRPr lang="en-US" sz="1200" dirty="0"/>
          </a:p>
        </p:txBody>
      </p:sp>
      <p:sp>
        <p:nvSpPr>
          <p:cNvPr id="14" name="Text 12"/>
          <p:cNvSpPr txBox="1"/>
          <p:nvPr/>
        </p:nvSpPr>
        <p:spPr>
          <a:xfrm>
            <a:off x="822960" y="4800600"/>
            <a:ext cx="4983480"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E7  </a:t>
            </a:r>
            <a:pPr indent="0" marL="0">
              <a:spcAft>
                <a:spcPts val="400"/>
              </a:spcAft>
              <a:buNone/>
            </a:pPr>
            <a:r>
              <a:rPr lang="en-US" sz="1500" dirty="0">
                <a:solidFill>
                  <a:schemeClr val="tx1"/>
                </a:solidFill>
              </a:rPr>
              <a:t>Destacar profesor fijo, asesor y reporte</a:t>
            </a:r>
            <a:pPr indent="0" marL="0">
              <a:spcAft>
                <a:spcPts val="400"/>
              </a:spcAft>
              <a:buNone/>
            </a:pPr>
            <a:r>
              <a:rPr lang="en-US" sz="1100" dirty="0">
                <a:solidFill>
                  <a:schemeClr val="accent4"/>
                </a:solidFill>
              </a:rPr>
              <a:t>   F1, F4, A5</a:t>
            </a:r>
            <a:endParaRPr lang="en-US" sz="1500" dirty="0"/>
          </a:p>
          <a:p>
            <a:pPr indent="0" marL="0">
              <a:spcAft>
                <a:spcPts val="400"/>
              </a:spcAft>
              <a:buNone/>
            </a:pPr>
            <a:r>
              <a:rPr lang="en-US" sz="1500" b="1" dirty="0">
                <a:solidFill>
                  <a:schemeClr val="tx1"/>
                </a:solidFill>
              </a:rPr>
              <a:t>E8  </a:t>
            </a:r>
            <a:pPr indent="0" marL="0">
              <a:spcAft>
                <a:spcPts val="400"/>
              </a:spcAft>
              <a:buNone/>
            </a:pPr>
            <a:r>
              <a:rPr lang="en-US" sz="1500" dirty="0">
                <a:solidFill>
                  <a:schemeClr val="tx1"/>
                </a:solidFill>
              </a:rPr>
              <a:t>Línea de carrera docente</a:t>
            </a:r>
            <a:pPr indent="0" marL="0">
              <a:spcAft>
                <a:spcPts val="400"/>
              </a:spcAft>
              <a:buNone/>
            </a:pPr>
            <a:r>
              <a:rPr lang="en-US" sz="1100" dirty="0">
                <a:solidFill>
                  <a:schemeClr val="accent4"/>
                </a:solidFill>
              </a:rPr>
              <a:t>   F2, F6, A6</a:t>
            </a:r>
            <a:endParaRPr lang="en-US" sz="1500" dirty="0"/>
          </a:p>
        </p:txBody>
      </p:sp>
      <p:sp>
        <p:nvSpPr>
          <p:cNvPr id="15" name="cuadrante-3"/>
          <p:cNvSpPr/>
          <p:nvPr/>
        </p:nvSpPr>
        <p:spPr>
          <a:xfrm>
            <a:off x="6172200" y="4297680"/>
            <a:ext cx="5440680" cy="1783080"/>
          </a:xfrm>
          <a:prstGeom prst="roundRect">
            <a:avLst>
              <a:gd name="adj" fmla="val 4103"/>
            </a:avLst>
          </a:prstGeom>
          <a:solidFill>
            <a:schemeClr val="accent3"/>
          </a:solidFill>
          <a:ln w="12700">
            <a:solidFill>
              <a:schemeClr val="accent3"/>
            </a:solidFill>
            <a:prstDash val="solid"/>
          </a:ln>
        </p:spPr>
      </p:sp>
      <p:sp>
        <p:nvSpPr>
          <p:cNvPr id="16" name="Text 14"/>
          <p:cNvSpPr txBox="1"/>
          <p:nvPr/>
        </p:nvSpPr>
        <p:spPr>
          <a:xfrm>
            <a:off x="6446520" y="4453128"/>
            <a:ext cx="4937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 · EVITAR</a:t>
            </a:r>
            <a:endParaRPr lang="en-US" sz="1200" dirty="0"/>
          </a:p>
        </p:txBody>
      </p:sp>
      <p:sp>
        <p:nvSpPr>
          <p:cNvPr id="17" name="Text 15"/>
          <p:cNvSpPr txBox="1"/>
          <p:nvPr/>
        </p:nvSpPr>
        <p:spPr>
          <a:xfrm>
            <a:off x="6446520" y="4800600"/>
            <a:ext cx="4983480" cy="11887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E9  </a:t>
            </a:r>
            <a:pPr indent="0" marL="0">
              <a:spcAft>
                <a:spcPts val="400"/>
              </a:spcAft>
              <a:buNone/>
            </a:pPr>
            <a:r>
              <a:rPr lang="en-US" sz="1500" dirty="0">
                <a:solidFill>
                  <a:schemeClr val="tx1"/>
                </a:solidFill>
              </a:rPr>
              <a:t>Profesores suplentes</a:t>
            </a:r>
            <a:pPr indent="0" marL="0">
              <a:spcAft>
                <a:spcPts val="400"/>
              </a:spcAft>
              <a:buNone/>
            </a:pPr>
            <a:r>
              <a:rPr lang="en-US" sz="1100" dirty="0">
                <a:solidFill>
                  <a:schemeClr val="accent4"/>
                </a:solidFill>
              </a:rPr>
              <a:t>   D1, D2, A6</a:t>
            </a:r>
            <a:endParaRPr lang="en-US" sz="1500" dirty="0"/>
          </a:p>
          <a:p>
            <a:pPr indent="0" marL="0">
              <a:spcAft>
                <a:spcPts val="400"/>
              </a:spcAft>
              <a:buNone/>
            </a:pPr>
            <a:r>
              <a:rPr lang="en-US" sz="1500" b="1" dirty="0">
                <a:solidFill>
                  <a:schemeClr val="tx1"/>
                </a:solidFill>
              </a:rPr>
              <a:t>E10  </a:t>
            </a:r>
            <a:pPr indent="0" marL="0">
              <a:spcAft>
                <a:spcPts val="400"/>
              </a:spcAft>
              <a:buNone/>
            </a:pPr>
            <a:r>
              <a:rPr lang="en-US" sz="1500" dirty="0">
                <a:solidFill>
                  <a:schemeClr val="tx1"/>
                </a:solidFill>
              </a:rPr>
              <a:t>Grupos de tres o cuatro alumnos</a:t>
            </a:r>
            <a:pPr indent="0" marL="0">
              <a:spcAft>
                <a:spcPts val="400"/>
              </a:spcAft>
              <a:buNone/>
            </a:pPr>
            <a:r>
              <a:rPr lang="en-US" sz="1100" dirty="0">
                <a:solidFill>
                  <a:schemeClr val="accent4"/>
                </a:solidFill>
              </a:rPr>
              <a:t>   D5, A1, A5</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05 / MIE Y PEYEA</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bg1"/>
                </a:solidFill>
              </a:rPr>
              <a:t>MIE y PEYEA: crecer en lo que ya hace bien</a:t>
            </a:r>
            <a:endParaRPr lang="en-US" sz="3000" dirty="0"/>
          </a:p>
        </p:txBody>
      </p:sp>
      <p:sp>
        <p:nvSpPr>
          <p:cNvPr id="4" name="Text 2"/>
          <p:cNvSpPr txBox="1"/>
          <p:nvPr/>
        </p:nvSpPr>
        <p:spPr>
          <a:xfrm>
            <a:off x="548640" y="1554480"/>
            <a:ext cx="512064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MIE · CELDA V, RETENER Y MANTENER</a:t>
            </a:r>
            <a:endParaRPr lang="en-US" sz="1100" dirty="0"/>
          </a:p>
        </p:txBody>
      </p:sp>
      <p:sp>
        <p:nvSpPr>
          <p:cNvPr id="5" name="celda-I"/>
          <p:cNvSpPr/>
          <p:nvPr/>
        </p:nvSpPr>
        <p:spPr>
          <a:xfrm>
            <a:off x="1143000" y="2194560"/>
            <a:ext cx="1097280" cy="822960"/>
          </a:xfrm>
          <a:prstGeom prst="rect">
            <a:avLst/>
          </a:prstGeom>
          <a:solidFill>
            <a:schemeClr val="accent2"/>
          </a:solidFill>
          <a:ln w="12700">
            <a:solidFill>
              <a:schemeClr val="accent2"/>
            </a:solidFill>
            <a:prstDash val="solid"/>
          </a:ln>
        </p:spPr>
      </p:sp>
      <p:sp>
        <p:nvSpPr>
          <p:cNvPr id="6" name="Text 4"/>
          <p:cNvSpPr txBox="1"/>
          <p:nvPr/>
        </p:nvSpPr>
        <p:spPr>
          <a:xfrm>
            <a:off x="1143000" y="2194560"/>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I</a:t>
            </a:r>
            <a:endParaRPr lang="en-US" sz="1500" dirty="0"/>
          </a:p>
        </p:txBody>
      </p:sp>
      <p:sp>
        <p:nvSpPr>
          <p:cNvPr id="7" name="celda-II"/>
          <p:cNvSpPr/>
          <p:nvPr/>
        </p:nvSpPr>
        <p:spPr>
          <a:xfrm>
            <a:off x="2295144" y="2194560"/>
            <a:ext cx="1097280" cy="822960"/>
          </a:xfrm>
          <a:prstGeom prst="rect">
            <a:avLst/>
          </a:prstGeom>
          <a:solidFill>
            <a:schemeClr val="accent2"/>
          </a:solidFill>
          <a:ln w="12700">
            <a:solidFill>
              <a:schemeClr val="accent2"/>
            </a:solidFill>
            <a:prstDash val="solid"/>
          </a:ln>
        </p:spPr>
      </p:sp>
      <p:sp>
        <p:nvSpPr>
          <p:cNvPr id="8" name="Text 6"/>
          <p:cNvSpPr txBox="1"/>
          <p:nvPr/>
        </p:nvSpPr>
        <p:spPr>
          <a:xfrm>
            <a:off x="2295144" y="2194560"/>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II</a:t>
            </a:r>
            <a:endParaRPr lang="en-US" sz="1500" dirty="0"/>
          </a:p>
        </p:txBody>
      </p:sp>
      <p:sp>
        <p:nvSpPr>
          <p:cNvPr id="9" name="celda-III"/>
          <p:cNvSpPr/>
          <p:nvPr/>
        </p:nvSpPr>
        <p:spPr>
          <a:xfrm>
            <a:off x="3447288" y="2194560"/>
            <a:ext cx="1097280" cy="822960"/>
          </a:xfrm>
          <a:prstGeom prst="rect">
            <a:avLst/>
          </a:prstGeom>
          <a:solidFill>
            <a:schemeClr val="accent4"/>
          </a:solidFill>
          <a:ln w="12700">
            <a:solidFill>
              <a:schemeClr val="accent4"/>
            </a:solidFill>
            <a:prstDash val="solid"/>
          </a:ln>
        </p:spPr>
      </p:sp>
      <p:sp>
        <p:nvSpPr>
          <p:cNvPr id="10" name="Text 8"/>
          <p:cNvSpPr txBox="1"/>
          <p:nvPr/>
        </p:nvSpPr>
        <p:spPr>
          <a:xfrm>
            <a:off x="3447288" y="2194560"/>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III</a:t>
            </a:r>
            <a:endParaRPr lang="en-US" sz="1500" dirty="0"/>
          </a:p>
        </p:txBody>
      </p:sp>
      <p:sp>
        <p:nvSpPr>
          <p:cNvPr id="11" name="celda-IV"/>
          <p:cNvSpPr/>
          <p:nvPr/>
        </p:nvSpPr>
        <p:spPr>
          <a:xfrm>
            <a:off x="1143000" y="3072384"/>
            <a:ext cx="1097280" cy="822960"/>
          </a:xfrm>
          <a:prstGeom prst="rect">
            <a:avLst/>
          </a:prstGeom>
          <a:solidFill>
            <a:schemeClr val="accent2"/>
          </a:solidFill>
          <a:ln w="12700">
            <a:solidFill>
              <a:schemeClr val="accent2"/>
            </a:solidFill>
            <a:prstDash val="solid"/>
          </a:ln>
        </p:spPr>
      </p:sp>
      <p:sp>
        <p:nvSpPr>
          <p:cNvPr id="12" name="Text 10"/>
          <p:cNvSpPr txBox="1"/>
          <p:nvPr/>
        </p:nvSpPr>
        <p:spPr>
          <a:xfrm>
            <a:off x="1143000" y="3072384"/>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IV</a:t>
            </a:r>
            <a:endParaRPr lang="en-US" sz="1500" dirty="0"/>
          </a:p>
        </p:txBody>
      </p:sp>
      <p:sp>
        <p:nvSpPr>
          <p:cNvPr id="13" name="celda-V"/>
          <p:cNvSpPr/>
          <p:nvPr/>
        </p:nvSpPr>
        <p:spPr>
          <a:xfrm>
            <a:off x="2295144" y="3072384"/>
            <a:ext cx="1097280" cy="822960"/>
          </a:xfrm>
          <a:prstGeom prst="rect">
            <a:avLst/>
          </a:prstGeom>
          <a:solidFill>
            <a:schemeClr val="accent1"/>
          </a:solidFill>
          <a:ln w="12700">
            <a:solidFill>
              <a:schemeClr val="accent1"/>
            </a:solidFill>
            <a:prstDash val="solid"/>
          </a:ln>
        </p:spPr>
      </p:sp>
      <p:sp>
        <p:nvSpPr>
          <p:cNvPr id="14" name="Text 12"/>
          <p:cNvSpPr txBox="1"/>
          <p:nvPr/>
        </p:nvSpPr>
        <p:spPr>
          <a:xfrm>
            <a:off x="2295144" y="3072384"/>
            <a:ext cx="1097280" cy="822960"/>
          </a:xfrm>
          <a:prstGeom prst="rect">
            <a:avLst/>
          </a:prstGeom>
          <a:noFill/>
          <a:ln/>
        </p:spPr>
        <p:txBody>
          <a:bodyPr wrap="square" lIns="0" tIns="0" rIns="0" bIns="0" rtlCol="0" anchor="ctr"/>
          <a:lstStyle/>
          <a:p>
            <a:pPr algn="ctr" indent="0" marL="0">
              <a:buNone/>
            </a:pPr>
            <a:r>
              <a:rPr lang="en-US" sz="1800" b="1" dirty="0">
                <a:solidFill>
                  <a:schemeClr val="tx2"/>
                </a:solidFill>
              </a:rPr>
              <a:t>V</a:t>
            </a:r>
            <a:endParaRPr lang="en-US" sz="1500" dirty="0"/>
          </a:p>
          <a:p>
            <a:pPr algn="ctr" indent="0" marL="0">
              <a:buNone/>
            </a:pPr>
            <a:r>
              <a:rPr lang="en-US" sz="1100" b="1" dirty="0">
                <a:solidFill>
                  <a:schemeClr val="tx2"/>
                </a:solidFill>
              </a:rPr>
              <a:t>MatLab</a:t>
            </a:r>
            <a:endParaRPr lang="en-US" sz="1500" dirty="0"/>
          </a:p>
        </p:txBody>
      </p:sp>
      <p:sp>
        <p:nvSpPr>
          <p:cNvPr id="15" name="celda-VI"/>
          <p:cNvSpPr/>
          <p:nvPr/>
        </p:nvSpPr>
        <p:spPr>
          <a:xfrm>
            <a:off x="3447288" y="3072384"/>
            <a:ext cx="1097280" cy="822960"/>
          </a:xfrm>
          <a:prstGeom prst="rect">
            <a:avLst/>
          </a:prstGeom>
          <a:solidFill>
            <a:srgbClr val="0F3256"/>
          </a:solidFill>
          <a:ln w="12700">
            <a:solidFill>
              <a:srgbClr val="0F3256"/>
            </a:solidFill>
            <a:prstDash val="solid"/>
          </a:ln>
        </p:spPr>
      </p:sp>
      <p:sp>
        <p:nvSpPr>
          <p:cNvPr id="16" name="Text 14"/>
          <p:cNvSpPr txBox="1"/>
          <p:nvPr/>
        </p:nvSpPr>
        <p:spPr>
          <a:xfrm>
            <a:off x="3447288" y="3072384"/>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VI</a:t>
            </a:r>
            <a:endParaRPr lang="en-US" sz="1500" dirty="0"/>
          </a:p>
        </p:txBody>
      </p:sp>
      <p:sp>
        <p:nvSpPr>
          <p:cNvPr id="17" name="celda-VII"/>
          <p:cNvSpPr/>
          <p:nvPr/>
        </p:nvSpPr>
        <p:spPr>
          <a:xfrm>
            <a:off x="1143000" y="3950208"/>
            <a:ext cx="1097280" cy="822960"/>
          </a:xfrm>
          <a:prstGeom prst="rect">
            <a:avLst/>
          </a:prstGeom>
          <a:solidFill>
            <a:schemeClr val="accent4"/>
          </a:solidFill>
          <a:ln w="12700">
            <a:solidFill>
              <a:schemeClr val="accent4"/>
            </a:solidFill>
            <a:prstDash val="solid"/>
          </a:ln>
        </p:spPr>
      </p:sp>
      <p:sp>
        <p:nvSpPr>
          <p:cNvPr id="18" name="Text 16"/>
          <p:cNvSpPr txBox="1"/>
          <p:nvPr/>
        </p:nvSpPr>
        <p:spPr>
          <a:xfrm>
            <a:off x="1143000" y="3950208"/>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VII</a:t>
            </a:r>
            <a:endParaRPr lang="en-US" sz="1500" dirty="0"/>
          </a:p>
        </p:txBody>
      </p:sp>
      <p:sp>
        <p:nvSpPr>
          <p:cNvPr id="19" name="celda-VIII"/>
          <p:cNvSpPr/>
          <p:nvPr/>
        </p:nvSpPr>
        <p:spPr>
          <a:xfrm>
            <a:off x="2295144" y="3950208"/>
            <a:ext cx="1097280" cy="822960"/>
          </a:xfrm>
          <a:prstGeom prst="rect">
            <a:avLst/>
          </a:prstGeom>
          <a:solidFill>
            <a:srgbClr val="0F3256"/>
          </a:solidFill>
          <a:ln w="12700">
            <a:solidFill>
              <a:srgbClr val="0F3256"/>
            </a:solidFill>
            <a:prstDash val="solid"/>
          </a:ln>
        </p:spPr>
      </p:sp>
      <p:sp>
        <p:nvSpPr>
          <p:cNvPr id="20" name="Text 18"/>
          <p:cNvSpPr txBox="1"/>
          <p:nvPr/>
        </p:nvSpPr>
        <p:spPr>
          <a:xfrm>
            <a:off x="2295144" y="3950208"/>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VIII</a:t>
            </a:r>
            <a:endParaRPr lang="en-US" sz="1500" dirty="0"/>
          </a:p>
        </p:txBody>
      </p:sp>
      <p:sp>
        <p:nvSpPr>
          <p:cNvPr id="21" name="celda-IX"/>
          <p:cNvSpPr/>
          <p:nvPr/>
        </p:nvSpPr>
        <p:spPr>
          <a:xfrm>
            <a:off x="3447288" y="3950208"/>
            <a:ext cx="1097280" cy="822960"/>
          </a:xfrm>
          <a:prstGeom prst="rect">
            <a:avLst/>
          </a:prstGeom>
          <a:solidFill>
            <a:srgbClr val="0F3256"/>
          </a:solidFill>
          <a:ln w="12700">
            <a:solidFill>
              <a:srgbClr val="0F3256"/>
            </a:solidFill>
            <a:prstDash val="solid"/>
          </a:ln>
        </p:spPr>
      </p:sp>
      <p:sp>
        <p:nvSpPr>
          <p:cNvPr id="22" name="Text 20"/>
          <p:cNvSpPr txBox="1"/>
          <p:nvPr/>
        </p:nvSpPr>
        <p:spPr>
          <a:xfrm>
            <a:off x="3447288" y="3950208"/>
            <a:ext cx="1097280" cy="822960"/>
          </a:xfrm>
          <a:prstGeom prst="rect">
            <a:avLst/>
          </a:prstGeom>
          <a:noFill/>
          <a:ln/>
        </p:spPr>
        <p:txBody>
          <a:bodyPr wrap="square" lIns="0" tIns="0" rIns="0" bIns="0" rtlCol="0" anchor="ctr"/>
          <a:lstStyle/>
          <a:p>
            <a:pPr algn="ctr" indent="0" marL="0">
              <a:buNone/>
            </a:pPr>
            <a:r>
              <a:rPr lang="en-US" sz="1500" dirty="0">
                <a:solidFill>
                  <a:schemeClr val="bg1"/>
                </a:solidFill>
              </a:rPr>
              <a:t>IX</a:t>
            </a:r>
            <a:endParaRPr lang="en-US" sz="1500" dirty="0"/>
          </a:p>
        </p:txBody>
      </p:sp>
      <p:sp>
        <p:nvSpPr>
          <p:cNvPr id="23" name="Text 21"/>
          <p:cNvSpPr txBox="1"/>
          <p:nvPr/>
        </p:nvSpPr>
        <p:spPr>
          <a:xfrm>
            <a:off x="1143000" y="1901952"/>
            <a:ext cx="1097280" cy="228600"/>
          </a:xfrm>
          <a:prstGeom prst="rect">
            <a:avLst/>
          </a:prstGeom>
          <a:noFill/>
          <a:ln/>
        </p:spPr>
        <p:txBody>
          <a:bodyPr wrap="square" lIns="0" tIns="0" rIns="0" bIns="0" rtlCol="0" anchor="t"/>
          <a:lstStyle/>
          <a:p>
            <a:pPr algn="ctr" indent="0" marL="0">
              <a:buNone/>
            </a:pPr>
            <a:r>
              <a:rPr lang="en-US" sz="1100" dirty="0">
                <a:solidFill>
                  <a:schemeClr val="accent5"/>
                </a:solidFill>
              </a:rPr>
              <a:t>Fuerte</a:t>
            </a:r>
            <a:endParaRPr lang="en-US" sz="1100" dirty="0"/>
          </a:p>
        </p:txBody>
      </p:sp>
      <p:sp>
        <p:nvSpPr>
          <p:cNvPr id="24" name="Text 22"/>
          <p:cNvSpPr txBox="1"/>
          <p:nvPr/>
        </p:nvSpPr>
        <p:spPr>
          <a:xfrm>
            <a:off x="2295144" y="1901952"/>
            <a:ext cx="1097280" cy="228600"/>
          </a:xfrm>
          <a:prstGeom prst="rect">
            <a:avLst/>
          </a:prstGeom>
          <a:noFill/>
          <a:ln/>
        </p:spPr>
        <p:txBody>
          <a:bodyPr wrap="square" lIns="0" tIns="0" rIns="0" bIns="0" rtlCol="0" anchor="t"/>
          <a:lstStyle/>
          <a:p>
            <a:pPr algn="ctr" indent="0" marL="0">
              <a:buNone/>
            </a:pPr>
            <a:r>
              <a:rPr lang="en-US" sz="1100" dirty="0">
                <a:solidFill>
                  <a:schemeClr val="accent5"/>
                </a:solidFill>
              </a:rPr>
              <a:t>Promedio</a:t>
            </a:r>
            <a:endParaRPr lang="en-US" sz="1100" dirty="0"/>
          </a:p>
        </p:txBody>
      </p:sp>
      <p:sp>
        <p:nvSpPr>
          <p:cNvPr id="25" name="Text 23"/>
          <p:cNvSpPr txBox="1"/>
          <p:nvPr/>
        </p:nvSpPr>
        <p:spPr>
          <a:xfrm>
            <a:off x="3447288" y="1901952"/>
            <a:ext cx="1097280" cy="228600"/>
          </a:xfrm>
          <a:prstGeom prst="rect">
            <a:avLst/>
          </a:prstGeom>
          <a:noFill/>
          <a:ln/>
        </p:spPr>
        <p:txBody>
          <a:bodyPr wrap="square" lIns="0" tIns="0" rIns="0" bIns="0" rtlCol="0" anchor="t"/>
          <a:lstStyle/>
          <a:p>
            <a:pPr algn="ctr" indent="0" marL="0">
              <a:buNone/>
            </a:pPr>
            <a:r>
              <a:rPr lang="en-US" sz="1100" dirty="0">
                <a:solidFill>
                  <a:schemeClr val="accent5"/>
                </a:solidFill>
              </a:rPr>
              <a:t>Débil</a:t>
            </a:r>
            <a:endParaRPr lang="en-US" sz="1100" dirty="0"/>
          </a:p>
        </p:txBody>
      </p:sp>
      <p:sp>
        <p:nvSpPr>
          <p:cNvPr id="26" name="Text 24"/>
          <p:cNvSpPr txBox="1"/>
          <p:nvPr/>
        </p:nvSpPr>
        <p:spPr>
          <a:xfrm>
            <a:off x="548640" y="2487168"/>
            <a:ext cx="502920" cy="228600"/>
          </a:xfrm>
          <a:prstGeom prst="rect">
            <a:avLst/>
          </a:prstGeom>
          <a:noFill/>
          <a:ln/>
        </p:spPr>
        <p:txBody>
          <a:bodyPr wrap="square" lIns="0" tIns="0" rIns="0" bIns="0" rtlCol="0" anchor="t"/>
          <a:lstStyle/>
          <a:p>
            <a:pPr algn="r" indent="0" marL="0">
              <a:buNone/>
            </a:pPr>
            <a:r>
              <a:rPr lang="en-US" sz="1100" dirty="0">
                <a:solidFill>
                  <a:schemeClr val="accent5"/>
                </a:solidFill>
              </a:rPr>
              <a:t>Alto</a:t>
            </a:r>
            <a:endParaRPr lang="en-US" sz="1100" dirty="0"/>
          </a:p>
        </p:txBody>
      </p:sp>
      <p:sp>
        <p:nvSpPr>
          <p:cNvPr id="27" name="Text 25"/>
          <p:cNvSpPr txBox="1"/>
          <p:nvPr/>
        </p:nvSpPr>
        <p:spPr>
          <a:xfrm>
            <a:off x="548640" y="3364992"/>
            <a:ext cx="502920" cy="228600"/>
          </a:xfrm>
          <a:prstGeom prst="rect">
            <a:avLst/>
          </a:prstGeom>
          <a:noFill/>
          <a:ln/>
        </p:spPr>
        <p:txBody>
          <a:bodyPr wrap="square" lIns="0" tIns="0" rIns="0" bIns="0" rtlCol="0" anchor="t"/>
          <a:lstStyle/>
          <a:p>
            <a:pPr algn="r" indent="0" marL="0">
              <a:buNone/>
            </a:pPr>
            <a:r>
              <a:rPr lang="en-US" sz="1100" dirty="0">
                <a:solidFill>
                  <a:schemeClr val="accent5"/>
                </a:solidFill>
              </a:rPr>
              <a:t>Medio</a:t>
            </a:r>
            <a:endParaRPr lang="en-US" sz="1100" dirty="0"/>
          </a:p>
        </p:txBody>
      </p:sp>
      <p:sp>
        <p:nvSpPr>
          <p:cNvPr id="28" name="Text 26"/>
          <p:cNvSpPr txBox="1"/>
          <p:nvPr/>
        </p:nvSpPr>
        <p:spPr>
          <a:xfrm>
            <a:off x="548640" y="4242816"/>
            <a:ext cx="502920" cy="228600"/>
          </a:xfrm>
          <a:prstGeom prst="rect">
            <a:avLst/>
          </a:prstGeom>
          <a:noFill/>
          <a:ln/>
        </p:spPr>
        <p:txBody>
          <a:bodyPr wrap="square" lIns="0" tIns="0" rIns="0" bIns="0" rtlCol="0" anchor="t"/>
          <a:lstStyle/>
          <a:p>
            <a:pPr algn="r" indent="0" marL="0">
              <a:buNone/>
            </a:pPr>
            <a:r>
              <a:rPr lang="en-US" sz="1100" dirty="0">
                <a:solidFill>
                  <a:schemeClr val="accent5"/>
                </a:solidFill>
              </a:rPr>
              <a:t>Bajo</a:t>
            </a:r>
            <a:endParaRPr lang="en-US" sz="1100" dirty="0"/>
          </a:p>
        </p:txBody>
      </p:sp>
      <p:sp>
        <p:nvSpPr>
          <p:cNvPr id="29" name="Text 27"/>
          <p:cNvSpPr txBox="1"/>
          <p:nvPr/>
        </p:nvSpPr>
        <p:spPr>
          <a:xfrm>
            <a:off x="548640" y="4937760"/>
            <a:ext cx="4937760" cy="914400"/>
          </a:xfrm>
          <a:prstGeom prst="rect">
            <a:avLst/>
          </a:prstGeom>
          <a:noFill/>
          <a:ln/>
        </p:spPr>
        <p:txBody>
          <a:bodyPr wrap="square" lIns="0" tIns="0" rIns="0" bIns="0" rtlCol="0" anchor="t"/>
          <a:lstStyle/>
          <a:p>
            <a:pPr indent="0" marL="0">
              <a:buNone/>
            </a:pPr>
            <a:r>
              <a:rPr lang="en-US" sz="1400" dirty="0">
                <a:solidFill>
                  <a:schemeClr val="bg1"/>
                </a:solidFill>
              </a:rPr>
              <a:t>MEFI 2.40 · MEFE 2.34. Recomienda penetración de mercado y desarrollo de productos: E1, E2, E4, E7 y E10.</a:t>
            </a:r>
            <a:endParaRPr lang="en-US" sz="1400" dirty="0"/>
          </a:p>
        </p:txBody>
      </p:sp>
      <p:sp>
        <p:nvSpPr>
          <p:cNvPr id="30" name="Text 28"/>
          <p:cNvSpPr txBox="1"/>
          <p:nvPr/>
        </p:nvSpPr>
        <p:spPr>
          <a:xfrm>
            <a:off x="6035040" y="1554480"/>
            <a:ext cx="5486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PEYEA · CUADRANTE AGRESIVO</a:t>
            </a:r>
            <a:endParaRPr lang="en-US" sz="1100" dirty="0"/>
          </a:p>
        </p:txBody>
      </p:sp>
      <p:sp>
        <p:nvSpPr>
          <p:cNvPr id="31" name="marco-peyea"/>
          <p:cNvSpPr/>
          <p:nvPr/>
        </p:nvSpPr>
        <p:spPr>
          <a:xfrm>
            <a:off x="6035040" y="1920240"/>
            <a:ext cx="3246120" cy="3246120"/>
          </a:xfrm>
          <a:prstGeom prst="roundRect">
            <a:avLst>
              <a:gd name="adj" fmla="val 2254"/>
            </a:avLst>
          </a:prstGeom>
          <a:solidFill>
            <a:schemeClr val="bg1"/>
          </a:solidFill>
          <a:ln w="12700">
            <a:solidFill>
              <a:schemeClr val="bg1"/>
            </a:solidFill>
            <a:prstDash val="solid"/>
          </a:ln>
        </p:spPr>
      </p:sp>
      <p:pic>
        <p:nvPicPr>
          <p:cNvPr id="32" name="grafico-peyea" descr="/home/user/Planeamiento-estrategico/APF2/figuras/peyea_ppt.png">    </p:cNvPr>
          <p:cNvPicPr>
            <a:picLocks noChangeAspect="1"/>
          </p:cNvPicPr>
          <p:nvPr/>
        </p:nvPicPr>
        <p:blipFill>
          <a:blip r:embed="rId1"/>
          <a:stretch>
            <a:fillRect/>
          </a:stretch>
        </p:blipFill>
        <p:spPr>
          <a:xfrm>
            <a:off x="6126480" y="2011680"/>
            <a:ext cx="3063240" cy="3063240"/>
          </a:xfrm>
          <a:prstGeom prst="rect">
            <a:avLst/>
          </a:prstGeom>
        </p:spPr>
      </p:pic>
      <p:sp>
        <p:nvSpPr>
          <p:cNvPr id="33" name="Text 30"/>
          <p:cNvSpPr txBox="1"/>
          <p:nvPr/>
        </p:nvSpPr>
        <p:spPr>
          <a:xfrm>
            <a:off x="9555480" y="1920240"/>
            <a:ext cx="548640" cy="411480"/>
          </a:xfrm>
          <a:prstGeom prst="rect">
            <a:avLst/>
          </a:prstGeom>
          <a:noFill/>
          <a:ln/>
        </p:spPr>
        <p:txBody>
          <a:bodyPr wrap="square" lIns="0" tIns="0" rIns="0" bIns="0" rtlCol="0" anchor="ctr"/>
          <a:lstStyle/>
          <a:p>
            <a:pPr indent="0" marL="0">
              <a:buNone/>
            </a:pPr>
            <a:r>
              <a:rPr lang="en-US" sz="1400" b="1" dirty="0">
                <a:solidFill>
                  <a:schemeClr val="accent1"/>
                </a:solidFill>
              </a:rPr>
              <a:t>FF</a:t>
            </a:r>
            <a:endParaRPr lang="en-US" sz="1400" dirty="0"/>
          </a:p>
        </p:txBody>
      </p:sp>
      <p:sp>
        <p:nvSpPr>
          <p:cNvPr id="34" name="Text 31"/>
          <p:cNvSpPr txBox="1"/>
          <p:nvPr/>
        </p:nvSpPr>
        <p:spPr>
          <a:xfrm>
            <a:off x="10104120" y="1920240"/>
            <a:ext cx="1463040" cy="411480"/>
          </a:xfrm>
          <a:prstGeom prst="rect">
            <a:avLst/>
          </a:prstGeom>
          <a:noFill/>
          <a:ln/>
        </p:spPr>
        <p:txBody>
          <a:bodyPr wrap="square" lIns="0" tIns="0" rIns="0" bIns="0" rtlCol="0" anchor="ctr"/>
          <a:lstStyle/>
          <a:p>
            <a:pPr indent="0" marL="0">
              <a:buNone/>
            </a:pPr>
            <a:r>
              <a:rPr lang="en-US" sz="2200" b="1" dirty="0">
                <a:solidFill>
                  <a:schemeClr val="bg1"/>
                </a:solidFill>
              </a:rPr>
              <a:t>+4.40</a:t>
            </a:r>
            <a:endParaRPr lang="en-US" sz="2200" dirty="0"/>
          </a:p>
        </p:txBody>
      </p:sp>
      <p:sp>
        <p:nvSpPr>
          <p:cNvPr id="35" name="Text 32"/>
          <p:cNvSpPr txBox="1"/>
          <p:nvPr/>
        </p:nvSpPr>
        <p:spPr>
          <a:xfrm>
            <a:off x="9555480" y="2468880"/>
            <a:ext cx="548640" cy="411480"/>
          </a:xfrm>
          <a:prstGeom prst="rect">
            <a:avLst/>
          </a:prstGeom>
          <a:noFill/>
          <a:ln/>
        </p:spPr>
        <p:txBody>
          <a:bodyPr wrap="square" lIns="0" tIns="0" rIns="0" bIns="0" rtlCol="0" anchor="ctr"/>
          <a:lstStyle/>
          <a:p>
            <a:pPr indent="0" marL="0">
              <a:buNone/>
            </a:pPr>
            <a:r>
              <a:rPr lang="en-US" sz="1400" b="1" dirty="0">
                <a:solidFill>
                  <a:schemeClr val="accent1"/>
                </a:solidFill>
              </a:rPr>
              <a:t>VC</a:t>
            </a:r>
            <a:endParaRPr lang="en-US" sz="1400" dirty="0"/>
          </a:p>
        </p:txBody>
      </p:sp>
      <p:sp>
        <p:nvSpPr>
          <p:cNvPr id="36" name="Text 33"/>
          <p:cNvSpPr txBox="1"/>
          <p:nvPr/>
        </p:nvSpPr>
        <p:spPr>
          <a:xfrm>
            <a:off x="10104120" y="2468880"/>
            <a:ext cx="1463040" cy="411480"/>
          </a:xfrm>
          <a:prstGeom prst="rect">
            <a:avLst/>
          </a:prstGeom>
          <a:noFill/>
          <a:ln/>
        </p:spPr>
        <p:txBody>
          <a:bodyPr wrap="square" lIns="0" tIns="0" rIns="0" bIns="0" rtlCol="0" anchor="ctr"/>
          <a:lstStyle/>
          <a:p>
            <a:pPr indent="0" marL="0">
              <a:buNone/>
            </a:pPr>
            <a:r>
              <a:rPr lang="en-US" sz="2200" b="1" dirty="0">
                <a:solidFill>
                  <a:schemeClr val="bg1"/>
                </a:solidFill>
              </a:rPr>
              <a:t>−3.33</a:t>
            </a:r>
            <a:endParaRPr lang="en-US" sz="2200" dirty="0"/>
          </a:p>
        </p:txBody>
      </p:sp>
      <p:sp>
        <p:nvSpPr>
          <p:cNvPr id="37" name="Text 34"/>
          <p:cNvSpPr txBox="1"/>
          <p:nvPr/>
        </p:nvSpPr>
        <p:spPr>
          <a:xfrm>
            <a:off x="9555480" y="3017520"/>
            <a:ext cx="548640" cy="411480"/>
          </a:xfrm>
          <a:prstGeom prst="rect">
            <a:avLst/>
          </a:prstGeom>
          <a:noFill/>
          <a:ln/>
        </p:spPr>
        <p:txBody>
          <a:bodyPr wrap="square" lIns="0" tIns="0" rIns="0" bIns="0" rtlCol="0" anchor="ctr"/>
          <a:lstStyle/>
          <a:p>
            <a:pPr indent="0" marL="0">
              <a:buNone/>
            </a:pPr>
            <a:r>
              <a:rPr lang="en-US" sz="1400" b="1" dirty="0">
                <a:solidFill>
                  <a:schemeClr val="accent1"/>
                </a:solidFill>
              </a:rPr>
              <a:t>EE</a:t>
            </a:r>
            <a:endParaRPr lang="en-US" sz="1400" dirty="0"/>
          </a:p>
        </p:txBody>
      </p:sp>
      <p:sp>
        <p:nvSpPr>
          <p:cNvPr id="38" name="Text 35"/>
          <p:cNvSpPr txBox="1"/>
          <p:nvPr/>
        </p:nvSpPr>
        <p:spPr>
          <a:xfrm>
            <a:off x="10104120" y="3017520"/>
            <a:ext cx="1463040" cy="411480"/>
          </a:xfrm>
          <a:prstGeom prst="rect">
            <a:avLst/>
          </a:prstGeom>
          <a:noFill/>
          <a:ln/>
        </p:spPr>
        <p:txBody>
          <a:bodyPr wrap="square" lIns="0" tIns="0" rIns="0" bIns="0" rtlCol="0" anchor="ctr"/>
          <a:lstStyle/>
          <a:p>
            <a:pPr indent="0" marL="0">
              <a:buNone/>
            </a:pPr>
            <a:r>
              <a:rPr lang="en-US" sz="2200" b="1" dirty="0">
                <a:solidFill>
                  <a:schemeClr val="bg1"/>
                </a:solidFill>
              </a:rPr>
              <a:t>−3.33</a:t>
            </a:r>
            <a:endParaRPr lang="en-US" sz="2200" dirty="0"/>
          </a:p>
        </p:txBody>
      </p:sp>
      <p:sp>
        <p:nvSpPr>
          <p:cNvPr id="39" name="Text 36"/>
          <p:cNvSpPr txBox="1"/>
          <p:nvPr/>
        </p:nvSpPr>
        <p:spPr>
          <a:xfrm>
            <a:off x="9555480" y="3566160"/>
            <a:ext cx="548640" cy="411480"/>
          </a:xfrm>
          <a:prstGeom prst="rect">
            <a:avLst/>
          </a:prstGeom>
          <a:noFill/>
          <a:ln/>
        </p:spPr>
        <p:txBody>
          <a:bodyPr wrap="square" lIns="0" tIns="0" rIns="0" bIns="0" rtlCol="0" anchor="ctr"/>
          <a:lstStyle/>
          <a:p>
            <a:pPr indent="0" marL="0">
              <a:buNone/>
            </a:pPr>
            <a:r>
              <a:rPr lang="en-US" sz="1400" b="1" dirty="0">
                <a:solidFill>
                  <a:schemeClr val="accent1"/>
                </a:solidFill>
              </a:rPr>
              <a:t>FI</a:t>
            </a:r>
            <a:endParaRPr lang="en-US" sz="1400" dirty="0"/>
          </a:p>
        </p:txBody>
      </p:sp>
      <p:sp>
        <p:nvSpPr>
          <p:cNvPr id="40" name="Text 37"/>
          <p:cNvSpPr txBox="1"/>
          <p:nvPr/>
        </p:nvSpPr>
        <p:spPr>
          <a:xfrm>
            <a:off x="10104120" y="3566160"/>
            <a:ext cx="1463040" cy="411480"/>
          </a:xfrm>
          <a:prstGeom prst="rect">
            <a:avLst/>
          </a:prstGeom>
          <a:noFill/>
          <a:ln/>
        </p:spPr>
        <p:txBody>
          <a:bodyPr wrap="square" lIns="0" tIns="0" rIns="0" bIns="0" rtlCol="0" anchor="ctr"/>
          <a:lstStyle/>
          <a:p>
            <a:pPr indent="0" marL="0">
              <a:buNone/>
            </a:pPr>
            <a:r>
              <a:rPr lang="en-US" sz="2200" b="1" dirty="0">
                <a:solidFill>
                  <a:schemeClr val="bg1"/>
                </a:solidFill>
              </a:rPr>
              <a:t>+3.50</a:t>
            </a:r>
            <a:endParaRPr lang="en-US" sz="2200" dirty="0"/>
          </a:p>
        </p:txBody>
      </p:sp>
      <p:sp>
        <p:nvSpPr>
          <p:cNvPr id="41" name="Text 38"/>
          <p:cNvSpPr txBox="1"/>
          <p:nvPr/>
        </p:nvSpPr>
        <p:spPr>
          <a:xfrm>
            <a:off x="9555480" y="4206240"/>
            <a:ext cx="2103120" cy="822960"/>
          </a:xfrm>
          <a:prstGeom prst="rect">
            <a:avLst/>
          </a:prstGeom>
          <a:noFill/>
          <a:ln/>
        </p:spPr>
        <p:txBody>
          <a:bodyPr wrap="square" lIns="0" tIns="0" rIns="0" bIns="0" rtlCol="0" anchor="t"/>
          <a:lstStyle/>
          <a:p>
            <a:pPr indent="0" marL="0">
              <a:buNone/>
            </a:pPr>
            <a:r>
              <a:rPr lang="en-US" sz="1300" dirty="0">
                <a:solidFill>
                  <a:schemeClr val="accent5"/>
                </a:solidFill>
              </a:rPr>
              <a:t>Vector X 0.17 · Y 1.07</a:t>
            </a:r>
            <a:endParaRPr lang="en-US" sz="1300" dirty="0"/>
          </a:p>
        </p:txBody>
      </p:sp>
      <p:sp>
        <p:nvSpPr>
          <p:cNvPr id="42" name="Text 39"/>
          <p:cNvSpPr txBox="1"/>
          <p:nvPr/>
        </p:nvSpPr>
        <p:spPr>
          <a:xfrm>
            <a:off x="6035040" y="5303520"/>
            <a:ext cx="5577840" cy="868680"/>
          </a:xfrm>
          <a:prstGeom prst="rect">
            <a:avLst/>
          </a:prstGeom>
          <a:noFill/>
          <a:ln/>
        </p:spPr>
        <p:txBody>
          <a:bodyPr wrap="square" lIns="0" tIns="0" rIns="0" bIns="0" rtlCol="0" anchor="t"/>
          <a:lstStyle/>
          <a:p>
            <a:pPr indent="0" marL="0">
              <a:buNone/>
            </a:pPr>
            <a:r>
              <a:rPr lang="en-US" sz="1400" dirty="0">
                <a:solidFill>
                  <a:schemeClr val="bg1"/>
                </a:solidFill>
              </a:rPr>
              <a:t>Sin deudas y con ahorro, pero la puntualidad docente, con −6, frena la ventaja competitiva. Estrategias: E1, E2, E3, E4, E5 y E10.</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06 / MATRIZ BCG</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En la BCG, dos vacas sostienen el 90 % de los ingresos</a:t>
            </a:r>
            <a:endParaRPr lang="en-US" sz="3000" dirty="0"/>
          </a:p>
        </p:txBody>
      </p:sp>
      <p:sp>
        <p:nvSpPr>
          <p:cNvPr id="4" name="marco-bcg"/>
          <p:cNvSpPr/>
          <p:nvPr/>
        </p:nvSpPr>
        <p:spPr>
          <a:xfrm>
            <a:off x="548640" y="1600200"/>
            <a:ext cx="5120640" cy="4526280"/>
          </a:xfrm>
          <a:prstGeom prst="roundRect">
            <a:avLst>
              <a:gd name="adj" fmla="val 1616"/>
            </a:avLst>
          </a:prstGeom>
          <a:solidFill>
            <a:schemeClr val="bg1"/>
          </a:solidFill>
          <a:ln w="12700">
            <a:solidFill>
              <a:schemeClr val="bg1"/>
            </a:solidFill>
            <a:prstDash val="solid"/>
          </a:ln>
        </p:spPr>
      </p:sp>
      <p:pic>
        <p:nvPicPr>
          <p:cNvPr id="5" name="grafico-bcg" descr="/home/user/Planeamiento-estrategico/APF2/figuras/bcg_ppt.png">    </p:cNvPr>
          <p:cNvPicPr>
            <a:picLocks noChangeAspect="1"/>
          </p:cNvPicPr>
          <p:nvPr/>
        </p:nvPicPr>
        <p:blipFill>
          <a:blip r:embed="rId1"/>
          <a:stretch>
            <a:fillRect/>
          </a:stretch>
        </p:blipFill>
        <p:spPr>
          <a:xfrm>
            <a:off x="731520" y="1783080"/>
            <a:ext cx="4754880" cy="4114800"/>
          </a:xfrm>
          <a:prstGeom prst="rect">
            <a:avLst/>
          </a:prstGeom>
        </p:spPr>
      </p:pic>
      <p:sp>
        <p:nvSpPr>
          <p:cNvPr id="6" name="linea-0"/>
          <p:cNvSpPr/>
          <p:nvPr/>
        </p:nvSpPr>
        <p:spPr>
          <a:xfrm>
            <a:off x="6035040" y="1600200"/>
            <a:ext cx="5532120" cy="1371600"/>
          </a:xfrm>
          <a:prstGeom prst="roundRect">
            <a:avLst>
              <a:gd name="adj" fmla="val 5333"/>
            </a:avLst>
          </a:prstGeom>
          <a:solidFill>
            <a:schemeClr val="bg1"/>
          </a:solidFill>
          <a:ln w="12700">
            <a:solidFill>
              <a:schemeClr val="bg1"/>
            </a:solidFill>
            <a:prstDash val="solid"/>
          </a:ln>
        </p:spPr>
      </p:sp>
      <p:sp>
        <p:nvSpPr>
          <p:cNvPr id="7" name="Text 4"/>
          <p:cNvSpPr txBox="1"/>
          <p:nvPr/>
        </p:nvSpPr>
        <p:spPr>
          <a:xfrm>
            <a:off x="6309360" y="1764792"/>
            <a:ext cx="50292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VACA</a:t>
            </a:r>
            <a:endParaRPr lang="en-US" sz="1100" dirty="0"/>
          </a:p>
        </p:txBody>
      </p:sp>
      <p:sp>
        <p:nvSpPr>
          <p:cNvPr id="8" name="Text 5"/>
          <p:cNvSpPr txBox="1"/>
          <p:nvPr/>
        </p:nvSpPr>
        <p:spPr>
          <a:xfrm>
            <a:off x="6309360" y="2039112"/>
            <a:ext cx="5029200" cy="365760"/>
          </a:xfrm>
          <a:prstGeom prst="rect">
            <a:avLst/>
          </a:prstGeom>
          <a:noFill/>
          <a:ln/>
        </p:spPr>
        <p:txBody>
          <a:bodyPr wrap="square" lIns="0" tIns="0" rIns="0" bIns="0" rtlCol="0" anchor="t"/>
          <a:lstStyle/>
          <a:p>
            <a:pPr indent="0" marL="0">
              <a:buNone/>
            </a:pPr>
            <a:r>
              <a:rPr lang="en-US" sz="1700" b="1" dirty="0">
                <a:solidFill>
                  <a:schemeClr val="tx1"/>
                </a:solidFill>
              </a:rPr>
              <a:t>Clases individuales · 60 %</a:t>
            </a:r>
            <a:endParaRPr lang="en-US" sz="1700" dirty="0"/>
          </a:p>
        </p:txBody>
      </p:sp>
      <p:sp>
        <p:nvSpPr>
          <p:cNvPr id="9" name="Text 6"/>
          <p:cNvSpPr txBox="1"/>
          <p:nvPr/>
        </p:nvSpPr>
        <p:spPr>
          <a:xfrm>
            <a:off x="6309360" y="2423160"/>
            <a:ext cx="5074920" cy="457200"/>
          </a:xfrm>
          <a:prstGeom prst="rect">
            <a:avLst/>
          </a:prstGeom>
          <a:noFill/>
          <a:ln/>
        </p:spPr>
        <p:txBody>
          <a:bodyPr wrap="square" lIns="0" tIns="0" rIns="0" bIns="0" rtlCol="0" anchor="t"/>
          <a:lstStyle/>
          <a:p>
            <a:pPr indent="0" marL="0">
              <a:buNone/>
            </a:pPr>
            <a:r>
              <a:rPr lang="en-US" sz="1300" dirty="0">
                <a:solidFill>
                  <a:schemeClr val="accent4"/>
                </a:solidFill>
              </a:rPr>
              <a:t>Nadie ofrece asesor académico y jefe del área. Estrategias: E1, E2, E5 y E7.</a:t>
            </a:r>
            <a:endParaRPr lang="en-US" sz="1300" dirty="0"/>
          </a:p>
        </p:txBody>
      </p:sp>
      <p:sp>
        <p:nvSpPr>
          <p:cNvPr id="10" name="linea-1"/>
          <p:cNvSpPr/>
          <p:nvPr/>
        </p:nvSpPr>
        <p:spPr>
          <a:xfrm>
            <a:off x="6035040" y="3154680"/>
            <a:ext cx="5532120" cy="1371600"/>
          </a:xfrm>
          <a:prstGeom prst="roundRect">
            <a:avLst>
              <a:gd name="adj" fmla="val 5333"/>
            </a:avLst>
          </a:prstGeom>
          <a:solidFill>
            <a:schemeClr val="bg1"/>
          </a:solidFill>
          <a:ln w="12700">
            <a:solidFill>
              <a:schemeClr val="bg1"/>
            </a:solidFill>
            <a:prstDash val="solid"/>
          </a:ln>
        </p:spPr>
      </p:sp>
      <p:sp>
        <p:nvSpPr>
          <p:cNvPr id="11" name="Text 8"/>
          <p:cNvSpPr txBox="1"/>
          <p:nvPr/>
        </p:nvSpPr>
        <p:spPr>
          <a:xfrm>
            <a:off x="6309360" y="3319272"/>
            <a:ext cx="50292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VACA</a:t>
            </a:r>
            <a:endParaRPr lang="en-US" sz="1100" dirty="0"/>
          </a:p>
        </p:txBody>
      </p:sp>
      <p:sp>
        <p:nvSpPr>
          <p:cNvPr id="12" name="Text 9"/>
          <p:cNvSpPr txBox="1"/>
          <p:nvPr/>
        </p:nvSpPr>
        <p:spPr>
          <a:xfrm>
            <a:off x="6309360" y="3593592"/>
            <a:ext cx="5029200" cy="365760"/>
          </a:xfrm>
          <a:prstGeom prst="rect">
            <a:avLst/>
          </a:prstGeom>
          <a:noFill/>
          <a:ln/>
        </p:spPr>
        <p:txBody>
          <a:bodyPr wrap="square" lIns="0" tIns="0" rIns="0" bIns="0" rtlCol="0" anchor="t"/>
          <a:lstStyle/>
          <a:p>
            <a:pPr indent="0" marL="0">
              <a:buNone/>
            </a:pPr>
            <a:r>
              <a:rPr lang="en-US" sz="1700" b="1" dirty="0">
                <a:solidFill>
                  <a:schemeClr val="tx1"/>
                </a:solidFill>
              </a:rPr>
              <a:t>Programas de verano · 30 %</a:t>
            </a:r>
            <a:endParaRPr lang="en-US" sz="1700" dirty="0"/>
          </a:p>
        </p:txBody>
      </p:sp>
      <p:sp>
        <p:nvSpPr>
          <p:cNvPr id="13" name="Text 10"/>
          <p:cNvSpPr txBox="1"/>
          <p:nvPr/>
        </p:nvSpPr>
        <p:spPr>
          <a:xfrm>
            <a:off x="6309360" y="3977640"/>
            <a:ext cx="5074920" cy="457200"/>
          </a:xfrm>
          <a:prstGeom prst="rect">
            <a:avLst/>
          </a:prstGeom>
          <a:noFill/>
          <a:ln/>
        </p:spPr>
        <p:txBody>
          <a:bodyPr wrap="square" lIns="0" tIns="0" rIns="0" bIns="0" rtlCol="0" anchor="t"/>
          <a:lstStyle/>
          <a:p>
            <a:pPr indent="0" marL="0">
              <a:buNone/>
            </a:pPr>
            <a:r>
              <a:rPr lang="en-US" sz="1300" dirty="0">
                <a:solidFill>
                  <a:schemeClr val="accent4"/>
                </a:solidFill>
              </a:rPr>
              <a:t>Muchos alumnos y metodología dinámica. Estrategia: E10.</a:t>
            </a:r>
            <a:endParaRPr lang="en-US" sz="1300" dirty="0"/>
          </a:p>
        </p:txBody>
      </p:sp>
      <p:sp>
        <p:nvSpPr>
          <p:cNvPr id="14" name="linea-2"/>
          <p:cNvSpPr/>
          <p:nvPr/>
        </p:nvSpPr>
        <p:spPr>
          <a:xfrm>
            <a:off x="6035040" y="4709160"/>
            <a:ext cx="5532120" cy="1371600"/>
          </a:xfrm>
          <a:prstGeom prst="roundRect">
            <a:avLst>
              <a:gd name="adj" fmla="val 5333"/>
            </a:avLst>
          </a:prstGeom>
          <a:solidFill>
            <a:schemeClr val="accent3"/>
          </a:solidFill>
          <a:ln w="12700">
            <a:solidFill>
              <a:schemeClr val="accent3"/>
            </a:solidFill>
            <a:prstDash val="solid"/>
          </a:ln>
        </p:spPr>
      </p:sp>
      <p:sp>
        <p:nvSpPr>
          <p:cNvPr id="15" name="Text 12"/>
          <p:cNvSpPr txBox="1"/>
          <p:nvPr/>
        </p:nvSpPr>
        <p:spPr>
          <a:xfrm>
            <a:off x="6309360" y="4873752"/>
            <a:ext cx="50292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INTERROGANTE</a:t>
            </a:r>
            <a:endParaRPr lang="en-US" sz="1100" dirty="0"/>
          </a:p>
        </p:txBody>
      </p:sp>
      <p:sp>
        <p:nvSpPr>
          <p:cNvPr id="16" name="Text 13"/>
          <p:cNvSpPr txBox="1"/>
          <p:nvPr/>
        </p:nvSpPr>
        <p:spPr>
          <a:xfrm>
            <a:off x="6309360" y="5148072"/>
            <a:ext cx="5029200" cy="365760"/>
          </a:xfrm>
          <a:prstGeom prst="rect">
            <a:avLst/>
          </a:prstGeom>
          <a:noFill/>
          <a:ln/>
        </p:spPr>
        <p:txBody>
          <a:bodyPr wrap="square" lIns="0" tIns="0" rIns="0" bIns="0" rtlCol="0" anchor="t"/>
          <a:lstStyle/>
          <a:p>
            <a:pPr indent="0" marL="0">
              <a:buNone/>
            </a:pPr>
            <a:r>
              <a:rPr lang="en-US" sz="1700" b="1" dirty="0">
                <a:solidFill>
                  <a:schemeClr val="tx1"/>
                </a:solidFill>
              </a:rPr>
              <a:t>Talleres y empresas · 10 %</a:t>
            </a:r>
            <a:endParaRPr lang="en-US" sz="1700" dirty="0"/>
          </a:p>
        </p:txBody>
      </p:sp>
      <p:sp>
        <p:nvSpPr>
          <p:cNvPr id="17" name="Text 14"/>
          <p:cNvSpPr txBox="1"/>
          <p:nvPr/>
        </p:nvSpPr>
        <p:spPr>
          <a:xfrm>
            <a:off x="6309360" y="5532120"/>
            <a:ext cx="5074920" cy="457200"/>
          </a:xfrm>
          <a:prstGeom prst="rect">
            <a:avLst/>
          </a:prstGeom>
          <a:noFill/>
          <a:ln/>
        </p:spPr>
        <p:txBody>
          <a:bodyPr wrap="square" lIns="0" tIns="0" rIns="0" bIns="0" rtlCol="0" anchor="t"/>
          <a:lstStyle/>
          <a:p>
            <a:pPr indent="0" marL="0">
              <a:buNone/>
            </a:pPr>
            <a:r>
              <a:rPr lang="en-US" sz="1300" dirty="0">
                <a:solidFill>
                  <a:schemeClr val="accent4"/>
                </a:solidFill>
              </a:rPr>
              <a:t>Hay demanda, pero la línea está en pausa. Estrategia: E6.</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07 / MATRIZ DE DECISIÓN</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bg1"/>
                </a:solidFill>
              </a:rPr>
              <a:t>Seis estrategias se repiten tres veces o más</a:t>
            </a:r>
            <a:endParaRPr lang="en-US" sz="3000" dirty="0"/>
          </a:p>
        </p:txBody>
      </p:sp>
      <p:graphicFrame>
        <p:nvGraphicFramePr>
          <p:cNvPr id="9" name="tabla-mde"/>
          <p:cNvGraphicFramePr>
            <a:graphicFrameLocks noGrp="1"/>
          </p:cNvGraphicFramePr>
          <p:nvPr>
            <p:extLst>
              <p:ext uri="{D42A27DB-BD31-4B8C-83A1-F6EECF244321}">
                <p14:modId xmlns:p14="http://schemas.microsoft.com/office/powerpoint/2010/main" val="1579011935"/>
              </p:ext>
            </p:extLst>
          </p:nvPr>
        </p:nvGraphicFramePr>
        <p:xfrm>
          <a:off x="548640" y="1554480"/>
          <a:ext cx="7680960" cy="914400"/>
        </p:xfrm>
        <a:graphic>
          <a:graphicData uri="http://schemas.openxmlformats.org/drawingml/2006/table">
            <a:tbl>
              <a:tblPr/>
              <a:tblGrid>
                <a:gridCol w="685800"/>
                <a:gridCol w="3291840"/>
                <a:gridCol w="731520"/>
                <a:gridCol w="640080"/>
                <a:gridCol w="822960"/>
                <a:gridCol w="685800"/>
                <a:gridCol w="822960"/>
              </a:tblGrid>
              <a:tr h="384048">
                <a:tc>
                  <a:txBody>
                    <a:bodyPr/>
                    <a:lstStyle/>
                    <a:p>
                      <a:pPr algn="ctr" indent="0" marL="0">
                        <a:buNone/>
                      </a:pPr>
                      <a:r>
                        <a:rPr lang="en-US" sz="1300" b="1" dirty="0">
                          <a:solidFill>
                            <a:srgbClr val="071D36"/>
                          </a:solidFill>
                        </a:rPr>
                        <a:t>Cód.</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c>
                  <a:txBody>
                    <a:bodyPr/>
                    <a:lstStyle/>
                    <a:p>
                      <a:pPr algn="ctr" indent="0" marL="0">
                        <a:buNone/>
                      </a:pPr>
                      <a:r>
                        <a:rPr lang="en-US" sz="1300" b="1" dirty="0">
                          <a:solidFill>
                            <a:srgbClr val="071D36"/>
                          </a:solidFill>
                        </a:rPr>
                        <a:t>Estrategia</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c>
                  <a:txBody>
                    <a:bodyPr/>
                    <a:lstStyle/>
                    <a:p>
                      <a:pPr algn="ctr" indent="0" marL="0">
                        <a:buNone/>
                      </a:pPr>
                      <a:r>
                        <a:rPr lang="en-US" sz="1300" b="1" dirty="0">
                          <a:solidFill>
                            <a:srgbClr val="071D36"/>
                          </a:solidFill>
                        </a:rPr>
                        <a:t>FODA</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c>
                  <a:txBody>
                    <a:bodyPr/>
                    <a:lstStyle/>
                    <a:p>
                      <a:pPr algn="ctr" indent="0" marL="0">
                        <a:buNone/>
                      </a:pPr>
                      <a:r>
                        <a:rPr lang="en-US" sz="1300" b="1" dirty="0">
                          <a:solidFill>
                            <a:srgbClr val="071D36"/>
                          </a:solidFill>
                        </a:rPr>
                        <a:t>MIE</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c>
                  <a:txBody>
                    <a:bodyPr/>
                    <a:lstStyle/>
                    <a:p>
                      <a:pPr algn="ctr" indent="0" marL="0">
                        <a:buNone/>
                      </a:pPr>
                      <a:r>
                        <a:rPr lang="en-US" sz="1300" b="1" dirty="0">
                          <a:solidFill>
                            <a:srgbClr val="071D36"/>
                          </a:solidFill>
                        </a:rPr>
                        <a:t>PEYEA</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c>
                  <a:txBody>
                    <a:bodyPr/>
                    <a:lstStyle/>
                    <a:p>
                      <a:pPr algn="ctr" indent="0" marL="0">
                        <a:buNone/>
                      </a:pPr>
                      <a:r>
                        <a:rPr lang="en-US" sz="1300" b="1" dirty="0">
                          <a:solidFill>
                            <a:srgbClr val="071D36"/>
                          </a:solidFill>
                        </a:rPr>
                        <a:t>BCG</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c>
                  <a:txBody>
                    <a:bodyPr/>
                    <a:lstStyle/>
                    <a:p>
                      <a:pPr algn="ctr" indent="0" marL="0">
                        <a:buNone/>
                      </a:pPr>
                      <a:r>
                        <a:rPr lang="en-US" sz="1300" b="1" dirty="0">
                          <a:solidFill>
                            <a:srgbClr val="071D36"/>
                          </a:solidFill>
                        </a:rPr>
                        <a:t>Total</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65C7E8"/>
                    </a:solidFill>
                  </a:tcPr>
                </a:tc>
              </a:tr>
              <a:tr h="384048">
                <a:tc>
                  <a:txBody>
                    <a:bodyPr/>
                    <a:lstStyle/>
                    <a:p>
                      <a:pPr algn="ctr" indent="0" marL="0">
                        <a:buNone/>
                      </a:pPr>
                      <a:r>
                        <a:rPr lang="en-US" sz="1300" b="1" dirty="0">
                          <a:solidFill>
                            <a:srgbClr val="FFFFFF"/>
                          </a:solidFill>
                        </a:rPr>
                        <a:t>E1</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indent="0" marL="0">
                        <a:buNone/>
                      </a:pPr>
                      <a:r>
                        <a:rPr lang="en-US" sz="1300" dirty="0">
                          <a:solidFill>
                            <a:srgbClr val="FFFFFF"/>
                          </a:solidFill>
                        </a:rPr>
                        <a:t>Nivelación por grado escolar</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b="1" dirty="0">
                          <a:solidFill>
                            <a:srgbClr val="FFFFFF"/>
                          </a:solidFill>
                        </a:rPr>
                        <a:t>4</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r>
              <a:tr h="384048">
                <a:tc>
                  <a:txBody>
                    <a:bodyPr/>
                    <a:lstStyle/>
                    <a:p>
                      <a:pPr algn="ctr" indent="0" marL="0">
                        <a:buNone/>
                      </a:pPr>
                      <a:r>
                        <a:rPr lang="en-US" sz="1300" b="1" dirty="0">
                          <a:solidFill>
                            <a:srgbClr val="FFFFFF"/>
                          </a:solidFill>
                        </a:rPr>
                        <a:t>E2</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indent="0" marL="0">
                        <a:buNone/>
                      </a:pPr>
                      <a:r>
                        <a:rPr lang="en-US" sz="1300" dirty="0">
                          <a:solidFill>
                            <a:srgbClr val="FFFFFF"/>
                          </a:solidFill>
                        </a:rPr>
                        <a:t>Campañas y diagnóstico gratuito</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b="1" dirty="0">
                          <a:solidFill>
                            <a:srgbClr val="FFFFFF"/>
                          </a:solidFill>
                        </a:rPr>
                        <a:t>4</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r>
              <a:tr h="384048">
                <a:tc>
                  <a:txBody>
                    <a:bodyPr/>
                    <a:lstStyle/>
                    <a:p>
                      <a:pPr algn="ctr" indent="0" marL="0">
                        <a:buNone/>
                      </a:pPr>
                      <a:r>
                        <a:rPr lang="en-US" sz="1300" b="1" dirty="0">
                          <a:solidFill>
                            <a:srgbClr val="FFFFFF"/>
                          </a:solidFill>
                        </a:rPr>
                        <a:t>E10</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indent="0" marL="0">
                        <a:buNone/>
                      </a:pPr>
                      <a:r>
                        <a:rPr lang="en-US" sz="1300" dirty="0">
                          <a:solidFill>
                            <a:srgbClr val="FFFFFF"/>
                          </a:solidFill>
                        </a:rPr>
                        <a:t>Grupos de tres o cuatro alumnos</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b="1" dirty="0">
                          <a:solidFill>
                            <a:srgbClr val="FFFFFF"/>
                          </a:solidFill>
                        </a:rPr>
                        <a:t>4</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r>
              <a:tr h="384048">
                <a:tc>
                  <a:txBody>
                    <a:bodyPr/>
                    <a:lstStyle/>
                    <a:p>
                      <a:pPr algn="ctr" indent="0" marL="0">
                        <a:buNone/>
                      </a:pPr>
                      <a:r>
                        <a:rPr lang="en-US" sz="1300" b="1" dirty="0">
                          <a:solidFill>
                            <a:srgbClr val="FFFFFF"/>
                          </a:solidFill>
                        </a:rPr>
                        <a:t>E4</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indent="0" marL="0">
                        <a:buNone/>
                      </a:pPr>
                      <a:r>
                        <a:rPr lang="en-US" sz="1300" dirty="0">
                          <a:solidFill>
                            <a:srgbClr val="FFFFFF"/>
                          </a:solidFill>
                        </a:rPr>
                        <a:t>Orden comercial en el CRM</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b="1" dirty="0">
                          <a:solidFill>
                            <a:srgbClr val="FFFFFF"/>
                          </a:solidFill>
                        </a:rPr>
                        <a:t>3</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r>
              <a:tr h="384048">
                <a:tc>
                  <a:txBody>
                    <a:bodyPr/>
                    <a:lstStyle/>
                    <a:p>
                      <a:pPr algn="ctr" indent="0" marL="0">
                        <a:buNone/>
                      </a:pPr>
                      <a:r>
                        <a:rPr lang="en-US" sz="1300" b="1" dirty="0">
                          <a:solidFill>
                            <a:srgbClr val="FFFFFF"/>
                          </a:solidFill>
                        </a:rPr>
                        <a:t>E5</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indent="0" marL="0">
                        <a:buNone/>
                      </a:pPr>
                      <a:r>
                        <a:rPr lang="en-US" sz="1300" dirty="0">
                          <a:solidFill>
                            <a:srgbClr val="FFFFFF"/>
                          </a:solidFill>
                        </a:rPr>
                        <a:t>Medir y premiar el cumplimiento docente</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b="1" dirty="0">
                          <a:solidFill>
                            <a:srgbClr val="FFFFFF"/>
                          </a:solidFill>
                        </a:rPr>
                        <a:t>3</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r>
              <a:tr h="384048">
                <a:tc>
                  <a:txBody>
                    <a:bodyPr/>
                    <a:lstStyle/>
                    <a:p>
                      <a:pPr algn="ctr" indent="0" marL="0">
                        <a:buNone/>
                      </a:pPr>
                      <a:r>
                        <a:rPr lang="en-US" sz="1300" b="1" dirty="0">
                          <a:solidFill>
                            <a:srgbClr val="FFFFFF"/>
                          </a:solidFill>
                        </a:rPr>
                        <a:t>E7</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indent="0" marL="0">
                        <a:buNone/>
                      </a:pPr>
                      <a:r>
                        <a:rPr lang="en-US" sz="1300" dirty="0">
                          <a:solidFill>
                            <a:srgbClr val="FFFFFF"/>
                          </a:solidFill>
                        </a:rPr>
                        <a:t>Destacar profesor fijo, asesor y reporte</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c>
                  <a:txBody>
                    <a:bodyPr/>
                    <a:lstStyle/>
                    <a:p>
                      <a:pPr algn="ctr" indent="0" marL="0">
                        <a:buNone/>
                      </a:pPr>
                      <a:r>
                        <a:rPr lang="en-US" sz="1300" b="1" dirty="0">
                          <a:solidFill>
                            <a:srgbClr val="FFFFFF"/>
                          </a:solidFill>
                        </a:rPr>
                        <a:t>3</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F3256"/>
                    </a:solidFill>
                  </a:tcPr>
                </a:tc>
              </a:tr>
              <a:tr h="384048">
                <a:tc>
                  <a:txBody>
                    <a:bodyPr/>
                    <a:lstStyle/>
                    <a:p>
                      <a:pPr algn="ctr" indent="0" marL="0">
                        <a:buNone/>
                      </a:pPr>
                      <a:r>
                        <a:rPr lang="en-US" sz="1300" b="1" dirty="0">
                          <a:solidFill>
                            <a:srgbClr val="C9D6DF"/>
                          </a:solidFill>
                        </a:rPr>
                        <a:t>E3</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indent="0" marL="0">
                        <a:buNone/>
                      </a:pPr>
                      <a:r>
                        <a:rPr lang="en-US" sz="1300" dirty="0">
                          <a:solidFill>
                            <a:srgbClr val="C9D6DF"/>
                          </a:solidFill>
                        </a:rPr>
                        <a:t>Familias de otras ciudades</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b="1" dirty="0">
                          <a:solidFill>
                            <a:srgbClr val="C9D6DF"/>
                          </a:solidFill>
                        </a:rPr>
                        <a:t>2</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r>
              <a:tr h="384048">
                <a:tc>
                  <a:txBody>
                    <a:bodyPr/>
                    <a:lstStyle/>
                    <a:p>
                      <a:pPr algn="ctr" indent="0" marL="0">
                        <a:buNone/>
                      </a:pPr>
                      <a:r>
                        <a:rPr lang="en-US" sz="1300" b="1" dirty="0">
                          <a:solidFill>
                            <a:srgbClr val="C9D6DF"/>
                          </a:solidFill>
                        </a:rPr>
                        <a:t>E6</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indent="0" marL="0">
                        <a:buNone/>
                      </a:pPr>
                      <a:r>
                        <a:rPr lang="en-US" sz="1300" dirty="0">
                          <a:solidFill>
                            <a:srgbClr val="C9D6DF"/>
                          </a:solidFill>
                        </a:rPr>
                        <a:t>Alianzas con colegios y empresas</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b="1" dirty="0">
                          <a:solidFill>
                            <a:srgbClr val="C9D6DF"/>
                          </a:solidFill>
                        </a:rPr>
                        <a:t>2</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r>
              <a:tr h="384048">
                <a:tc>
                  <a:txBody>
                    <a:bodyPr/>
                    <a:lstStyle/>
                    <a:p>
                      <a:pPr algn="ctr" indent="0" marL="0">
                        <a:buNone/>
                      </a:pPr>
                      <a:r>
                        <a:rPr lang="en-US" sz="1300" b="1" dirty="0">
                          <a:solidFill>
                            <a:srgbClr val="C9D6DF"/>
                          </a:solidFill>
                        </a:rPr>
                        <a:t>E8</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indent="0" marL="0">
                        <a:buNone/>
                      </a:pPr>
                      <a:r>
                        <a:rPr lang="en-US" sz="1300" dirty="0">
                          <a:solidFill>
                            <a:srgbClr val="C9D6DF"/>
                          </a:solidFill>
                        </a:rPr>
                        <a:t>Línea de carrera docente</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b="1" dirty="0">
                          <a:solidFill>
                            <a:srgbClr val="C9D6DF"/>
                          </a:solidFill>
                        </a:rPr>
                        <a:t>1</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r>
              <a:tr h="384048">
                <a:tc>
                  <a:txBody>
                    <a:bodyPr/>
                    <a:lstStyle/>
                    <a:p>
                      <a:pPr algn="ctr" indent="0" marL="0">
                        <a:buNone/>
                      </a:pPr>
                      <a:r>
                        <a:rPr lang="en-US" sz="1300" b="1" dirty="0">
                          <a:solidFill>
                            <a:srgbClr val="C9D6DF"/>
                          </a:solidFill>
                        </a:rPr>
                        <a:t>E9</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indent="0" marL="0">
                        <a:buNone/>
                      </a:pPr>
                      <a:r>
                        <a:rPr lang="en-US" sz="1300" dirty="0">
                          <a:solidFill>
                            <a:srgbClr val="C9D6DF"/>
                          </a:solidFill>
                        </a:rPr>
                        <a:t>Profesores suplentes</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dirty="0">
                          <a:solidFill>
                            <a:srgbClr val="65C7E8"/>
                          </a:solidFill>
                        </a:rPr>
                        <a:t>●</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c>
                  <a:txBody>
                    <a:bodyPr/>
                    <a:lstStyle/>
                    <a:p>
                      <a:pPr algn="ctr" indent="0" marL="0">
                        <a:buNone/>
                      </a:pPr>
                      <a:r>
                        <a:rPr lang="en-US" sz="1300" b="1" dirty="0">
                          <a:solidFill>
                            <a:srgbClr val="C9D6DF"/>
                          </a:solidFill>
                        </a:rPr>
                        <a:t>1</a:t>
                      </a:r>
                      <a:endParaRPr lang="en-US" sz="1300" dirty="0"/>
                    </a:p>
                  </a:txBody>
                  <a:tcPr marL="91440" marR="91440" marT="45720" marB="45720" anchor="ctr">
                    <a:lnL w="6350" cap="flat" cmpd="sng" algn="ctr">
                      <a:solidFill>
                        <a:srgbClr val="071D36"/>
                      </a:solidFill>
                      <a:prstDash val="solid"/>
                      <a:round/>
                      <a:headEnd type="none" w="med" len="med"/>
                      <a:tailEnd type="none" w="med" len="med"/>
                    </a:lnL>
                    <a:lnR w="6350" cap="flat" cmpd="sng" algn="ctr">
                      <a:solidFill>
                        <a:srgbClr val="071D36"/>
                      </a:solidFill>
                      <a:prstDash val="solid"/>
                      <a:round/>
                      <a:headEnd type="none" w="med" len="med"/>
                      <a:tailEnd type="none" w="med" len="med"/>
                    </a:lnR>
                    <a:lnT w="6350" cap="flat" cmpd="sng" algn="ctr">
                      <a:solidFill>
                        <a:srgbClr val="071D36"/>
                      </a:solidFill>
                      <a:prstDash val="solid"/>
                      <a:round/>
                      <a:headEnd type="none" w="med" len="med"/>
                      <a:tailEnd type="none" w="med" len="med"/>
                    </a:lnT>
                    <a:lnB w="6350" cap="flat" cmpd="sng" algn="ctr">
                      <a:solidFill>
                        <a:srgbClr val="071D36"/>
                      </a:solidFill>
                      <a:prstDash val="solid"/>
                      <a:round/>
                      <a:headEnd type="none" w="med" len="med"/>
                      <a:tailEnd type="none" w="med" len="med"/>
                    </a:lnB>
                    <a:solidFill>
                      <a:srgbClr val="071D36"/>
                    </a:solidFill>
                  </a:tcPr>
                </a:tc>
              </a:tr>
            </a:tbl>
          </a:graphicData>
        </a:graphic>
      </p:graphicFrame>
      <p:sp>
        <p:nvSpPr>
          <p:cNvPr id="5" name="retenidas"/>
          <p:cNvSpPr/>
          <p:nvPr/>
        </p:nvSpPr>
        <p:spPr>
          <a:xfrm>
            <a:off x="8595360" y="1554480"/>
            <a:ext cx="3017520" cy="2011680"/>
          </a:xfrm>
          <a:prstGeom prst="roundRect">
            <a:avLst>
              <a:gd name="adj" fmla="val 3636"/>
            </a:avLst>
          </a:prstGeom>
          <a:solidFill>
            <a:srgbClr val="0F3256"/>
          </a:solidFill>
          <a:ln w="12700">
            <a:solidFill>
              <a:srgbClr val="0F3256"/>
            </a:solidFill>
            <a:prstDash val="solid"/>
          </a:ln>
        </p:spPr>
      </p:sp>
      <p:sp>
        <p:nvSpPr>
          <p:cNvPr id="6" name="Text 3"/>
          <p:cNvSpPr txBox="1"/>
          <p:nvPr/>
        </p:nvSpPr>
        <p:spPr>
          <a:xfrm>
            <a:off x="8823960" y="1737360"/>
            <a:ext cx="2651760" cy="502920"/>
          </a:xfrm>
          <a:prstGeom prst="rect">
            <a:avLst/>
          </a:prstGeom>
          <a:noFill/>
          <a:ln/>
        </p:spPr>
        <p:txBody>
          <a:bodyPr wrap="square" lIns="0" tIns="0" rIns="0" bIns="0" rtlCol="0" anchor="t"/>
          <a:lstStyle/>
          <a:p>
            <a:pPr indent="0" marL="0">
              <a:buNone/>
            </a:pPr>
            <a:r>
              <a:rPr lang="en-US" sz="2600" b="1" dirty="0">
                <a:solidFill>
                  <a:schemeClr val="accent1"/>
                </a:solidFill>
              </a:rPr>
              <a:t>6 retenidas</a:t>
            </a:r>
            <a:endParaRPr lang="en-US" sz="2600" dirty="0"/>
          </a:p>
        </p:txBody>
      </p:sp>
      <p:sp>
        <p:nvSpPr>
          <p:cNvPr id="7" name="Text 4"/>
          <p:cNvSpPr txBox="1"/>
          <p:nvPr/>
        </p:nvSpPr>
        <p:spPr>
          <a:xfrm>
            <a:off x="8823960" y="2331720"/>
            <a:ext cx="2606040" cy="1005840"/>
          </a:xfrm>
          <a:prstGeom prst="rect">
            <a:avLst/>
          </a:prstGeom>
          <a:noFill/>
          <a:ln/>
        </p:spPr>
        <p:txBody>
          <a:bodyPr wrap="square" lIns="0" tIns="0" rIns="0" bIns="0" rtlCol="0" anchor="t"/>
          <a:lstStyle/>
          <a:p>
            <a:pPr indent="0" marL="0">
              <a:buNone/>
            </a:pPr>
            <a:r>
              <a:rPr lang="en-US" sz="1500" dirty="0">
                <a:solidFill>
                  <a:schemeClr val="bg1"/>
                </a:solidFill>
              </a:rPr>
              <a:t>E1, E2, E10, E4, E5 y E7 pasan a la MCPE.</a:t>
            </a:r>
            <a:endParaRPr lang="en-US" sz="1500" dirty="0"/>
          </a:p>
        </p:txBody>
      </p:sp>
      <p:sp>
        <p:nvSpPr>
          <p:cNvPr id="8" name="contingencia"/>
          <p:cNvSpPr/>
          <p:nvPr/>
        </p:nvSpPr>
        <p:spPr>
          <a:xfrm>
            <a:off x="8595360" y="3749040"/>
            <a:ext cx="3017520" cy="2011680"/>
          </a:xfrm>
          <a:prstGeom prst="roundRect">
            <a:avLst>
              <a:gd name="adj" fmla="val 3636"/>
            </a:avLst>
          </a:prstGeom>
          <a:solidFill>
            <a:schemeClr val="tx1"/>
          </a:solidFill>
          <a:ln w="12700">
            <a:solidFill>
              <a:schemeClr val="tx1"/>
            </a:solidFill>
            <a:prstDash val="solid"/>
          </a:ln>
        </p:spPr>
      </p:sp>
      <p:sp>
        <p:nvSpPr>
          <p:cNvPr id="9" name="Text 6"/>
          <p:cNvSpPr txBox="1"/>
          <p:nvPr/>
        </p:nvSpPr>
        <p:spPr>
          <a:xfrm>
            <a:off x="8823960" y="3931920"/>
            <a:ext cx="2651760" cy="457200"/>
          </a:xfrm>
          <a:prstGeom prst="rect">
            <a:avLst/>
          </a:prstGeom>
          <a:noFill/>
          <a:ln/>
        </p:spPr>
        <p:txBody>
          <a:bodyPr wrap="square" lIns="0" tIns="0" rIns="0" bIns="0" rtlCol="0" anchor="t"/>
          <a:lstStyle/>
          <a:p>
            <a:pPr indent="0" marL="0">
              <a:buNone/>
            </a:pPr>
            <a:r>
              <a:rPr lang="en-US" sz="2000" b="1" dirty="0">
                <a:solidFill>
                  <a:schemeClr val="bg1"/>
                </a:solidFill>
              </a:rPr>
              <a:t>4 de contingencia</a:t>
            </a:r>
            <a:endParaRPr lang="en-US" sz="2000" dirty="0"/>
          </a:p>
        </p:txBody>
      </p:sp>
      <p:sp>
        <p:nvSpPr>
          <p:cNvPr id="10" name="Text 7"/>
          <p:cNvSpPr txBox="1"/>
          <p:nvPr/>
        </p:nvSpPr>
        <p:spPr>
          <a:xfrm>
            <a:off x="8823960" y="4480560"/>
            <a:ext cx="2606040" cy="1005840"/>
          </a:xfrm>
          <a:prstGeom prst="rect">
            <a:avLst/>
          </a:prstGeom>
          <a:noFill/>
          <a:ln/>
        </p:spPr>
        <p:txBody>
          <a:bodyPr wrap="square" lIns="0" tIns="0" rIns="0" bIns="0" rtlCol="0" anchor="t"/>
          <a:lstStyle/>
          <a:p>
            <a:pPr indent="0" marL="0">
              <a:buNone/>
            </a:pPr>
            <a:r>
              <a:rPr lang="en-US" sz="1500" dirty="0">
                <a:solidFill>
                  <a:schemeClr val="accent5"/>
                </a:solidFill>
              </a:rPr>
              <a:t>E3, E6, E8 y E9 se usan si las primeras no bastan.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08 / MCPE Y MATRIZ DE ÉTICA</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MCPE y Ética: quedan cuatro estrategias</a:t>
            </a:r>
            <a:endParaRPr lang="en-US" sz="3000" dirty="0"/>
          </a:p>
        </p:txBody>
      </p:sp>
      <p:sp>
        <p:nvSpPr>
          <p:cNvPr id="4" name="marco-mcpe"/>
          <p:cNvSpPr/>
          <p:nvPr/>
        </p:nvSpPr>
        <p:spPr>
          <a:xfrm>
            <a:off x="548640" y="1600200"/>
            <a:ext cx="6035040" cy="4526280"/>
          </a:xfrm>
          <a:prstGeom prst="roundRect">
            <a:avLst>
              <a:gd name="adj" fmla="val 1616"/>
            </a:avLst>
          </a:prstGeom>
          <a:solidFill>
            <a:schemeClr val="bg1"/>
          </a:solidFill>
          <a:ln w="12700">
            <a:solidFill>
              <a:schemeClr val="bg1"/>
            </a:solidFill>
            <a:prstDash val="solid"/>
          </a:ln>
        </p:spPr>
      </p:sp>
      <p:sp>
        <p:nvSpPr>
          <p:cNvPr id="5" name="Text 3"/>
          <p:cNvSpPr txBox="1"/>
          <p:nvPr/>
        </p:nvSpPr>
        <p:spPr>
          <a:xfrm>
            <a:off x="777240" y="1755648"/>
            <a:ext cx="5577840"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MCPE · TOTAL DE 2 A 8, DESDE 5 ES ACEPTABLE</a:t>
            </a:r>
            <a:endParaRPr lang="en-US" sz="1000" dirty="0"/>
          </a:p>
        </p:txBody>
      </p:sp>
      <p:graphicFrame>
        <p:nvGraphicFramePr>
          <p:cNvPr id="6" name="grafico-mcpe" descr=""/>
          <p:cNvGraphicFramePr/>
          <p:nvPr/>
        </p:nvGraphicFramePr>
        <p:xfrm>
          <a:off x="685800" y="2057400"/>
          <a:ext cx="5760720" cy="3977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949440" y="1600200"/>
            <a:ext cx="4663440"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MATRIZ DE ÉTICA · LAS CUATRO SE ACEPTAN</a:t>
            </a:r>
            <a:endParaRPr lang="en-US" sz="1000" dirty="0"/>
          </a:p>
        </p:txBody>
      </p:sp>
      <p:sp>
        <p:nvSpPr>
          <p:cNvPr id="8" name="etica-E5"/>
          <p:cNvSpPr/>
          <p:nvPr/>
        </p:nvSpPr>
        <p:spPr>
          <a:xfrm>
            <a:off x="6949440" y="1965960"/>
            <a:ext cx="4663440" cy="914400"/>
          </a:xfrm>
          <a:prstGeom prst="roundRect">
            <a:avLst>
              <a:gd name="adj" fmla="val 8000"/>
            </a:avLst>
          </a:prstGeom>
          <a:solidFill>
            <a:schemeClr val="bg1"/>
          </a:solidFill>
          <a:ln w="12700">
            <a:solidFill>
              <a:schemeClr val="bg1"/>
            </a:solidFill>
            <a:prstDash val="solid"/>
          </a:ln>
        </p:spPr>
      </p:sp>
      <p:sp>
        <p:nvSpPr>
          <p:cNvPr id="9" name="codigo-E5"/>
          <p:cNvSpPr/>
          <p:nvPr/>
        </p:nvSpPr>
        <p:spPr>
          <a:xfrm>
            <a:off x="7132320" y="2121408"/>
            <a:ext cx="603504" cy="603504"/>
          </a:xfrm>
          <a:prstGeom prst="ellipse">
            <a:avLst/>
          </a:prstGeom>
          <a:solidFill>
            <a:schemeClr val="tx2"/>
          </a:solidFill>
          <a:ln w="12700">
            <a:solidFill>
              <a:schemeClr val="tx2"/>
            </a:solidFill>
            <a:prstDash val="solid"/>
          </a:ln>
        </p:spPr>
      </p:sp>
      <p:sp>
        <p:nvSpPr>
          <p:cNvPr id="10" name="Text 7"/>
          <p:cNvSpPr txBox="1"/>
          <p:nvPr/>
        </p:nvSpPr>
        <p:spPr>
          <a:xfrm>
            <a:off x="7132320" y="2121408"/>
            <a:ext cx="603504" cy="603504"/>
          </a:xfrm>
          <a:prstGeom prst="rect">
            <a:avLst/>
          </a:prstGeom>
          <a:noFill/>
          <a:ln/>
        </p:spPr>
        <p:txBody>
          <a:bodyPr wrap="square" lIns="0" tIns="0" rIns="0" bIns="0" rtlCol="0" anchor="ctr"/>
          <a:lstStyle/>
          <a:p>
            <a:pPr algn="ctr" indent="0" marL="0">
              <a:buNone/>
            </a:pPr>
            <a:r>
              <a:rPr lang="en-US" sz="1300" b="1" dirty="0">
                <a:solidFill>
                  <a:schemeClr val="accent1"/>
                </a:solidFill>
              </a:rPr>
              <a:t>E5</a:t>
            </a:r>
            <a:endParaRPr lang="en-US" sz="1300" dirty="0"/>
          </a:p>
        </p:txBody>
      </p:sp>
      <p:sp>
        <p:nvSpPr>
          <p:cNvPr id="11" name="Text 8"/>
          <p:cNvSpPr txBox="1"/>
          <p:nvPr/>
        </p:nvSpPr>
        <p:spPr>
          <a:xfrm>
            <a:off x="7909560" y="2075688"/>
            <a:ext cx="3566160" cy="713232"/>
          </a:xfrm>
          <a:prstGeom prst="rect">
            <a:avLst/>
          </a:prstGeom>
          <a:noFill/>
          <a:ln/>
        </p:spPr>
        <p:txBody>
          <a:bodyPr wrap="square" lIns="0" tIns="0" rIns="0" bIns="0" rtlCol="0" anchor="ctr"/>
          <a:lstStyle/>
          <a:p>
            <a:pPr indent="0" marL="0">
              <a:buNone/>
            </a:pPr>
            <a:r>
              <a:rPr lang="en-US" sz="1300" dirty="0">
                <a:solidFill>
                  <a:schemeClr val="tx1"/>
                </a:solidFill>
              </a:rPr>
              <a:t>Promueve el debido proceso y es justa: misma regla de bono para todos.</a:t>
            </a:r>
            <a:endParaRPr lang="en-US" sz="1300" dirty="0"/>
          </a:p>
        </p:txBody>
      </p:sp>
      <p:sp>
        <p:nvSpPr>
          <p:cNvPr id="12" name="etica-E10"/>
          <p:cNvSpPr/>
          <p:nvPr/>
        </p:nvSpPr>
        <p:spPr>
          <a:xfrm>
            <a:off x="6949440" y="3017520"/>
            <a:ext cx="4663440" cy="914400"/>
          </a:xfrm>
          <a:prstGeom prst="roundRect">
            <a:avLst>
              <a:gd name="adj" fmla="val 8000"/>
            </a:avLst>
          </a:prstGeom>
          <a:solidFill>
            <a:schemeClr val="bg1"/>
          </a:solidFill>
          <a:ln w="12700">
            <a:solidFill>
              <a:schemeClr val="bg1"/>
            </a:solidFill>
            <a:prstDash val="solid"/>
          </a:ln>
        </p:spPr>
      </p:sp>
      <p:sp>
        <p:nvSpPr>
          <p:cNvPr id="13" name="codigo-E10"/>
          <p:cNvSpPr/>
          <p:nvPr/>
        </p:nvSpPr>
        <p:spPr>
          <a:xfrm>
            <a:off x="7132320" y="3172968"/>
            <a:ext cx="603504" cy="603504"/>
          </a:xfrm>
          <a:prstGeom prst="ellipse">
            <a:avLst/>
          </a:prstGeom>
          <a:solidFill>
            <a:schemeClr val="tx2"/>
          </a:solidFill>
          <a:ln w="12700">
            <a:solidFill>
              <a:schemeClr val="tx2"/>
            </a:solidFill>
            <a:prstDash val="solid"/>
          </a:ln>
        </p:spPr>
      </p:sp>
      <p:sp>
        <p:nvSpPr>
          <p:cNvPr id="14" name="Text 11"/>
          <p:cNvSpPr txBox="1"/>
          <p:nvPr/>
        </p:nvSpPr>
        <p:spPr>
          <a:xfrm>
            <a:off x="7132320" y="3172968"/>
            <a:ext cx="603504" cy="603504"/>
          </a:xfrm>
          <a:prstGeom prst="rect">
            <a:avLst/>
          </a:prstGeom>
          <a:noFill/>
          <a:ln/>
        </p:spPr>
        <p:txBody>
          <a:bodyPr wrap="square" lIns="0" tIns="0" rIns="0" bIns="0" rtlCol="0" anchor="ctr"/>
          <a:lstStyle/>
          <a:p>
            <a:pPr algn="ctr" indent="0" marL="0">
              <a:buNone/>
            </a:pPr>
            <a:r>
              <a:rPr lang="en-US" sz="1300" b="1" dirty="0">
                <a:solidFill>
                  <a:schemeClr val="accent1"/>
                </a:solidFill>
              </a:rPr>
              <a:t>E10</a:t>
            </a:r>
            <a:endParaRPr lang="en-US" sz="1300" dirty="0"/>
          </a:p>
        </p:txBody>
      </p:sp>
      <p:sp>
        <p:nvSpPr>
          <p:cNvPr id="15" name="Text 12"/>
          <p:cNvSpPr txBox="1"/>
          <p:nvPr/>
        </p:nvSpPr>
        <p:spPr>
          <a:xfrm>
            <a:off x="7909560" y="3127248"/>
            <a:ext cx="3566160" cy="713232"/>
          </a:xfrm>
          <a:prstGeom prst="rect">
            <a:avLst/>
          </a:prstGeom>
          <a:noFill/>
          <a:ln/>
        </p:spPr>
        <p:txBody>
          <a:bodyPr wrap="square" lIns="0" tIns="0" rIns="0" bIns="0" rtlCol="0" anchor="ctr"/>
          <a:lstStyle/>
          <a:p>
            <a:pPr indent="0" marL="0">
              <a:buNone/>
            </a:pPr>
            <a:r>
              <a:rPr lang="en-US" sz="1300" dirty="0">
                <a:solidFill>
                  <a:schemeClr val="tx1"/>
                </a:solidFill>
              </a:rPr>
              <a:t>Justa en la distribución: llega a familias que no pagan una clase individual.</a:t>
            </a:r>
            <a:endParaRPr lang="en-US" sz="1300" dirty="0"/>
          </a:p>
        </p:txBody>
      </p:sp>
      <p:sp>
        <p:nvSpPr>
          <p:cNvPr id="16" name="etica-E1"/>
          <p:cNvSpPr/>
          <p:nvPr/>
        </p:nvSpPr>
        <p:spPr>
          <a:xfrm>
            <a:off x="6949440" y="4069080"/>
            <a:ext cx="4663440" cy="914400"/>
          </a:xfrm>
          <a:prstGeom prst="roundRect">
            <a:avLst>
              <a:gd name="adj" fmla="val 8000"/>
            </a:avLst>
          </a:prstGeom>
          <a:solidFill>
            <a:schemeClr val="bg1"/>
          </a:solidFill>
          <a:ln w="12700">
            <a:solidFill>
              <a:schemeClr val="bg1"/>
            </a:solidFill>
            <a:prstDash val="solid"/>
          </a:ln>
        </p:spPr>
      </p:sp>
      <p:sp>
        <p:nvSpPr>
          <p:cNvPr id="17" name="codigo-E1"/>
          <p:cNvSpPr/>
          <p:nvPr/>
        </p:nvSpPr>
        <p:spPr>
          <a:xfrm>
            <a:off x="7132320" y="4224528"/>
            <a:ext cx="603504" cy="603504"/>
          </a:xfrm>
          <a:prstGeom prst="ellipse">
            <a:avLst/>
          </a:prstGeom>
          <a:solidFill>
            <a:schemeClr val="tx2"/>
          </a:solidFill>
          <a:ln w="12700">
            <a:solidFill>
              <a:schemeClr val="tx2"/>
            </a:solidFill>
            <a:prstDash val="solid"/>
          </a:ln>
        </p:spPr>
      </p:sp>
      <p:sp>
        <p:nvSpPr>
          <p:cNvPr id="18" name="Text 15"/>
          <p:cNvSpPr txBox="1"/>
          <p:nvPr/>
        </p:nvSpPr>
        <p:spPr>
          <a:xfrm>
            <a:off x="7132320" y="4224528"/>
            <a:ext cx="603504" cy="603504"/>
          </a:xfrm>
          <a:prstGeom prst="rect">
            <a:avLst/>
          </a:prstGeom>
          <a:noFill/>
          <a:ln/>
        </p:spPr>
        <p:txBody>
          <a:bodyPr wrap="square" lIns="0" tIns="0" rIns="0" bIns="0" rtlCol="0" anchor="ctr"/>
          <a:lstStyle/>
          <a:p>
            <a:pPr algn="ctr" indent="0" marL="0">
              <a:buNone/>
            </a:pPr>
            <a:r>
              <a:rPr lang="en-US" sz="1300" b="1" dirty="0">
                <a:solidFill>
                  <a:schemeClr val="accent1"/>
                </a:solidFill>
              </a:rPr>
              <a:t>E1</a:t>
            </a:r>
            <a:endParaRPr lang="en-US" sz="1300" dirty="0"/>
          </a:p>
        </p:txBody>
      </p:sp>
      <p:sp>
        <p:nvSpPr>
          <p:cNvPr id="19" name="Text 16"/>
          <p:cNvSpPr txBox="1"/>
          <p:nvPr/>
        </p:nvSpPr>
        <p:spPr>
          <a:xfrm>
            <a:off x="7909560" y="4178808"/>
            <a:ext cx="3566160" cy="713232"/>
          </a:xfrm>
          <a:prstGeom prst="rect">
            <a:avLst/>
          </a:prstGeom>
          <a:noFill/>
          <a:ln/>
        </p:spPr>
        <p:txBody>
          <a:bodyPr wrap="square" lIns="0" tIns="0" rIns="0" bIns="0" rtlCol="0" anchor="ctr"/>
          <a:lstStyle/>
          <a:p>
            <a:pPr indent="0" marL="0">
              <a:buNone/>
            </a:pPr>
            <a:r>
              <a:rPr lang="en-US" sz="1300" dirty="0">
                <a:solidFill>
                  <a:schemeClr val="tx1"/>
                </a:solidFill>
              </a:rPr>
              <a:t>Justa en la distribución: acerca el refuerzo a más familias.</a:t>
            </a:r>
            <a:endParaRPr lang="en-US" sz="1300" dirty="0"/>
          </a:p>
        </p:txBody>
      </p:sp>
      <p:sp>
        <p:nvSpPr>
          <p:cNvPr id="20" name="etica-E2"/>
          <p:cNvSpPr/>
          <p:nvPr/>
        </p:nvSpPr>
        <p:spPr>
          <a:xfrm>
            <a:off x="6949440" y="5120640"/>
            <a:ext cx="4663440" cy="914400"/>
          </a:xfrm>
          <a:prstGeom prst="roundRect">
            <a:avLst>
              <a:gd name="adj" fmla="val 8000"/>
            </a:avLst>
          </a:prstGeom>
          <a:solidFill>
            <a:schemeClr val="accent3"/>
          </a:solidFill>
          <a:ln w="12700">
            <a:solidFill>
              <a:schemeClr val="accent3"/>
            </a:solidFill>
            <a:prstDash val="solid"/>
          </a:ln>
        </p:spPr>
      </p:sp>
      <p:sp>
        <p:nvSpPr>
          <p:cNvPr id="21" name="codigo-E2"/>
          <p:cNvSpPr/>
          <p:nvPr/>
        </p:nvSpPr>
        <p:spPr>
          <a:xfrm>
            <a:off x="7132320" y="5276088"/>
            <a:ext cx="603504" cy="603504"/>
          </a:xfrm>
          <a:prstGeom prst="ellipse">
            <a:avLst/>
          </a:prstGeom>
          <a:solidFill>
            <a:schemeClr val="tx2"/>
          </a:solidFill>
          <a:ln w="12700">
            <a:solidFill>
              <a:schemeClr val="tx2"/>
            </a:solidFill>
            <a:prstDash val="solid"/>
          </a:ln>
        </p:spPr>
      </p:sp>
      <p:sp>
        <p:nvSpPr>
          <p:cNvPr id="22" name="Text 19"/>
          <p:cNvSpPr txBox="1"/>
          <p:nvPr/>
        </p:nvSpPr>
        <p:spPr>
          <a:xfrm>
            <a:off x="7132320" y="5276088"/>
            <a:ext cx="603504" cy="603504"/>
          </a:xfrm>
          <a:prstGeom prst="rect">
            <a:avLst/>
          </a:prstGeom>
          <a:noFill/>
          <a:ln/>
        </p:spPr>
        <p:txBody>
          <a:bodyPr wrap="square" lIns="0" tIns="0" rIns="0" bIns="0" rtlCol="0" anchor="ctr"/>
          <a:lstStyle/>
          <a:p>
            <a:pPr algn="ctr" indent="0" marL="0">
              <a:buNone/>
            </a:pPr>
            <a:r>
              <a:rPr lang="en-US" sz="1300" b="1" dirty="0">
                <a:solidFill>
                  <a:schemeClr val="accent1"/>
                </a:solidFill>
              </a:rPr>
              <a:t>E2</a:t>
            </a:r>
            <a:endParaRPr lang="en-US" sz="1300" dirty="0"/>
          </a:p>
        </p:txBody>
      </p:sp>
      <p:sp>
        <p:nvSpPr>
          <p:cNvPr id="23" name="Text 20"/>
          <p:cNvSpPr txBox="1"/>
          <p:nvPr/>
        </p:nvSpPr>
        <p:spPr>
          <a:xfrm>
            <a:off x="7909560" y="5230368"/>
            <a:ext cx="3566160" cy="713232"/>
          </a:xfrm>
          <a:prstGeom prst="rect">
            <a:avLst/>
          </a:prstGeom>
          <a:noFill/>
          <a:ln/>
        </p:spPr>
        <p:txBody>
          <a:bodyPr wrap="square" lIns="0" tIns="0" rIns="0" bIns="0" rtlCol="0" anchor="ctr"/>
          <a:lstStyle/>
          <a:p>
            <a:pPr indent="0" marL="0">
              <a:buNone/>
            </a:pPr>
            <a:r>
              <a:rPr lang="en-US" sz="1300" dirty="0">
                <a:solidFill>
                  <a:schemeClr val="tx1"/>
                </a:solidFill>
              </a:rPr>
              <a:t>Neutral en privacidad solo con autorización de los padres.</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09 / CONCLUSIONES</a:t>
            </a:r>
            <a:endParaRPr lang="en-US" sz="1100" dirty="0"/>
          </a:p>
        </p:txBody>
      </p:sp>
      <p:sp>
        <p:nvSpPr>
          <p:cNvPr id="3" name="Text 1"/>
          <p:cNvSpPr/>
          <p:nvPr>
            <p:ph idx="101" type="title" hasCustomPrompt="1"/>
          </p:nvPr>
        </p:nvSpPr>
        <p:spPr>
          <a:xfrm>
            <a:off x="548640" y="658368"/>
            <a:ext cx="11064240" cy="685800"/>
          </a:xfrm>
          <a:prstGeom prst="rect">
            <a:avLst/>
          </a:prstGeom>
          <a:noFill/>
          <a:ln/>
        </p:spPr>
        <p:txBody>
          <a:bodyPr wrap="square" lIns="0" tIns="0" rIns="0" bIns="0" rtlCol="0" anchor="t"/>
          <a:lstStyle/>
          <a:p>
            <a:pPr algn="l" indent="0" marL="0">
              <a:buNone/>
            </a:pPr>
            <a:r>
              <a:rPr lang="en-US" sz="3000" b="1" dirty="0">
                <a:solidFill>
                  <a:schemeClr val="bg1"/>
                </a:solidFill>
              </a:rPr>
              <a:t>El primer paso es que los profesores cumplan</a:t>
            </a:r>
            <a:endParaRPr lang="en-US" sz="3000" dirty="0"/>
          </a:p>
        </p:txBody>
      </p:sp>
      <p:sp>
        <p:nvSpPr>
          <p:cNvPr id="4" name="paso-1"/>
          <p:cNvSpPr/>
          <p:nvPr/>
        </p:nvSpPr>
        <p:spPr>
          <a:xfrm>
            <a:off x="548640" y="1600200"/>
            <a:ext cx="594360" cy="594360"/>
          </a:xfrm>
          <a:prstGeom prst="ellipse">
            <a:avLst/>
          </a:prstGeom>
          <a:solidFill>
            <a:schemeClr val="accent1"/>
          </a:solidFill>
          <a:ln w="12700">
            <a:solidFill>
              <a:schemeClr val="accent1"/>
            </a:solidFill>
            <a:prstDash val="solid"/>
          </a:ln>
        </p:spPr>
      </p:sp>
      <p:sp>
        <p:nvSpPr>
          <p:cNvPr id="5" name="Text 3"/>
          <p:cNvSpPr txBox="1"/>
          <p:nvPr/>
        </p:nvSpPr>
        <p:spPr>
          <a:xfrm>
            <a:off x="548640" y="1600200"/>
            <a:ext cx="594360" cy="59436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Text 4"/>
          <p:cNvSpPr txBox="1"/>
          <p:nvPr/>
        </p:nvSpPr>
        <p:spPr>
          <a:xfrm>
            <a:off x="1325880" y="1709928"/>
            <a:ext cx="5669280" cy="411480"/>
          </a:xfrm>
          <a:prstGeom prst="rect">
            <a:avLst/>
          </a:prstGeom>
          <a:noFill/>
          <a:ln/>
        </p:spPr>
        <p:txBody>
          <a:bodyPr wrap="square" lIns="0" tIns="0" rIns="0" bIns="0" rtlCol="0" anchor="t"/>
          <a:lstStyle/>
          <a:p>
            <a:pPr indent="0" marL="0">
              <a:buNone/>
            </a:pPr>
            <a:r>
              <a:rPr lang="en-US" sz="1800" b="1" dirty="0">
                <a:solidFill>
                  <a:schemeClr val="accent1"/>
                </a:solidFill>
              </a:rPr>
              <a:t>E5  </a:t>
            </a:r>
            <a:pPr indent="0" marL="0">
              <a:buNone/>
            </a:pPr>
            <a:r>
              <a:rPr lang="en-US" sz="1800" dirty="0">
                <a:solidFill>
                  <a:schemeClr val="bg1"/>
                </a:solidFill>
              </a:rPr>
              <a:t>Medir y premiar el cumplimiento docente</a:t>
            </a:r>
            <a:endParaRPr lang="en-US" sz="1800" dirty="0"/>
          </a:p>
        </p:txBody>
      </p:sp>
      <p:sp>
        <p:nvSpPr>
          <p:cNvPr id="7" name="paso-2"/>
          <p:cNvSpPr/>
          <p:nvPr/>
        </p:nvSpPr>
        <p:spPr>
          <a:xfrm>
            <a:off x="548640" y="2377440"/>
            <a:ext cx="594360" cy="594360"/>
          </a:xfrm>
          <a:prstGeom prst="ellipse">
            <a:avLst/>
          </a:prstGeom>
          <a:solidFill>
            <a:schemeClr val="accent1"/>
          </a:solidFill>
          <a:ln w="12700">
            <a:solidFill>
              <a:schemeClr val="accent1"/>
            </a:solidFill>
            <a:prstDash val="solid"/>
          </a:ln>
        </p:spPr>
      </p:sp>
      <p:sp>
        <p:nvSpPr>
          <p:cNvPr id="8"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9" name="Text 7"/>
          <p:cNvSpPr txBox="1"/>
          <p:nvPr/>
        </p:nvSpPr>
        <p:spPr>
          <a:xfrm>
            <a:off x="1325880" y="2487168"/>
            <a:ext cx="5669280" cy="411480"/>
          </a:xfrm>
          <a:prstGeom prst="rect">
            <a:avLst/>
          </a:prstGeom>
          <a:noFill/>
          <a:ln/>
        </p:spPr>
        <p:txBody>
          <a:bodyPr wrap="square" lIns="0" tIns="0" rIns="0" bIns="0" rtlCol="0" anchor="t"/>
          <a:lstStyle/>
          <a:p>
            <a:pPr indent="0" marL="0">
              <a:buNone/>
            </a:pPr>
            <a:r>
              <a:rPr lang="en-US" sz="1800" b="1" dirty="0">
                <a:solidFill>
                  <a:schemeClr val="accent1"/>
                </a:solidFill>
              </a:rPr>
              <a:t>E10  </a:t>
            </a:r>
            <a:pPr indent="0" marL="0">
              <a:buNone/>
            </a:pPr>
            <a:r>
              <a:rPr lang="en-US" sz="1800" dirty="0">
                <a:solidFill>
                  <a:schemeClr val="bg1"/>
                </a:solidFill>
              </a:rPr>
              <a:t>Grupos de tres o cuatro alumnos</a:t>
            </a:r>
            <a:endParaRPr lang="en-US" sz="1800" dirty="0"/>
          </a:p>
        </p:txBody>
      </p:sp>
      <p:sp>
        <p:nvSpPr>
          <p:cNvPr id="10" name="paso-3"/>
          <p:cNvSpPr/>
          <p:nvPr/>
        </p:nvSpPr>
        <p:spPr>
          <a:xfrm>
            <a:off x="548640" y="3154680"/>
            <a:ext cx="594360" cy="594360"/>
          </a:xfrm>
          <a:prstGeom prst="ellipse">
            <a:avLst/>
          </a:prstGeom>
          <a:solidFill>
            <a:schemeClr val="accent1"/>
          </a:solidFill>
          <a:ln w="12700">
            <a:solidFill>
              <a:schemeClr val="accent1"/>
            </a:solidFill>
            <a:prstDash val="solid"/>
          </a:ln>
        </p:spPr>
      </p:sp>
      <p:sp>
        <p:nvSpPr>
          <p:cNvPr id="11" name="Text 9"/>
          <p:cNvSpPr txBox="1"/>
          <p:nvPr/>
        </p:nvSpPr>
        <p:spPr>
          <a:xfrm>
            <a:off x="548640" y="3154680"/>
            <a:ext cx="594360" cy="59436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2" name="Text 10"/>
          <p:cNvSpPr txBox="1"/>
          <p:nvPr/>
        </p:nvSpPr>
        <p:spPr>
          <a:xfrm>
            <a:off x="1325880" y="3264408"/>
            <a:ext cx="5669280" cy="411480"/>
          </a:xfrm>
          <a:prstGeom prst="rect">
            <a:avLst/>
          </a:prstGeom>
          <a:noFill/>
          <a:ln/>
        </p:spPr>
        <p:txBody>
          <a:bodyPr wrap="square" lIns="0" tIns="0" rIns="0" bIns="0" rtlCol="0" anchor="t"/>
          <a:lstStyle/>
          <a:p>
            <a:pPr indent="0" marL="0">
              <a:buNone/>
            </a:pPr>
            <a:r>
              <a:rPr lang="en-US" sz="1800" b="1" dirty="0">
                <a:solidFill>
                  <a:schemeClr val="accent1"/>
                </a:solidFill>
              </a:rPr>
              <a:t>E1  </a:t>
            </a:r>
            <a:pPr indent="0" marL="0">
              <a:buNone/>
            </a:pPr>
            <a:r>
              <a:rPr lang="en-US" sz="1800" dirty="0">
                <a:solidFill>
                  <a:schemeClr val="bg1"/>
                </a:solidFill>
              </a:rPr>
              <a:t>Nivelación por grado escolar</a:t>
            </a:r>
            <a:endParaRPr lang="en-US" sz="1800" dirty="0"/>
          </a:p>
        </p:txBody>
      </p:sp>
      <p:sp>
        <p:nvSpPr>
          <p:cNvPr id="13" name="paso-4"/>
          <p:cNvSpPr/>
          <p:nvPr/>
        </p:nvSpPr>
        <p:spPr>
          <a:xfrm>
            <a:off x="548640" y="3931920"/>
            <a:ext cx="594360" cy="594360"/>
          </a:xfrm>
          <a:prstGeom prst="ellipse">
            <a:avLst/>
          </a:prstGeom>
          <a:solidFill>
            <a:schemeClr val="accent1"/>
          </a:solidFill>
          <a:ln w="12700">
            <a:solidFill>
              <a:schemeClr val="accent1"/>
            </a:solidFill>
            <a:prstDash val="solid"/>
          </a:ln>
        </p:spPr>
      </p:sp>
      <p:sp>
        <p:nvSpPr>
          <p:cNvPr id="14" name="Text 12"/>
          <p:cNvSpPr txBox="1"/>
          <p:nvPr/>
        </p:nvSpPr>
        <p:spPr>
          <a:xfrm>
            <a:off x="548640" y="3931920"/>
            <a:ext cx="594360" cy="59436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15" name="Text 13"/>
          <p:cNvSpPr txBox="1"/>
          <p:nvPr/>
        </p:nvSpPr>
        <p:spPr>
          <a:xfrm>
            <a:off x="1325880" y="4041648"/>
            <a:ext cx="5669280" cy="411480"/>
          </a:xfrm>
          <a:prstGeom prst="rect">
            <a:avLst/>
          </a:prstGeom>
          <a:noFill/>
          <a:ln/>
        </p:spPr>
        <p:txBody>
          <a:bodyPr wrap="square" lIns="0" tIns="0" rIns="0" bIns="0" rtlCol="0" anchor="t"/>
          <a:lstStyle/>
          <a:p>
            <a:pPr indent="0" marL="0">
              <a:buNone/>
            </a:pPr>
            <a:r>
              <a:rPr lang="en-US" sz="1800" b="1" dirty="0">
                <a:solidFill>
                  <a:schemeClr val="accent1"/>
                </a:solidFill>
              </a:rPr>
              <a:t>E2  </a:t>
            </a:r>
            <a:pPr indent="0" marL="0">
              <a:buNone/>
            </a:pPr>
            <a:r>
              <a:rPr lang="en-US" sz="1800" dirty="0">
                <a:solidFill>
                  <a:schemeClr val="bg1"/>
                </a:solidFill>
              </a:rPr>
              <a:t>Campañas y diagnóstico gratuito</a:t>
            </a:r>
            <a:endParaRPr lang="en-US" sz="1800" dirty="0"/>
          </a:p>
        </p:txBody>
      </p:sp>
      <p:sp>
        <p:nvSpPr>
          <p:cNvPr id="16" name="cierre"/>
          <p:cNvSpPr/>
          <p:nvPr/>
        </p:nvSpPr>
        <p:spPr>
          <a:xfrm>
            <a:off x="7315200" y="1600200"/>
            <a:ext cx="4297680" cy="2971800"/>
          </a:xfrm>
          <a:prstGeom prst="roundRect">
            <a:avLst>
              <a:gd name="adj" fmla="val 2462"/>
            </a:avLst>
          </a:prstGeom>
          <a:solidFill>
            <a:srgbClr val="0F3256"/>
          </a:solidFill>
          <a:ln w="12700">
            <a:solidFill>
              <a:srgbClr val="0F3256"/>
            </a:solidFill>
            <a:prstDash val="solid"/>
          </a:ln>
        </p:spPr>
      </p:sp>
      <p:sp>
        <p:nvSpPr>
          <p:cNvPr id="17" name="Text 15"/>
          <p:cNvSpPr txBox="1"/>
          <p:nvPr/>
        </p:nvSpPr>
        <p:spPr>
          <a:xfrm>
            <a:off x="7589520" y="1783080"/>
            <a:ext cx="3749040" cy="365760"/>
          </a:xfrm>
          <a:prstGeom prst="rect">
            <a:avLst/>
          </a:prstGeom>
          <a:noFill/>
          <a:ln/>
        </p:spPr>
        <p:txBody>
          <a:bodyPr wrap="square" lIns="0" tIns="0" rIns="0" bIns="0" rtlCol="0" anchor="t"/>
          <a:lstStyle/>
          <a:p>
            <a:pPr indent="0" marL="0">
              <a:buNone/>
            </a:pPr>
            <a:r>
              <a:rPr lang="en-US" sz="1800" b="1" dirty="0">
                <a:solidFill>
                  <a:schemeClr val="accent1"/>
                </a:solidFill>
              </a:rPr>
              <a:t>Por qué E5 primero</a:t>
            </a:r>
            <a:endParaRPr lang="en-US" sz="1800" dirty="0"/>
          </a:p>
        </p:txBody>
      </p:sp>
      <p:sp>
        <p:nvSpPr>
          <p:cNvPr id="18" name="Text 16"/>
          <p:cNvSpPr txBox="1"/>
          <p:nvPr/>
        </p:nvSpPr>
        <p:spPr>
          <a:xfrm>
            <a:off x="7589520" y="2240280"/>
            <a:ext cx="3794760" cy="2194560"/>
          </a:xfrm>
          <a:prstGeom prst="rect">
            <a:avLst/>
          </a:prstGeom>
          <a:noFill/>
          <a:ln/>
        </p:spPr>
        <p:txBody>
          <a:bodyPr wrap="square" lIns="0" tIns="0" rIns="0" bIns="0" rtlCol="0" anchor="t"/>
          <a:lstStyle/>
          <a:p>
            <a:pPr indent="0" marL="0">
              <a:buNone/>
            </a:pPr>
            <a:r>
              <a:rPr lang="en-US" sz="1500" dirty="0">
                <a:solidFill>
                  <a:schemeClr val="bg1"/>
                </a:solidFill>
              </a:rPr>
              <a:t>Las demás estrategias solo funcionan si el profesor cumple. Juntas apuntan a volver a unos 500 alumnos en octubre y noviembre de 2028.</a:t>
            </a:r>
            <a:endParaRPr lang="en-US" sz="1500" dirty="0"/>
          </a:p>
        </p:txBody>
      </p:sp>
      <p:sp>
        <p:nvSpPr>
          <p:cNvPr id="19" name="Text 17"/>
          <p:cNvSpPr txBox="1"/>
          <p:nvPr/>
        </p:nvSpPr>
        <p:spPr>
          <a:xfrm>
            <a:off x="548640" y="4846320"/>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REFERENCIAS</a:t>
            </a:r>
            <a:endParaRPr lang="en-US" sz="1000" dirty="0"/>
          </a:p>
        </p:txBody>
      </p:sp>
      <p:sp>
        <p:nvSpPr>
          <p:cNvPr id="20" name="Text 18"/>
          <p:cNvSpPr txBox="1"/>
          <p:nvPr/>
        </p:nvSpPr>
        <p:spPr>
          <a:xfrm>
            <a:off x="548640" y="5120640"/>
            <a:ext cx="11064240" cy="1097280"/>
          </a:xfrm>
          <a:prstGeom prst="rect">
            <a:avLst/>
          </a:prstGeom>
          <a:noFill/>
          <a:ln/>
        </p:spPr>
        <p:txBody>
          <a:bodyPr wrap="square" lIns="0" tIns="0" rIns="0" bIns="0" rtlCol="0" anchor="t"/>
          <a:lstStyle/>
          <a:p>
            <a:pPr indent="0" marL="0">
              <a:spcAft>
                <a:spcPts val="200"/>
              </a:spcAft>
              <a:buNone/>
            </a:pPr>
            <a:r>
              <a:rPr lang="en-US" sz="1000" dirty="0">
                <a:solidFill>
                  <a:schemeClr val="accent5"/>
                </a:solidFill>
              </a:rPr>
              <a:t>David, F. R. (2017). Conceptos de administración estratégica (15.ª ed.). Pearson Educación.</a:t>
            </a:r>
            <a:endParaRPr lang="en-US" sz="1000" dirty="0"/>
          </a:p>
          <a:p>
            <a:pPr indent="0" marL="0">
              <a:spcAft>
                <a:spcPts val="200"/>
              </a:spcAft>
              <a:buNone/>
            </a:pPr>
            <a:r>
              <a:rPr lang="en-US" sz="1000" dirty="0">
                <a:solidFill>
                  <a:schemeClr val="accent5"/>
                </a:solidFill>
              </a:rPr>
              <a:t>Forbes Perú. (2026, 20 de mayo). Hogares peruanos con acceso a internet fijo o móvil se elevó a 96 % en el 2025, según Erestel. https://forbes.pe/actualidad/2026-05-20/hogares-peruanos-con-acceso-a-internet-fijo-o-movil-se-elevo-a-96-en-el-2025-segun-erestel/</a:t>
            </a:r>
            <a:endParaRPr lang="en-US" sz="1000" dirty="0"/>
          </a:p>
          <a:p>
            <a:pPr indent="0" marL="0">
              <a:spcAft>
                <a:spcPts val="200"/>
              </a:spcAft>
              <a:buNone/>
            </a:pPr>
            <a:r>
              <a:rPr lang="en-US" sz="1000" dirty="0">
                <a:solidFill>
                  <a:schemeClr val="accent5"/>
                </a:solidFill>
              </a:rPr>
              <a:t>MatLab Perú. (s. f.). Inicio [Sitio web]. https://matlab.com.pe/</a:t>
            </a:r>
            <a:endParaRPr lang="en-US" sz="1000" dirty="0"/>
          </a:p>
          <a:p>
            <a:pPr indent="0" marL="0">
              <a:spcAft>
                <a:spcPts val="200"/>
              </a:spcAft>
              <a:buNone/>
            </a:pPr>
            <a:r>
              <a:rPr lang="en-US" sz="1000" dirty="0">
                <a:solidFill>
                  <a:schemeClr val="accent5"/>
                </a:solidFill>
              </a:rPr>
              <a:t>Ministerio de Educación. (2026). ENLA 2025: resumen ejecutivo. https://repositorio.minedu.gob.pe/handle/20.500.12799/12773</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atLab APF2">
  <a:themeElements>
    <a:clrScheme name="MatLab APF2">
      <a:dk1>
        <a:srgbClr val="102A43"/>
      </a:dk1>
      <a:lt1>
        <a:srgbClr val="FFFFFF"/>
      </a:lt1>
      <a:dk2>
        <a:srgbClr val="071D36"/>
      </a:dk2>
      <a:lt2>
        <a:srgbClr val="F4F9FC"/>
      </a:lt2>
      <a:accent1>
        <a:srgbClr val="65C7E8"/>
      </a:accent1>
      <a:accent2>
        <a:srgbClr val="2E86C1"/>
      </a:accent2>
      <a:accent3>
        <a:srgbClr val="DFF3FA"/>
      </a:accent3>
      <a:accent4>
        <a:srgbClr val="5B7083"/>
      </a:accent4>
      <a:accent5>
        <a:srgbClr val="C9D6DF"/>
      </a:accent5>
      <a:accent6>
        <a:srgbClr val="E8F1F6"/>
      </a:accent6>
      <a:hlink>
        <a:srgbClr val="2E86C1"/>
      </a:hlink>
      <a:folHlink>
        <a:srgbClr val="5B7083"/>
      </a:folHlink>
    </a:clrScheme>
    <a:fontScheme name="MatLab APF2">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del plan estratégico de MatLab Perú</dc:title>
  <dc:subject>PptxGenJS Presentation</dc:subject>
  <dc:creator>Pierre Gallegos Mallqui</dc:creator>
  <cp:lastModifiedBy>Pierre Gallegos Mallqui</cp:lastModifiedBy>
  <cp:revision>1</cp:revision>
  <dcterms:created xsi:type="dcterms:W3CDTF">2026-10-17T00:55:52Z</dcterms:created>
  <dcterms:modified xsi:type="dcterms:W3CDTF">2026-10-17T00:55:52Z</dcterms:modified>
</cp:coreProperties>
</file>